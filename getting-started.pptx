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68580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is the getting-started tour. Arrow keys move, F goes fullscreen, P opens this presenter view.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slide is a plain React file. The default export is the array of pages, in order.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command scaffolds the workspace: dependencies, git, and a dev server ready to go.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your agent with /create-slide. Pages stream into the rail as the file is written.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Edit, click any element, and change it in the Format panel. Save writes the whole batch once.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Arrange tab and smart guides handle position, size, rotation, and layer order.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a note on an element. It lands in the source as an @slide-comment marker.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/apply-comments. The agent edits exactly what you flagged and removes the marker.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 live next to the slide. Drop files, or search logos and fonts without leaving the editor.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design const declares the tokens. The Design panel tweaks them live and writes them back.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Themes are markdown: palette, type, and paste-ready components. /create-slide reads them first.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motion primitives: Steps, SlideTransition, and MorphElement. Each box runs its own loop.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Press F to present. Overview, laser, blackout, and the keyboard map are one key away.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ship in the file and show up here, in presenter view, next to the timer.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 HTML, PDF, or PPTX from the editor, or build once and deploy the dist folder anywhere.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agent that writes files works. No SDK, no lock-in.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are files in your repo. Diff them, review them, branch them.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the whole loop. Press → to bring each step back, then edit this file and watch it hot-reload.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sv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3.svg"/><Relationship Id="rId6" Type="http://schemas.openxmlformats.org/officeDocument/2006/relationships/image" Target="../media/image4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5.svg"/><Relationship Id="rId10" Type="http://schemas.openxmlformats.org/officeDocument/2006/relationships/image" Target="../media/image6.png"/><Relationship Id="rId11" Type="http://schemas.openxmlformats.org/officeDocument/2006/relationships/image" Target="../media/image6.svg"/><Relationship Id="rId12" Type="http://schemas.openxmlformats.org/officeDocument/2006/relationships/image" Target="../media/image7.png"/><Relationship Id="rId13" Type="http://schemas.openxmlformats.org/officeDocument/2006/relationships/image" Target="../media/image7.svg"/><Relationship Id="rId14" Type="http://schemas.openxmlformats.org/officeDocument/2006/relationships/image" Target="../media/image8.png"/><Relationship Id="rId15" Type="http://schemas.openxmlformats.org/officeDocument/2006/relationships/image" Target="../media/image8.svg"/><Relationship Id="rId16" Type="http://schemas.openxmlformats.org/officeDocument/2006/relationships/image" Target="../media/image9.png"/><Relationship Id="rId17" Type="http://schemas.openxmlformats.org/officeDocument/2006/relationships/image" Target="../media/image9.svg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png"/><Relationship Id="rId23" Type="http://schemas.openxmlformats.org/officeDocument/2006/relationships/image" Target="../media/image31.png"/><Relationship Id="rId24" Type="http://schemas.openxmlformats.org/officeDocument/2006/relationships/image" Target="../media/image32.png"/><Relationship Id="rId25" Type="http://schemas.openxmlformats.org/officeDocument/2006/relationships/image" Target="../media/image33.png"/><Relationship Id="rId26" Type="http://schemas.openxmlformats.org/officeDocument/2006/relationships/image" Target="../media/image34.png"/><Relationship Id="rId27" Type="http://schemas.openxmlformats.org/officeDocument/2006/relationships/image" Target="../media/image35.png"/><Relationship Id="rId28" Type="http://schemas.openxmlformats.org/officeDocument/2006/relationships/image" Target="../media/image36.png"/><Relationship Id="rId29" Type="http://schemas.openxmlformats.org/officeDocument/2006/relationships/image" Target="../media/image37.png"/><Relationship Id="rId30" Type="http://schemas.openxmlformats.org/officeDocument/2006/relationships/image" Target="../media/image38.png"/><Relationship Id="rId31" Type="http://schemas.openxmlformats.org/officeDocument/2006/relationships/image" Target="../media/image39.png"/><Relationship Id="rId32" Type="http://schemas.openxmlformats.org/officeDocument/2006/relationships/image" Target="../media/image40.png"/><Relationship Id="rId33" Type="http://schemas.openxmlformats.org/officeDocument/2006/relationships/image" Target="../media/image41.png"/><Relationship Id="rId3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png"/><Relationship Id="rId21" Type="http://schemas.openxmlformats.org/officeDocument/2006/relationships/image" Target="../media/image61.png"/><Relationship Id="rId22" Type="http://schemas.openxmlformats.org/officeDocument/2006/relationships/image" Target="../media/image62.png"/><Relationship Id="rId23" Type="http://schemas.openxmlformats.org/officeDocument/2006/relationships/image" Target="../media/image63.png"/><Relationship Id="rId24" Type="http://schemas.openxmlformats.org/officeDocument/2006/relationships/image" Target="../media/image64.png"/><Relationship Id="rId25" Type="http://schemas.openxmlformats.org/officeDocument/2006/relationships/image" Target="../media/image65.png"/><Relationship Id="rId26" Type="http://schemas.openxmlformats.org/officeDocument/2006/relationships/image" Target="../media/image66.png"/><Relationship Id="rId27" Type="http://schemas.openxmlformats.org/officeDocument/2006/relationships/image" Target="../media/image67.png"/><Relationship Id="rId28" Type="http://schemas.openxmlformats.org/officeDocument/2006/relationships/image" Target="../media/image68.png"/><Relationship Id="rId29" Type="http://schemas.openxmlformats.org/officeDocument/2006/relationships/image" Target="../media/image69.png"/><Relationship Id="rId30" Type="http://schemas.openxmlformats.org/officeDocument/2006/relationships/image" Target="../media/image70.png"/><Relationship Id="rId31" Type="http://schemas.openxmlformats.org/officeDocument/2006/relationships/image" Target="../media/image71.png"/><Relationship Id="rId32" Type="http://schemas.openxmlformats.org/officeDocument/2006/relationships/image" Target="../media/image72.png"/><Relationship Id="rId33" Type="http://schemas.openxmlformats.org/officeDocument/2006/relationships/image" Target="../media/image73.png"/><Relationship Id="rId34" Type="http://schemas.openxmlformats.org/officeDocument/2006/relationships/image" Target="../media/image74.png"/><Relationship Id="rId3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Relationship Id="rId18" Type="http://schemas.openxmlformats.org/officeDocument/2006/relationships/image" Target="../media/image91.png"/><Relationship Id="rId19" Type="http://schemas.openxmlformats.org/officeDocument/2006/relationships/image" Target="../media/image92.png"/><Relationship Id="rId20" Type="http://schemas.openxmlformats.org/officeDocument/2006/relationships/image" Target="../media/image93.png"/><Relationship Id="rId21" Type="http://schemas.openxmlformats.org/officeDocument/2006/relationships/image" Target="../media/image94.png"/><Relationship Id="rId22" Type="http://schemas.openxmlformats.org/officeDocument/2006/relationships/image" Target="../media/image95.png"/><Relationship Id="rId23" Type="http://schemas.openxmlformats.org/officeDocument/2006/relationships/image" Target="../media/image96.png"/><Relationship Id="rId24" Type="http://schemas.openxmlformats.org/officeDocument/2006/relationships/image" Target="../media/image97.png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8.png"/><Relationship Id="rId3" Type="http://schemas.openxmlformats.org/officeDocument/2006/relationships/image" Target="../media/image98.svg"/><Relationship Id="rId4" Type="http://schemas.openxmlformats.org/officeDocument/2006/relationships/image" Target="../media/image99.png"/><Relationship Id="rId5" Type="http://schemas.openxmlformats.org/officeDocument/2006/relationships/image" Target="../media/image99.svg"/><Relationship Id="rId6" Type="http://schemas.openxmlformats.org/officeDocument/2006/relationships/image" Target="../media/image100.png"/><Relationship Id="rId7" Type="http://schemas.openxmlformats.org/officeDocument/2006/relationships/image" Target="../media/image100.svg"/><Relationship Id="rId8" Type="http://schemas.openxmlformats.org/officeDocument/2006/relationships/image" Target="../media/image101.png"/><Relationship Id="rId9" Type="http://schemas.openxmlformats.org/officeDocument/2006/relationships/image" Target="../media/image101.svg"/><Relationship Id="rId10" Type="http://schemas.openxmlformats.org/officeDocument/2006/relationships/image" Target="../media/image102.png"/><Relationship Id="rId11" Type="http://schemas.openxmlformats.org/officeDocument/2006/relationships/image" Target="../media/image102.svg"/><Relationship Id="rId12" Type="http://schemas.openxmlformats.org/officeDocument/2006/relationships/image" Target="../media/image103.png"/><Relationship Id="rId13" Type="http://schemas.openxmlformats.org/officeDocument/2006/relationships/image" Target="../media/image103.svg"/><Relationship Id="rId14" Type="http://schemas.openxmlformats.org/officeDocument/2006/relationships/image" Target="../media/image104.png"/><Relationship Id="rId15" Type="http://schemas.openxmlformats.org/officeDocument/2006/relationships/image" Target="../media/image104.svg"/><Relationship Id="rId16" Type="http://schemas.openxmlformats.org/officeDocument/2006/relationships/image" Target="../media/image105.png"/><Relationship Id="rId17" Type="http://schemas.openxmlformats.org/officeDocument/2006/relationships/image" Target="../media/image105.svg"/><Relationship Id="rId18" Type="http://schemas.openxmlformats.org/officeDocument/2006/relationships/image" Target="../media/image106.png"/><Relationship Id="rId19" Type="http://schemas.openxmlformats.org/officeDocument/2006/relationships/image" Target="../media/image106.svg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7.png"/><Relationship Id="rId3" Type="http://schemas.openxmlformats.org/officeDocument/2006/relationships/image" Target="../media/image107.svg"/><Relationship Id="rId4" Type="http://schemas.openxmlformats.org/officeDocument/2006/relationships/image" Target="../media/image108.png"/><Relationship Id="rId5" Type="http://schemas.openxmlformats.org/officeDocument/2006/relationships/image" Target="../media/image108.svg"/><Relationship Id="rId6" Type="http://schemas.openxmlformats.org/officeDocument/2006/relationships/image" Target="../media/image109.png"/><Relationship Id="rId7" Type="http://schemas.openxmlformats.org/officeDocument/2006/relationships/image" Target="../media/image109.svg"/><Relationship Id="rId8" Type="http://schemas.openxmlformats.org/officeDocument/2006/relationships/image" Target="../media/image110.png"/><Relationship Id="rId9" Type="http://schemas.openxmlformats.org/officeDocument/2006/relationships/image" Target="../media/image110.sv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image" Target="../media/image113.svg"/><Relationship Id="rId14" Type="http://schemas.openxmlformats.org/officeDocument/2006/relationships/image" Target="../media/image114.png"/><Relationship Id="rId15" Type="http://schemas.openxmlformats.org/officeDocument/2006/relationships/image" Target="../media/image114.svg"/><Relationship Id="rId16" Type="http://schemas.openxmlformats.org/officeDocument/2006/relationships/image" Target="../media/image115.png"/><Relationship Id="rId17" Type="http://schemas.openxmlformats.org/officeDocument/2006/relationships/image" Target="../media/image115.svg"/><Relationship Id="rId18" Type="http://schemas.openxmlformats.org/officeDocument/2006/relationships/image" Target="../media/image116.png"/><Relationship Id="rId19" Type="http://schemas.openxmlformats.org/officeDocument/2006/relationships/image" Target="../media/image116.svg"/><Relationship Id="rId20" Type="http://schemas.openxmlformats.org/officeDocument/2006/relationships/image" Target="../media/image117.png"/><Relationship Id="rId21" Type="http://schemas.openxmlformats.org/officeDocument/2006/relationships/image" Target="../media/image117.svg"/><Relationship Id="rId22" Type="http://schemas.openxmlformats.org/officeDocument/2006/relationships/image" Target="../media/image118.png"/><Relationship Id="rId23" Type="http://schemas.openxmlformats.org/officeDocument/2006/relationships/image" Target="../media/image119.png"/><Relationship Id="rId24" Type="http://schemas.openxmlformats.org/officeDocument/2006/relationships/image" Target="../media/image119.svg"/><Relationship Id="rId25" Type="http://schemas.openxmlformats.org/officeDocument/2006/relationships/image" Target="../media/image120.png"/><Relationship Id="rId26" Type="http://schemas.openxmlformats.org/officeDocument/2006/relationships/image" Target="../media/image121.png"/><Relationship Id="rId27" Type="http://schemas.openxmlformats.org/officeDocument/2006/relationships/image" Target="../media/image121.svg"/><Relationship Id="rId28" Type="http://schemas.openxmlformats.org/officeDocument/2006/relationships/image" Target="../media/image122.png"/><Relationship Id="rId29" Type="http://schemas.openxmlformats.org/officeDocument/2006/relationships/image" Target="../media/image123.png"/><Relationship Id="rId30" Type="http://schemas.openxmlformats.org/officeDocument/2006/relationships/image" Target="../media/image123.svg"/><Relationship Id="rId31" Type="http://schemas.openxmlformats.org/officeDocument/2006/relationships/image" Target="../media/image124.png"/><Relationship Id="rId32" Type="http://schemas.openxmlformats.org/officeDocument/2006/relationships/image" Target="../media/image125.png"/><Relationship Id="rId33" Type="http://schemas.openxmlformats.org/officeDocument/2006/relationships/image" Target="../media/image125.svg"/><Relationship Id="rId34" Type="http://schemas.openxmlformats.org/officeDocument/2006/relationships/image" Target="../media/image126.png"/><Relationship Id="rId35" Type="http://schemas.openxmlformats.org/officeDocument/2006/relationships/image" Target="../media/image127.png"/><Relationship Id="rId36" Type="http://schemas.openxmlformats.org/officeDocument/2006/relationships/image" Target="../media/image127.svg"/><Relationship Id="rId37" Type="http://schemas.openxmlformats.org/officeDocument/2006/relationships/image" Target="../media/image128.png"/><Relationship Id="rId38" Type="http://schemas.openxmlformats.org/officeDocument/2006/relationships/image" Target="../media/image128.svg"/><Relationship Id="rId39" Type="http://schemas.openxmlformats.org/officeDocument/2006/relationships/image" Target="../media/image129.png"/><Relationship Id="rId40" Type="http://schemas.openxmlformats.org/officeDocument/2006/relationships/image" Target="../media/image130.png"/><Relationship Id="rId41" Type="http://schemas.openxmlformats.org/officeDocument/2006/relationships/image" Target="../media/image130.svg"/><Relationship Id="rId42" Type="http://schemas.openxmlformats.org/officeDocument/2006/relationships/image" Target="../media/image131.png"/><Relationship Id="rId43" Type="http://schemas.openxmlformats.org/officeDocument/2006/relationships/image" Target="../media/image131.svg"/><Relationship Id="rId44" Type="http://schemas.openxmlformats.org/officeDocument/2006/relationships/image" Target="../media/image132.png"/><Relationship Id="rId45" Type="http://schemas.openxmlformats.org/officeDocument/2006/relationships/image" Target="../media/image133.png"/><Relationship Id="rId46" Type="http://schemas.openxmlformats.org/officeDocument/2006/relationships/image" Target="../media/image133.svg"/><Relationship Id="rId47" Type="http://schemas.openxmlformats.org/officeDocument/2006/relationships/image" Target="../media/image134.png"/><Relationship Id="rId48" Type="http://schemas.openxmlformats.org/officeDocument/2006/relationships/image" Target="../media/image134.svg"/><Relationship Id="rId49" Type="http://schemas.openxmlformats.org/officeDocument/2006/relationships/image" Target="../media/image135.png"/><Relationship Id="rId50" Type="http://schemas.openxmlformats.org/officeDocument/2006/relationships/image" Target="../media/image135.svg"/><Relationship Id="rId51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Relationship Id="rId13" Type="http://schemas.openxmlformats.org/officeDocument/2006/relationships/image" Target="../media/image147.png"/><Relationship Id="rId14" Type="http://schemas.openxmlformats.org/officeDocument/2006/relationships/image" Target="../media/image148.png"/><Relationship Id="rId15" Type="http://schemas.openxmlformats.org/officeDocument/2006/relationships/image" Target="../media/image149.png"/><Relationship Id="rId16" Type="http://schemas.openxmlformats.org/officeDocument/2006/relationships/image" Target="../media/image150.png"/><Relationship Id="rId17" Type="http://schemas.openxmlformats.org/officeDocument/2006/relationships/image" Target="../media/image151.png"/><Relationship Id="rId18" Type="http://schemas.openxmlformats.org/officeDocument/2006/relationships/image" Target="../media/image152.png"/><Relationship Id="rId19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3.png"/><Relationship Id="rId3" Type="http://schemas.openxmlformats.org/officeDocument/2006/relationships/image" Target="../media/image153.svg"/><Relationship Id="rId4" Type="http://schemas.openxmlformats.org/officeDocument/2006/relationships/image" Target="../media/image154.png"/><Relationship Id="rId5" Type="http://schemas.openxmlformats.org/officeDocument/2006/relationships/image" Target="../media/image154.svg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5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6.png"/><Relationship Id="rId3" Type="http://schemas.openxmlformats.org/officeDocument/2006/relationships/image" Target="../media/image156.svg"/><Relationship Id="rId4" Type="http://schemas.openxmlformats.org/officeDocument/2006/relationships/image" Target="../media/image157.png"/><Relationship Id="rId5" Type="http://schemas.openxmlformats.org/officeDocument/2006/relationships/image" Target="../media/image157.svg"/><Relationship Id="rId6" Type="http://schemas.openxmlformats.org/officeDocument/2006/relationships/image" Target="../media/image158.png"/><Relationship Id="rId7" Type="http://schemas.openxmlformats.org/officeDocument/2006/relationships/image" Target="../media/image158.svg"/><Relationship Id="rId8" Type="http://schemas.openxmlformats.org/officeDocument/2006/relationships/image" Target="../media/image159.png"/><Relationship Id="rId9" Type="http://schemas.openxmlformats.org/officeDocument/2006/relationships/image" Target="../media/image159.svg"/><Relationship Id="rId10" Type="http://schemas.openxmlformats.org/officeDocument/2006/relationships/image" Target="../media/image160.png"/><Relationship Id="rId11" Type="http://schemas.openxmlformats.org/officeDocument/2006/relationships/image" Target="../media/image160.svg"/><Relationship Id="rId12" Type="http://schemas.openxmlformats.org/officeDocument/2006/relationships/image" Target="../media/image161.png"/><Relationship Id="rId13" Type="http://schemas.openxmlformats.org/officeDocument/2006/relationships/image" Target="../media/image161.svg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3.svg"/><Relationship Id="rId5" Type="http://schemas.openxmlformats.org/officeDocument/2006/relationships/image" Target="../media/image164.png"/><Relationship Id="rId6" Type="http://schemas.openxmlformats.org/officeDocument/2006/relationships/image" Target="../media/image164.svg"/><Relationship Id="rId7" Type="http://schemas.openxmlformats.org/officeDocument/2006/relationships/image" Target="../media/image165.png"/><Relationship Id="rId8" Type="http://schemas.openxmlformats.org/officeDocument/2006/relationships/image" Target="../media/image165.svg"/><Relationship Id="rId9" Type="http://schemas.openxmlformats.org/officeDocument/2006/relationships/image" Target="../media/image166.png"/><Relationship Id="rId10" Type="http://schemas.openxmlformats.org/officeDocument/2006/relationships/image" Target="../media/image166.svg"/><Relationship Id="rId11" Type="http://schemas.openxmlformats.org/officeDocument/2006/relationships/image" Target="../media/image167.png"/><Relationship Id="rId12" Type="http://schemas.openxmlformats.org/officeDocument/2006/relationships/image" Target="../media/image168.png"/><Relationship Id="rId13" Type="http://schemas.openxmlformats.org/officeDocument/2006/relationships/image" Target="../media/image168.svg"/><Relationship Id="rId14" Type="http://schemas.openxmlformats.org/officeDocument/2006/relationships/image" Target="../media/image169.png"/><Relationship Id="rId15" Type="http://schemas.openxmlformats.org/officeDocument/2006/relationships/image" Target="../media/image169.svg"/><Relationship Id="rId16" Type="http://schemas.openxmlformats.org/officeDocument/2006/relationships/image" Target="../media/image170.png"/><Relationship Id="rId17" Type="http://schemas.openxmlformats.org/officeDocument/2006/relationships/image" Target="../media/image170.svg"/><Relationship Id="rId18" Type="http://schemas.openxmlformats.org/officeDocument/2006/relationships/image" Target="../media/image171.png"/><Relationship Id="rId19" Type="http://schemas.openxmlformats.org/officeDocument/2006/relationships/image" Target="../media/image171.svg"/><Relationship Id="rId20" Type="http://schemas.openxmlformats.org/officeDocument/2006/relationships/image" Target="../media/image172.png"/><Relationship Id="rId21" Type="http://schemas.openxmlformats.org/officeDocument/2006/relationships/image" Target="../media/image172.svg"/><Relationship Id="rId22" Type="http://schemas.openxmlformats.org/officeDocument/2006/relationships/image" Target="../media/image173.png"/><Relationship Id="rId23" Type="http://schemas.openxmlformats.org/officeDocument/2006/relationships/image" Target="../media/image173.svg"/><Relationship Id="rId24" Type="http://schemas.openxmlformats.org/officeDocument/2006/relationships/image" Target="../media/image174.png"/><Relationship Id="rId25" Type="http://schemas.openxmlformats.org/officeDocument/2006/relationships/image" Target="../media/image174.svg"/><Relationship Id="rId26" Type="http://schemas.openxmlformats.org/officeDocument/2006/relationships/image" Target="../media/image175.png"/><Relationship Id="rId27" Type="http://schemas.openxmlformats.org/officeDocument/2006/relationships/image" Target="../media/image175.svg"/><Relationship Id="rId28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Getting started"/>
          <p:cNvSpPr txBox="1"/>
          <p:nvPr/>
        </p:nvSpPr>
        <p:spPr>
          <a:xfrm>
            <a:off x="939800" y="615950"/>
            <a:ext cx="979686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Getting started</a:t>
            </a:r>
            <a:endParaRPr lang="en-US" sz="1100" dirty="0"/>
          </a:p>
        </p:txBody>
      </p:sp>
      <p:sp>
        <p:nvSpPr>
          <p:cNvPr id="4" name="Text: The slide framework built for agents."/>
          <p:cNvSpPr txBox="1"/>
          <p:nvPr/>
        </p:nvSpPr>
        <p:spPr>
          <a:xfrm>
            <a:off x="762000" y="2228652"/>
            <a:ext cx="8424466" cy="19688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7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spc="-30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slide framework</a:t>
            </a:r>
            <a:br>
              <a:rPr lang="en-US" sz="7600"/>
            </a:br>
            <a:r>
              <a:rPr lang="en-US" sz="7600" spc="-30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built for agents.</a:t>
            </a:r>
            <a:endParaRPr lang="en-US" sz="7600" dirty="0"/>
          </a:p>
        </p:txBody>
      </p:sp>
      <p:sp>
        <p:nvSpPr>
          <p:cNvPr id="5" name="Text: Every page is a React component on a 192"/>
          <p:cNvSpPr txBox="1"/>
          <p:nvPr/>
        </p:nvSpPr>
        <p:spPr>
          <a:xfrm>
            <a:off x="762000" y="4296470"/>
            <a:ext cx="6336010" cy="5891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Every page is a React component on a 1920 × 1080 canvas. This deck</a:t>
            </a:r>
            <a:br>
              <a:rPr lang="en-US" sz="1600"/>
            </a:br>
            <a:r>
              <a:rPr lang="en-US" sz="16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walks the loop: init, prompt, edit, comment, present.</a:t>
            </a:r>
            <a:endParaRPr lang="en-US" sz="16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5207000"/>
            <a:ext cx="1604169" cy="3810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</p:spPr>
      </p:sp>
      <p:sp>
        <p:nvSpPr>
          <p:cNvPr id="7" name="Text: Press to begin"/>
          <p:cNvSpPr txBox="1"/>
          <p:nvPr/>
        </p:nvSpPr>
        <p:spPr>
          <a:xfrm>
            <a:off x="946150" y="5272088"/>
            <a:ext cx="1235869" cy="219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11" dirty="0">
                <a:solidFill>
                  <a:srgbClr val="FFFFFF"/>
                </a:solidFill>
                <a:latin typeface="Geist Variable"/>
                <a:ea typeface="Geist Variable"/>
                <a:cs typeface="Geist Variable"/>
              </a:rPr>
              <a:t>Press to begin</a:t>
            </a:r>
            <a:endParaRPr lang="en-US" sz="1150" dirty="0"/>
          </a:p>
        </p:txBody>
      </p:sp>
      <p:pic>
        <p:nvPicPr>
          <p:cNvPr id="8" name="Graph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700" y="5327650"/>
            <a:ext cx="139700" cy="139700"/>
          </a:xfrm>
          <a:prstGeom prst="rect">
            <a:avLst/>
          </a:prstGeom>
          <a:ln>
            <a:noFill/>
          </a:ln>
        </p:spPr>
      </p:pic>
      <p:sp>
        <p:nvSpPr>
          <p:cNvPr id="9" name="Rounded Rectangle"/>
          <p:cNvSpPr/>
          <p:nvPr/>
        </p:nvSpPr>
        <p:spPr>
          <a:xfrm>
            <a:off x="2470944" y="5210175"/>
            <a:ext cx="2649240" cy="374650"/>
          </a:xfrm>
          <a:prstGeom prst="roundRect">
            <a:avLst>
              <a:gd name="adj" fmla="val 50000"/>
            </a:avLst>
          </a:prstGeom>
          <a:noFill/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10" name="Text: npx @open-slide/cli init"/>
          <p:cNvSpPr txBox="1"/>
          <p:nvPr/>
        </p:nvSpPr>
        <p:spPr>
          <a:xfrm>
            <a:off x="2828826" y="5259388"/>
            <a:ext cx="2110383" cy="219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npx @open-slide/cli init</a:t>
            </a:r>
            <a:endParaRPr lang="en-US" sz="1150" dirty="0"/>
          </a:p>
        </p:txBody>
      </p:sp>
      <p:sp>
        <p:nvSpPr>
          <p:cNvPr id="11" name="Text: $"/>
          <p:cNvSpPr txBox="1"/>
          <p:nvPr/>
        </p:nvSpPr>
        <p:spPr>
          <a:xfrm>
            <a:off x="2651919" y="5259388"/>
            <a:ext cx="88007" cy="2190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$</a:t>
            </a:r>
            <a:endParaRPr lang="en-US" sz="1150" dirty="0"/>
          </a:p>
        </p:txBody>
      </p:sp>
      <p:sp>
        <p:nvSpPr>
          <p:cNvPr id="12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13" name="Text: 01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The idea"/>
          <p:cNvSpPr txBox="1"/>
          <p:nvPr/>
        </p:nvSpPr>
        <p:spPr>
          <a:xfrm>
            <a:off x="939800" y="615950"/>
            <a:ext cx="540345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The idea</a:t>
            </a:r>
            <a:endParaRPr lang="en-US" sz="1100" dirty="0"/>
          </a:p>
        </p:txBody>
      </p:sp>
      <p:sp>
        <p:nvSpPr>
          <p:cNvPr id="4" name="Text: A slide is a file."/>
          <p:cNvSpPr txBox="1"/>
          <p:nvPr/>
        </p:nvSpPr>
        <p:spPr>
          <a:xfrm>
            <a:off x="762000" y="921766"/>
            <a:ext cx="2594173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 slide is a file.</a:t>
            </a:r>
            <a:endParaRPr lang="en-US" sz="3200" dirty="0"/>
          </a:p>
        </p:txBody>
      </p:sp>
      <p:sp>
        <p:nvSpPr>
          <p:cNvPr id="5" name="Text: No DSL, no template language. Each page "/>
          <p:cNvSpPr txBox="1"/>
          <p:nvPr/>
        </p:nvSpPr>
        <p:spPr>
          <a:xfrm>
            <a:off x="762000" y="1405255"/>
            <a:ext cx="7376616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No DSL, no template language. Each page is a React component, and the default export is the deck.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6527800" cy="38354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195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762000" y="2330450"/>
            <a:ext cx="65278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889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009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1130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slides/hello/index.tsx"/>
          <p:cNvSpPr txBox="1"/>
          <p:nvPr/>
        </p:nvSpPr>
        <p:spPr>
          <a:xfrm>
            <a:off x="3030141" y="2065338"/>
            <a:ext cx="1453654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slides/hello/index.tsx</a:t>
            </a:r>
            <a:endParaRPr lang="en-US" sz="850" dirty="0"/>
          </a:p>
        </p:txBody>
      </p:sp>
      <p:sp>
        <p:nvSpPr>
          <p:cNvPr id="12" name="Text: TSX · 14 LINES"/>
          <p:cNvSpPr txBox="1"/>
          <p:nvPr/>
        </p:nvSpPr>
        <p:spPr>
          <a:xfrm>
            <a:off x="6313884" y="2082800"/>
            <a:ext cx="848916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spc="56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TSX · 14 LINES</a:t>
            </a:r>
            <a:endParaRPr lang="en-US" sz="700" dirty="0"/>
          </a:p>
        </p:txBody>
      </p:sp>
      <p:sp>
        <p:nvSpPr>
          <p:cNvPr id="13" name="Text: import type   {  Page  }   from   '@open"/>
          <p:cNvSpPr txBox="1"/>
          <p:nvPr/>
        </p:nvSpPr>
        <p:spPr>
          <a:xfrm>
            <a:off x="990600" y="2482215"/>
            <a:ext cx="373945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import type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{ 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Page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 }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'@open-slide/core'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;</a:t>
            </a:r>
            <a:endParaRPr lang="en-US" sz="1100" dirty="0"/>
          </a:p>
        </p:txBody>
      </p:sp>
      <p:sp>
        <p:nvSpPr>
          <p:cNvPr id="14" name="Text"/>
          <p:cNvSpPr txBox="1"/>
          <p:nvPr/>
        </p:nvSpPr>
        <p:spPr>
          <a:xfrm>
            <a:off x="990600" y="2705656"/>
            <a:ext cx="8314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00" dirty="0"/>
          </a:p>
        </p:txBody>
      </p:sp>
      <p:sp>
        <p:nvSpPr>
          <p:cNvPr id="15" name="Text: const  WORD  ="/>
          <p:cNvSpPr txBox="1"/>
          <p:nvPr/>
        </p:nvSpPr>
        <p:spPr>
          <a:xfrm>
            <a:off x="990600" y="2929096"/>
            <a:ext cx="1080393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const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WORD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00" dirty="0"/>
          </a:p>
        </p:txBody>
      </p:sp>
      <p:sp>
        <p:nvSpPr>
          <p:cNvPr id="16" name="Text: 'deck';"/>
          <p:cNvSpPr txBox="1"/>
          <p:nvPr/>
        </p:nvSpPr>
        <p:spPr>
          <a:xfrm>
            <a:off x="2070993" y="2929096"/>
            <a:ext cx="581720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'deck';</a:t>
            </a:r>
            <a:endParaRPr lang="en-US" sz="1100" dirty="0"/>
          </a:p>
        </p:txBody>
      </p:sp>
      <p:sp>
        <p:nvSpPr>
          <p:cNvPr id="17" name="Text"/>
          <p:cNvSpPr txBox="1"/>
          <p:nvPr/>
        </p:nvSpPr>
        <p:spPr>
          <a:xfrm>
            <a:off x="990600" y="3152537"/>
            <a:ext cx="8314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00" dirty="0"/>
          </a:p>
        </p:txBody>
      </p:sp>
      <p:sp>
        <p:nvSpPr>
          <p:cNvPr id="18" name="Text: const   Cover :   Page   = () =&gt; ("/>
          <p:cNvSpPr txBox="1"/>
          <p:nvPr/>
        </p:nvSpPr>
        <p:spPr>
          <a:xfrm>
            <a:off x="990600" y="3375978"/>
            <a:ext cx="2243931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const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Cover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Page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 () =&gt; (</a:t>
            </a:r>
            <a:endParaRPr lang="en-US" sz="1100" dirty="0"/>
          </a:p>
        </p:txBody>
      </p:sp>
      <p:sp>
        <p:nvSpPr>
          <p:cNvPr id="19" name="Text: &lt; div  style ={{  padding :   160 ,  bac"/>
          <p:cNvSpPr txBox="1"/>
          <p:nvPr/>
        </p:nvSpPr>
        <p:spPr>
          <a:xfrm>
            <a:off x="990600" y="3599418"/>
            <a:ext cx="4321473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div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style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={{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padding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160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background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'#fff'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}}&gt;</a:t>
            </a:r>
            <a:endParaRPr lang="en-US" sz="1100" dirty="0"/>
          </a:p>
        </p:txBody>
      </p:sp>
      <p:sp>
        <p:nvSpPr>
          <p:cNvPr id="20" name="Text: &lt; h1  style ={{  fontSize :   188 ,  let"/>
          <p:cNvSpPr txBox="1"/>
          <p:nvPr/>
        </p:nvSpPr>
        <p:spPr>
          <a:xfrm>
            <a:off x="990600" y="3822859"/>
            <a:ext cx="4986338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h1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style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={{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fontSize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188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letterSpacing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'-0.04em'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}}&gt;</a:t>
            </a:r>
            <a:endParaRPr lang="en-US" sz="1100" dirty="0"/>
          </a:p>
        </p:txBody>
      </p:sp>
      <p:sp>
        <p:nvSpPr>
          <p:cNvPr id="21" name="Text: Hello,  &lt; em  style ={{  color :   '#de3"/>
          <p:cNvSpPr txBox="1"/>
          <p:nvPr/>
        </p:nvSpPr>
        <p:spPr>
          <a:xfrm>
            <a:off x="990600" y="4046299"/>
            <a:ext cx="4820146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  Hello,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em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style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={{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color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'#de3b3d'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}}&gt;{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WORD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}&lt;/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em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.</a:t>
            </a:r>
            <a:endParaRPr lang="en-US" sz="1100" dirty="0"/>
          </a:p>
        </p:txBody>
      </p:sp>
      <p:sp>
        <p:nvSpPr>
          <p:cNvPr id="22" name="Text: &lt;/ h1 &gt;"/>
          <p:cNvSpPr txBox="1"/>
          <p:nvPr/>
        </p:nvSpPr>
        <p:spPr>
          <a:xfrm>
            <a:off x="990600" y="4269740"/>
            <a:ext cx="747911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&lt;/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h1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endParaRPr lang="en-US" sz="1100" dirty="0"/>
          </a:p>
        </p:txBody>
      </p:sp>
      <p:sp>
        <p:nvSpPr>
          <p:cNvPr id="23" name="Text: &lt; p &gt; A React slide, rendered live. &lt;/ p"/>
          <p:cNvSpPr txBox="1"/>
          <p:nvPr/>
        </p:nvSpPr>
        <p:spPr>
          <a:xfrm>
            <a:off x="990600" y="4493181"/>
            <a:ext cx="3323927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A React slide, rendered live.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&lt;/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endParaRPr lang="en-US" sz="1100" dirty="0"/>
          </a:p>
        </p:txBody>
      </p:sp>
      <p:sp>
        <p:nvSpPr>
          <p:cNvPr id="24" name="Text: &lt;/ div &gt;"/>
          <p:cNvSpPr txBox="1"/>
          <p:nvPr/>
        </p:nvSpPr>
        <p:spPr>
          <a:xfrm>
            <a:off x="990600" y="4716621"/>
            <a:ext cx="66486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&lt;/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div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endParaRPr lang="en-US" sz="1100" dirty="0"/>
          </a:p>
        </p:txBody>
      </p:sp>
      <p:sp>
        <p:nvSpPr>
          <p:cNvPr id="25" name="Text: );"/>
          <p:cNvSpPr txBox="1"/>
          <p:nvPr/>
        </p:nvSpPr>
        <p:spPr>
          <a:xfrm>
            <a:off x="990600" y="4940062"/>
            <a:ext cx="166191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);</a:t>
            </a:r>
            <a:endParaRPr lang="en-US" sz="1100" dirty="0"/>
          </a:p>
        </p:txBody>
      </p:sp>
      <p:sp>
        <p:nvSpPr>
          <p:cNvPr id="26" name="Text"/>
          <p:cNvSpPr txBox="1"/>
          <p:nvPr/>
        </p:nvSpPr>
        <p:spPr>
          <a:xfrm>
            <a:off x="990600" y="5163503"/>
            <a:ext cx="8314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00" dirty="0"/>
          </a:p>
        </p:txBody>
      </p:sp>
      <p:sp>
        <p:nvSpPr>
          <p:cNvPr id="27" name="Text: export default   [ Cover ]   satisfies  "/>
          <p:cNvSpPr txBox="1"/>
          <p:nvPr/>
        </p:nvSpPr>
        <p:spPr>
          <a:xfrm>
            <a:off x="990600" y="5386943"/>
            <a:ext cx="332422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export default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Cover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satisfies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Page</a:t>
            </a:r>
            <a:r>
              <a:rPr lang="en-US" sz="110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[];</a:t>
            </a:r>
            <a:endParaRPr lang="en-US" sz="1100" dirty="0"/>
          </a:p>
        </p:txBody>
      </p:sp>
      <p:sp>
        <p:nvSpPr>
          <p:cNvPr id="28" name="Rounded Rectangle"/>
          <p:cNvSpPr/>
          <p:nvPr/>
        </p:nvSpPr>
        <p:spPr>
          <a:xfrm>
            <a:off x="7493000" y="2006600"/>
            <a:ext cx="3937000" cy="38354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323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29" name="Border"/>
          <p:cNvSpPr/>
          <p:nvPr/>
        </p:nvSpPr>
        <p:spPr>
          <a:xfrm>
            <a:off x="7493000" y="2330450"/>
            <a:ext cx="3937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30" name="Ellipse"/>
          <p:cNvSpPr/>
          <p:nvPr/>
        </p:nvSpPr>
        <p:spPr>
          <a:xfrm>
            <a:off x="7620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1" name="Ellipse"/>
          <p:cNvSpPr/>
          <p:nvPr/>
        </p:nvSpPr>
        <p:spPr>
          <a:xfrm>
            <a:off x="7740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2" name="Ellipse"/>
          <p:cNvSpPr/>
          <p:nvPr/>
        </p:nvSpPr>
        <p:spPr>
          <a:xfrm>
            <a:off x="7861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3" name="Text: rendered output"/>
          <p:cNvSpPr txBox="1"/>
          <p:nvPr/>
        </p:nvSpPr>
        <p:spPr>
          <a:xfrm>
            <a:off x="8949432" y="2065338"/>
            <a:ext cx="99109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rendered output</a:t>
            </a:r>
            <a:endParaRPr lang="en-US" sz="850" dirty="0"/>
          </a:p>
        </p:txBody>
      </p:sp>
      <p:sp>
        <p:nvSpPr>
          <p:cNvPr id="34" name="Text: LIVE"/>
          <p:cNvSpPr txBox="1"/>
          <p:nvPr/>
        </p:nvSpPr>
        <p:spPr>
          <a:xfrm>
            <a:off x="11060410" y="2082800"/>
            <a:ext cx="242590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spc="56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LIVE</a:t>
            </a:r>
            <a:endParaRPr lang="en-US" sz="700" dirty="0"/>
          </a:p>
        </p:txBody>
      </p:sp>
      <p:sp>
        <p:nvSpPr>
          <p:cNvPr id="35" name="Ellipse"/>
          <p:cNvSpPr/>
          <p:nvPr/>
        </p:nvSpPr>
        <p:spPr>
          <a:xfrm>
            <a:off x="10958810" y="2143125"/>
            <a:ext cx="50800" cy="50800"/>
          </a:xfrm>
          <a:prstGeom prst="ellipse">
            <a:avLst/>
          </a:prstGeom>
          <a:solidFill>
            <a:srgbClr val="DE3B3D"/>
          </a:solidFill>
          <a:ln>
            <a:noFill/>
          </a:ln>
        </p:spPr>
      </p:sp>
      <p:sp>
        <p:nvSpPr>
          <p:cNvPr id="36" name="Rounded Rectangle"/>
          <p:cNvSpPr/>
          <p:nvPr/>
        </p:nvSpPr>
        <p:spPr>
          <a:xfrm>
            <a:off x="7670800" y="3082131"/>
            <a:ext cx="3581400" cy="2014538"/>
          </a:xfrm>
          <a:prstGeom prst="roundRect">
            <a:avLst>
              <a:gd name="adj" fmla="val 2522"/>
            </a:avLst>
          </a:prstGeom>
          <a:noFill/>
          <a:ln>
            <a:noFill/>
          </a:ln>
          <a:effectLst>
            <a:outerShdw blurRad="0" dist="0" dir="0" sx="100355" sy="100630" algn="ctr" rotWithShape="0">
              <a:srgbClr val="E4E4E4"/>
            </a:outerShdw>
          </a:effectLst>
        </p:spPr>
      </p:sp>
      <p:sp>
        <p:nvSpPr>
          <p:cNvPr id="37" name="Rectangle"/>
          <p:cNvSpPr/>
          <p:nvPr/>
        </p:nvSpPr>
        <p:spPr>
          <a:xfrm>
            <a:off x="7670800" y="3082131"/>
            <a:ext cx="3581400" cy="201453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" name="Text: Hello,"/>
          <p:cNvSpPr txBox="1"/>
          <p:nvPr/>
        </p:nvSpPr>
        <p:spPr>
          <a:xfrm>
            <a:off x="7969250" y="3867428"/>
            <a:ext cx="907504" cy="350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61" spc="-11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Hello,</a:t>
            </a:r>
            <a:endParaRPr lang="en-US" sz="2761" dirty="0"/>
          </a:p>
        </p:txBody>
      </p:sp>
      <p:sp>
        <p:nvSpPr>
          <p:cNvPr id="39" name="Text: deck."/>
          <p:cNvSpPr txBox="1"/>
          <p:nvPr/>
        </p:nvSpPr>
        <p:spPr>
          <a:xfrm>
            <a:off x="8876754" y="3867428"/>
            <a:ext cx="813247" cy="35067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61" spc="-110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deck.</a:t>
            </a:r>
            <a:endParaRPr lang="en-US" sz="2761" dirty="0"/>
          </a:p>
        </p:txBody>
      </p:sp>
      <p:sp>
        <p:nvSpPr>
          <p:cNvPr id="40" name="Text: A React slide, rendered live."/>
          <p:cNvSpPr txBox="1"/>
          <p:nvPr/>
        </p:nvSpPr>
        <p:spPr>
          <a:xfrm>
            <a:off x="7969250" y="4231164"/>
            <a:ext cx="1021055" cy="12311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6" spc="-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A React slide, rendered live.</a:t>
            </a:r>
            <a:endParaRPr lang="en-US" sz="646" dirty="0"/>
          </a:p>
        </p:txBody>
      </p:sp>
      <p:sp>
        <p:nvSpPr>
          <p:cNvPr id="41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42" name="Text: 02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1 · Init"/>
          <p:cNvSpPr txBox="1"/>
          <p:nvPr/>
        </p:nvSpPr>
        <p:spPr>
          <a:xfrm>
            <a:off x="939800" y="615950"/>
            <a:ext cx="447576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01 · Init</a:t>
            </a:r>
            <a:endParaRPr lang="en-US" sz="1100" dirty="0"/>
          </a:p>
        </p:txBody>
      </p:sp>
      <p:sp>
        <p:nvSpPr>
          <p:cNvPr id="4" name="Text: One command."/>
          <p:cNvSpPr txBox="1"/>
          <p:nvPr/>
        </p:nvSpPr>
        <p:spPr>
          <a:xfrm>
            <a:off x="762000" y="921766"/>
            <a:ext cx="2691408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One command.</a:t>
            </a:r>
            <a:endParaRPr lang="en-US" sz="3200" dirty="0"/>
          </a:p>
        </p:txBody>
      </p:sp>
      <p:sp>
        <p:nvSpPr>
          <p:cNvPr id="5" name="Text: Scaffolds the workspace, installs depend"/>
          <p:cNvSpPr txBox="1"/>
          <p:nvPr/>
        </p:nvSpPr>
        <p:spPr>
          <a:xfrm>
            <a:off x="762000" y="1405255"/>
            <a:ext cx="7671991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Scaffolds the workspace, installs dependencies, and initializes git. No global installs, no config to touch.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10668000" cy="38354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119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762000" y="2330450"/>
            <a:ext cx="10668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889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009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1130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~/code — zsh"/>
          <p:cNvSpPr txBox="1"/>
          <p:nvPr/>
        </p:nvSpPr>
        <p:spPr>
          <a:xfrm>
            <a:off x="5699522" y="2065338"/>
            <a:ext cx="79285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~/code — zsh</a:t>
            </a:r>
            <a:endParaRPr lang="en-US" sz="850" dirty="0"/>
          </a:p>
        </p:txBody>
      </p:sp>
      <p:sp>
        <p:nvSpPr>
          <p:cNvPr id="12" name="Text: $"/>
          <p:cNvSpPr txBox="1"/>
          <p:nvPr/>
        </p:nvSpPr>
        <p:spPr>
          <a:xfrm>
            <a:off x="1016000" y="2503170"/>
            <a:ext cx="17383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$ </a:t>
            </a:r>
            <a:endParaRPr lang="en-US" sz="1150" dirty="0"/>
          </a:p>
        </p:txBody>
      </p:sp>
      <p:sp>
        <p:nvSpPr>
          <p:cNvPr id="13" name="Text: npx @open-slide/cli init my-deck"/>
          <p:cNvSpPr txBox="1"/>
          <p:nvPr/>
        </p:nvSpPr>
        <p:spPr>
          <a:xfrm>
            <a:off x="1189831" y="2503170"/>
            <a:ext cx="2781300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npx @open-slide/cli init my-deck</a:t>
            </a:r>
            <a:endParaRPr lang="en-US" sz="1150" dirty="0"/>
          </a:p>
        </p:txBody>
      </p:sp>
      <p:sp>
        <p:nvSpPr>
          <p:cNvPr id="14" name="Text"/>
          <p:cNvSpPr txBox="1"/>
          <p:nvPr/>
        </p:nvSpPr>
        <p:spPr>
          <a:xfrm>
            <a:off x="1016000" y="2736830"/>
            <a:ext cx="8691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50" dirty="0"/>
          </a:p>
        </p:txBody>
      </p:sp>
      <p:sp>
        <p:nvSpPr>
          <p:cNvPr id="15" name="Text: ✓  Created open-slide workspace   in ~/c"/>
          <p:cNvSpPr txBox="1"/>
          <p:nvPr/>
        </p:nvSpPr>
        <p:spPr>
          <a:xfrm>
            <a:off x="1016000" y="2970490"/>
            <a:ext cx="4171950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1F9E6E"/>
                </a:solidFill>
                <a:latin typeface="Courier New"/>
                <a:ea typeface="Courier New"/>
                <a:cs typeface="Courier New"/>
              </a:rPr>
              <a:t>✓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Created open-slide workspace</a:t>
            </a: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in ~/code/my-deck</a:t>
            </a:r>
            <a:endParaRPr lang="en-US" sz="1150" dirty="0"/>
          </a:p>
        </p:txBody>
      </p:sp>
      <p:sp>
        <p:nvSpPr>
          <p:cNvPr id="16" name="Text: ✓  Installed dependencies with pnpm"/>
          <p:cNvSpPr txBox="1"/>
          <p:nvPr/>
        </p:nvSpPr>
        <p:spPr>
          <a:xfrm>
            <a:off x="1016000" y="3204150"/>
            <a:ext cx="295513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1F9E6E"/>
                </a:solidFill>
                <a:latin typeface="Courier New"/>
                <a:ea typeface="Courier New"/>
                <a:cs typeface="Courier New"/>
              </a:rPr>
              <a:t>✓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Installed dependencies with pnpm</a:t>
            </a:r>
            <a:endParaRPr lang="en-US" sz="1150" dirty="0"/>
          </a:p>
        </p:txBody>
      </p:sp>
      <p:sp>
        <p:nvSpPr>
          <p:cNvPr id="17" name="Text: ✓  Initialized git repository with first"/>
          <p:cNvSpPr txBox="1"/>
          <p:nvPr/>
        </p:nvSpPr>
        <p:spPr>
          <a:xfrm>
            <a:off x="1016000" y="3437811"/>
            <a:ext cx="3998119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1F9E6E"/>
                </a:solidFill>
                <a:latin typeface="Courier New"/>
                <a:ea typeface="Courier New"/>
                <a:cs typeface="Courier New"/>
              </a:rPr>
              <a:t>✓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Initialized git repository with first commit</a:t>
            </a:r>
            <a:endParaRPr lang="en-US" sz="1150" dirty="0"/>
          </a:p>
        </p:txBody>
      </p:sp>
      <p:sp>
        <p:nvSpPr>
          <p:cNvPr id="18" name="Text"/>
          <p:cNvSpPr txBox="1"/>
          <p:nvPr/>
        </p:nvSpPr>
        <p:spPr>
          <a:xfrm>
            <a:off x="1016000" y="3671471"/>
            <a:ext cx="8691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50" dirty="0"/>
          </a:p>
        </p:txBody>
      </p:sp>
      <p:sp>
        <p:nvSpPr>
          <p:cNvPr id="19" name="Text: Next steps:"/>
          <p:cNvSpPr txBox="1"/>
          <p:nvPr/>
        </p:nvSpPr>
        <p:spPr>
          <a:xfrm>
            <a:off x="1016000" y="3905131"/>
            <a:ext cx="956072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Next steps:</a:t>
            </a:r>
            <a:endParaRPr lang="en-US" sz="1150" dirty="0"/>
          </a:p>
        </p:txBody>
      </p:sp>
      <p:sp>
        <p:nvSpPr>
          <p:cNvPr id="20" name="Text: cd my-deck"/>
          <p:cNvSpPr txBox="1"/>
          <p:nvPr/>
        </p:nvSpPr>
        <p:spPr>
          <a:xfrm>
            <a:off x="1016000" y="4138791"/>
            <a:ext cx="1042988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cd my-deck</a:t>
            </a:r>
            <a:endParaRPr lang="en-US" sz="1150" dirty="0"/>
          </a:p>
        </p:txBody>
      </p:sp>
      <p:sp>
        <p:nvSpPr>
          <p:cNvPr id="21" name="Text: pnpm dev"/>
          <p:cNvSpPr txBox="1"/>
          <p:nvPr/>
        </p:nvSpPr>
        <p:spPr>
          <a:xfrm>
            <a:off x="1016000" y="4372451"/>
            <a:ext cx="86915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pnpm dev</a:t>
            </a:r>
            <a:endParaRPr lang="en-US" sz="1150" dirty="0"/>
          </a:p>
        </p:txBody>
      </p:sp>
      <p:sp>
        <p:nvSpPr>
          <p:cNvPr id="22" name="Text"/>
          <p:cNvSpPr txBox="1"/>
          <p:nvPr/>
        </p:nvSpPr>
        <p:spPr>
          <a:xfrm>
            <a:off x="1016000" y="4606111"/>
            <a:ext cx="8691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50" dirty="0"/>
          </a:p>
        </p:txBody>
      </p:sp>
      <p:sp>
        <p:nvSpPr>
          <p:cNvPr id="23" name="Text: Then open the dev server and start autho"/>
          <p:cNvSpPr txBox="1"/>
          <p:nvPr/>
        </p:nvSpPr>
        <p:spPr>
          <a:xfrm>
            <a:off x="1016000" y="4839772"/>
            <a:ext cx="5997079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Then open the dev server and start authoring in slides/&lt;your-slide&gt;/.</a:t>
            </a:r>
            <a:endParaRPr lang="en-US" sz="1150" dirty="0"/>
          </a:p>
        </p:txBody>
      </p:sp>
      <p:sp>
        <p:nvSpPr>
          <p:cNvPr id="24" name="Text: $"/>
          <p:cNvSpPr txBox="1"/>
          <p:nvPr/>
        </p:nvSpPr>
        <p:spPr>
          <a:xfrm>
            <a:off x="1016000" y="5073432"/>
            <a:ext cx="17383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$ </a:t>
            </a:r>
            <a:endParaRPr lang="en-US" sz="1150" dirty="0"/>
          </a:p>
        </p:txBody>
      </p:sp>
      <p:sp>
        <p:nvSpPr>
          <p:cNvPr id="25" name="Rectangle"/>
          <p:cNvSpPr/>
          <p:nvPr/>
        </p:nvSpPr>
        <p:spPr>
          <a:xfrm>
            <a:off x="1204416" y="5121870"/>
            <a:ext cx="11609" cy="153293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26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27" name="Text: 03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2 · Prompt"/>
          <p:cNvSpPr txBox="1"/>
          <p:nvPr/>
        </p:nvSpPr>
        <p:spPr>
          <a:xfrm>
            <a:off x="939800" y="615950"/>
            <a:ext cx="748605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02 · Prompt</a:t>
            </a:r>
            <a:endParaRPr lang="en-US" sz="1100" dirty="0"/>
          </a:p>
        </p:txBody>
      </p:sp>
      <p:sp>
        <p:nvSpPr>
          <p:cNvPr id="4" name="Text: Ask your agent."/>
          <p:cNvSpPr txBox="1"/>
          <p:nvPr/>
        </p:nvSpPr>
        <p:spPr>
          <a:xfrm>
            <a:off x="762000" y="921766"/>
            <a:ext cx="2783185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Ask your agent.</a:t>
            </a:r>
            <a:endParaRPr lang="en-US" sz="3200" dirty="0"/>
          </a:p>
        </p:txBody>
      </p:sp>
      <p:sp>
        <p:nvSpPr>
          <p:cNvPr id="5" name="Text: One /create-slide prompt drafts every pa"/>
          <p:cNvSpPr txBox="1"/>
          <p:nvPr/>
        </p:nvSpPr>
        <p:spPr>
          <a:xfrm>
            <a:off x="762000" y="1405255"/>
            <a:ext cx="7666236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One /create-slide prompt drafts every page as a real component. Refine with follow-ups, not templates.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3810000" cy="3835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333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762000" y="2330450"/>
            <a:ext cx="3810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889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009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1130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claude · ~/my-deck"/>
          <p:cNvSpPr txBox="1"/>
          <p:nvPr/>
        </p:nvSpPr>
        <p:spPr>
          <a:xfrm>
            <a:off x="2072283" y="2065338"/>
            <a:ext cx="1189335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claude · ~/my-deck</a:t>
            </a:r>
            <a:endParaRPr lang="en-US" sz="850" dirty="0"/>
          </a:p>
        </p:txBody>
      </p:sp>
      <p:sp>
        <p:nvSpPr>
          <p:cNvPr id="12" name="Text: › /create-slide"/>
          <p:cNvSpPr txBox="1"/>
          <p:nvPr/>
        </p:nvSpPr>
        <p:spPr>
          <a:xfrm>
            <a:off x="990600" y="2482215"/>
            <a:ext cx="1329531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› /create-slide</a:t>
            </a: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00" dirty="0"/>
          </a:p>
        </p:txBody>
      </p:sp>
      <p:sp>
        <p:nvSpPr>
          <p:cNvPr id="13" name="Text: the Q2 launch deck"/>
          <p:cNvSpPr txBox="1"/>
          <p:nvPr/>
        </p:nvSpPr>
        <p:spPr>
          <a:xfrm>
            <a:off x="2320131" y="2482215"/>
            <a:ext cx="1495723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the Q2 launch deck</a:t>
            </a:r>
            <a:endParaRPr lang="en-US" sz="1100" dirty="0"/>
          </a:p>
        </p:txBody>
      </p:sp>
      <p:sp>
        <p:nvSpPr>
          <p:cNvPr id="14" name="Text"/>
          <p:cNvSpPr txBox="1"/>
          <p:nvPr/>
        </p:nvSpPr>
        <p:spPr>
          <a:xfrm>
            <a:off x="990600" y="2705656"/>
            <a:ext cx="8314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00" dirty="0"/>
          </a:p>
        </p:txBody>
      </p:sp>
      <p:sp>
        <p:nvSpPr>
          <p:cNvPr id="15" name="Text: Drafting 6 pages…"/>
          <p:cNvSpPr txBox="1"/>
          <p:nvPr/>
        </p:nvSpPr>
        <p:spPr>
          <a:xfrm>
            <a:off x="990600" y="2929096"/>
            <a:ext cx="1412577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Drafting 6 pages…</a:t>
            </a:r>
            <a:endParaRPr lang="en-US" sz="1100" dirty="0"/>
          </a:p>
        </p:txBody>
      </p:sp>
      <p:sp>
        <p:nvSpPr>
          <p:cNvPr id="16" name="Text: write   slides/q2-launch/index.tsx"/>
          <p:cNvSpPr txBox="1"/>
          <p:nvPr/>
        </p:nvSpPr>
        <p:spPr>
          <a:xfrm>
            <a:off x="990600" y="3152537"/>
            <a:ext cx="2659063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write</a:t>
            </a: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slides/q2-launch/index.tsx</a:t>
            </a:r>
            <a:endParaRPr lang="en-US" sz="1100" dirty="0"/>
          </a:p>
        </p:txBody>
      </p:sp>
      <p:sp>
        <p:nvSpPr>
          <p:cNvPr id="17" name="Text: hmr   localhost:5173/s/q2-launch   ✓"/>
          <p:cNvSpPr txBox="1"/>
          <p:nvPr/>
        </p:nvSpPr>
        <p:spPr>
          <a:xfrm>
            <a:off x="990600" y="3375978"/>
            <a:ext cx="2742208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hmr</a:t>
            </a: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localhost:5173/s/q2-launch</a:t>
            </a: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1F9E6E"/>
                </a:solidFill>
                <a:latin typeface="Courier New"/>
                <a:ea typeface="Courier New"/>
                <a:cs typeface="Courier New"/>
              </a:rPr>
              <a:t>✓ </a:t>
            </a:r>
            <a:endParaRPr lang="en-US" sz="1100" dirty="0"/>
          </a:p>
        </p:txBody>
      </p:sp>
      <p:sp>
        <p:nvSpPr>
          <p:cNvPr id="18" name="Text: Done. Cover, Agenda, Problem,"/>
          <p:cNvSpPr txBox="1"/>
          <p:nvPr/>
        </p:nvSpPr>
        <p:spPr>
          <a:xfrm>
            <a:off x="990600" y="3599418"/>
            <a:ext cx="2409627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Done. Cover, Agenda, Problem,</a:t>
            </a:r>
            <a:endParaRPr lang="en-US" sz="1100" dirty="0"/>
          </a:p>
        </p:txBody>
      </p:sp>
      <p:sp>
        <p:nvSpPr>
          <p:cNvPr id="19" name="Text: Solution, Metrics, Next."/>
          <p:cNvSpPr txBox="1"/>
          <p:nvPr/>
        </p:nvSpPr>
        <p:spPr>
          <a:xfrm>
            <a:off x="990600" y="3822859"/>
            <a:ext cx="1994198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Solution, Metrics, Next.</a:t>
            </a:r>
            <a:endParaRPr lang="en-US" sz="1100" dirty="0"/>
          </a:p>
        </p:txBody>
      </p:sp>
      <p:sp>
        <p:nvSpPr>
          <p:cNvPr id="20" name="Text: ›"/>
          <p:cNvSpPr txBox="1"/>
          <p:nvPr/>
        </p:nvSpPr>
        <p:spPr>
          <a:xfrm>
            <a:off x="990600" y="4046299"/>
            <a:ext cx="166191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› </a:t>
            </a:r>
            <a:endParaRPr lang="en-US" sz="1100" dirty="0"/>
          </a:p>
        </p:txBody>
      </p:sp>
      <p:sp>
        <p:nvSpPr>
          <p:cNvPr id="21" name="Rectangle"/>
          <p:cNvSpPr/>
          <p:nvPr/>
        </p:nvSpPr>
        <p:spPr>
          <a:xfrm>
            <a:off x="1170682" y="4089797"/>
            <a:ext cx="11113" cy="146645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22" name="Text: Claude Code · Codex · Cursor · Gemini …"/>
          <p:cNvSpPr txBox="1"/>
          <p:nvPr/>
        </p:nvSpPr>
        <p:spPr>
          <a:xfrm>
            <a:off x="990600" y="5495925"/>
            <a:ext cx="2196902" cy="1476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Claude Code · Codex · Cursor · Gemini …</a:t>
            </a:r>
            <a:endParaRPr lang="en-US" sz="750" dirty="0"/>
          </a:p>
        </p:txBody>
      </p:sp>
      <p:sp>
        <p:nvSpPr>
          <p:cNvPr id="23" name="Text: ANY AGENT"/>
          <p:cNvSpPr txBox="1"/>
          <p:nvPr/>
        </p:nvSpPr>
        <p:spPr>
          <a:xfrm>
            <a:off x="3758704" y="5495925"/>
            <a:ext cx="584696" cy="1476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6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ANY AGENT</a:t>
            </a:r>
            <a:endParaRPr lang="en-US" sz="750" dirty="0"/>
          </a:p>
        </p:txBody>
      </p:sp>
      <p:sp>
        <p:nvSpPr>
          <p:cNvPr id="24" name="Rounded Rectangle"/>
          <p:cNvSpPr/>
          <p:nvPr/>
        </p:nvSpPr>
        <p:spPr>
          <a:xfrm>
            <a:off x="4775200" y="2006600"/>
            <a:ext cx="6654800" cy="3835400"/>
          </a:xfrm>
          <a:prstGeom prst="roundRect">
            <a:avLst>
              <a:gd name="adj" fmla="val 1987"/>
            </a:avLst>
          </a:prstGeom>
          <a:noFill/>
          <a:ln>
            <a:noFill/>
          </a:ln>
          <a:effectLst>
            <a:outerShdw blurRad="0" dist="0" dir="0" sx="100191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25" name="Rectangle"/>
          <p:cNvSpPr/>
          <p:nvPr/>
        </p:nvSpPr>
        <p:spPr>
          <a:xfrm>
            <a:off x="4775200" y="2006600"/>
            <a:ext cx="6654800" cy="38354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26" name="Text: PAGES"/>
          <p:cNvSpPr txBox="1"/>
          <p:nvPr/>
        </p:nvSpPr>
        <p:spPr>
          <a:xfrm>
            <a:off x="4937621" y="2600861"/>
            <a:ext cx="403820" cy="167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spc="7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PAGES</a:t>
            </a:r>
            <a:endParaRPr lang="en-US" sz="880" dirty="0"/>
          </a:p>
        </p:txBody>
      </p:sp>
      <p:sp>
        <p:nvSpPr>
          <p:cNvPr id="27" name="Text: 06"/>
          <p:cNvSpPr txBox="1"/>
          <p:nvPr/>
        </p:nvSpPr>
        <p:spPr>
          <a:xfrm>
            <a:off x="6296223" y="2599551"/>
            <a:ext cx="14545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840" dirty="0"/>
          </a:p>
        </p:txBody>
      </p:sp>
      <p:pic>
        <p:nvPicPr>
          <p:cNvPr id="28" name="Graph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2400" y="2622550"/>
            <a:ext cx="146050" cy="152400"/>
          </a:xfrm>
          <a:prstGeom prst="rect">
            <a:avLst/>
          </a:prstGeom>
          <a:ln>
            <a:noFill/>
          </a:ln>
        </p:spPr>
      </p:pic>
      <p:sp>
        <p:nvSpPr>
          <p:cNvPr id="29" name="Rounded Rectangle"/>
          <p:cNvSpPr/>
          <p:nvPr/>
        </p:nvSpPr>
        <p:spPr>
          <a:xfrm>
            <a:off x="4897041" y="2844602"/>
            <a:ext cx="1788319" cy="807641"/>
          </a:xfrm>
          <a:prstGeom prst="roundRect">
            <a:avLst>
              <a:gd name="adj" fmla="val 7548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30" name="Text: 01"/>
          <p:cNvSpPr txBox="1"/>
          <p:nvPr/>
        </p:nvSpPr>
        <p:spPr>
          <a:xfrm>
            <a:off x="5107880" y="2947392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800" dirty="0"/>
          </a:p>
        </p:txBody>
      </p:sp>
      <p:sp>
        <p:nvSpPr>
          <p:cNvPr id="31" name="Rounded Rectangle"/>
          <p:cNvSpPr/>
          <p:nvPr/>
        </p:nvSpPr>
        <p:spPr>
          <a:xfrm>
            <a:off x="5344021" y="2905522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083" sy="103704" algn="ctr" rotWithShape="0">
              <a:srgbClr val="DE3B3D"/>
            </a:outerShdw>
          </a:effectLst>
        </p:spPr>
      </p:sp>
      <p:sp>
        <p:nvSpPr>
          <p:cNvPr id="32" name="Rectangle"/>
          <p:cNvSpPr/>
          <p:nvPr/>
        </p:nvSpPr>
        <p:spPr>
          <a:xfrm>
            <a:off x="5344021" y="2905522"/>
            <a:ext cx="121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Text: COVER"/>
          <p:cNvSpPr txBox="1"/>
          <p:nvPr/>
        </p:nvSpPr>
        <p:spPr>
          <a:xfrm>
            <a:off x="5445621" y="3003947"/>
            <a:ext cx="64562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130" dirty="0"/>
          </a:p>
        </p:txBody>
      </p:sp>
      <p:sp>
        <p:nvSpPr>
          <p:cNvPr id="34" name="Text: What we're shipping, why it matters."/>
          <p:cNvSpPr txBox="1"/>
          <p:nvPr/>
        </p:nvSpPr>
        <p:spPr>
          <a:xfrm>
            <a:off x="5445621" y="3303413"/>
            <a:ext cx="455662" cy="37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220" dirty="0"/>
          </a:p>
        </p:txBody>
      </p:sp>
      <p:sp>
        <p:nvSpPr>
          <p:cNvPr id="35" name="Text: Q2 Launch"/>
          <p:cNvSpPr txBox="1"/>
          <p:nvPr/>
        </p:nvSpPr>
        <p:spPr>
          <a:xfrm>
            <a:off x="5445621" y="3188732"/>
            <a:ext cx="538887" cy="111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spc="-3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880" dirty="0"/>
          </a:p>
        </p:txBody>
      </p:sp>
      <p:sp>
        <p:nvSpPr>
          <p:cNvPr id="36" name="Text: ACME · PRODUCT"/>
          <p:cNvSpPr txBox="1"/>
          <p:nvPr/>
        </p:nvSpPr>
        <p:spPr>
          <a:xfrm>
            <a:off x="5445621" y="3477022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37" name="Text: 01 / 06"/>
          <p:cNvSpPr txBox="1"/>
          <p:nvPr/>
        </p:nvSpPr>
        <p:spPr>
          <a:xfrm>
            <a:off x="6388844" y="3477022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120" dirty="0"/>
          </a:p>
        </p:txBody>
      </p:sp>
      <p:sp>
        <p:nvSpPr>
          <p:cNvPr id="38" name="Text: 02"/>
          <p:cNvSpPr txBox="1"/>
          <p:nvPr/>
        </p:nvSpPr>
        <p:spPr>
          <a:xfrm>
            <a:off x="5107880" y="3836293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800" dirty="0"/>
          </a:p>
        </p:txBody>
      </p:sp>
      <p:sp>
        <p:nvSpPr>
          <p:cNvPr id="39" name="Rounded Rectangle"/>
          <p:cNvSpPr/>
          <p:nvPr/>
        </p:nvSpPr>
        <p:spPr>
          <a:xfrm>
            <a:off x="5344021" y="3794423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40" name="Rectangle"/>
          <p:cNvSpPr/>
          <p:nvPr/>
        </p:nvSpPr>
        <p:spPr>
          <a:xfrm>
            <a:off x="5344021" y="3794423"/>
            <a:ext cx="121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Text: AGENDA"/>
          <p:cNvSpPr txBox="1"/>
          <p:nvPr/>
        </p:nvSpPr>
        <p:spPr>
          <a:xfrm>
            <a:off x="5445621" y="3892848"/>
            <a:ext cx="77470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AGENDA</a:t>
            </a:r>
            <a:endParaRPr lang="en-US" sz="130" dirty="0"/>
          </a:p>
        </p:txBody>
      </p:sp>
      <p:sp>
        <p:nvSpPr>
          <p:cNvPr id="42" name="Text: What's inside"/>
          <p:cNvSpPr txBox="1"/>
          <p:nvPr/>
        </p:nvSpPr>
        <p:spPr>
          <a:xfrm>
            <a:off x="5445621" y="3996353"/>
            <a:ext cx="449739" cy="76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inside</a:t>
            </a:r>
            <a:endParaRPr lang="en-US" sz="600" dirty="0"/>
          </a:p>
        </p:txBody>
      </p:sp>
      <p:sp>
        <p:nvSpPr>
          <p:cNvPr id="43" name="Border"/>
          <p:cNvSpPr/>
          <p:nvPr/>
        </p:nvSpPr>
        <p:spPr>
          <a:xfrm>
            <a:off x="5445621" y="4111923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44" name="Text: 01"/>
          <p:cNvSpPr txBox="1"/>
          <p:nvPr/>
        </p:nvSpPr>
        <p:spPr>
          <a:xfrm>
            <a:off x="5445621" y="4136053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140" dirty="0"/>
          </a:p>
        </p:txBody>
      </p:sp>
      <p:sp>
        <p:nvSpPr>
          <p:cNvPr id="45" name="Text: The problem"/>
          <p:cNvSpPr txBox="1"/>
          <p:nvPr/>
        </p:nvSpPr>
        <p:spPr>
          <a:xfrm>
            <a:off x="5492333" y="4124623"/>
            <a:ext cx="15780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problem</a:t>
            </a:r>
            <a:endParaRPr lang="en-US" sz="220" dirty="0"/>
          </a:p>
        </p:txBody>
      </p:sp>
      <p:sp>
        <p:nvSpPr>
          <p:cNvPr id="46" name="Border"/>
          <p:cNvSpPr/>
          <p:nvPr/>
        </p:nvSpPr>
        <p:spPr>
          <a:xfrm>
            <a:off x="5445621" y="4184948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47" name="Text: 02"/>
          <p:cNvSpPr txBox="1"/>
          <p:nvPr/>
        </p:nvSpPr>
        <p:spPr>
          <a:xfrm>
            <a:off x="5445621" y="4209078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140" dirty="0"/>
          </a:p>
        </p:txBody>
      </p:sp>
      <p:sp>
        <p:nvSpPr>
          <p:cNvPr id="48" name="Text: Our solution"/>
          <p:cNvSpPr txBox="1"/>
          <p:nvPr/>
        </p:nvSpPr>
        <p:spPr>
          <a:xfrm>
            <a:off x="5492333" y="4197648"/>
            <a:ext cx="15527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Our solution</a:t>
            </a:r>
            <a:endParaRPr lang="en-US" sz="220" dirty="0"/>
          </a:p>
        </p:txBody>
      </p:sp>
      <p:sp>
        <p:nvSpPr>
          <p:cNvPr id="49" name="Border"/>
          <p:cNvSpPr/>
          <p:nvPr/>
        </p:nvSpPr>
        <p:spPr>
          <a:xfrm>
            <a:off x="5445621" y="4257973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50" name="Text: 03"/>
          <p:cNvSpPr txBox="1"/>
          <p:nvPr/>
        </p:nvSpPr>
        <p:spPr>
          <a:xfrm>
            <a:off x="5445621" y="4282103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140" dirty="0"/>
          </a:p>
        </p:txBody>
      </p:sp>
      <p:sp>
        <p:nvSpPr>
          <p:cNvPr id="51" name="Text: Metrics"/>
          <p:cNvSpPr txBox="1"/>
          <p:nvPr/>
        </p:nvSpPr>
        <p:spPr>
          <a:xfrm>
            <a:off x="5492333" y="4270673"/>
            <a:ext cx="9559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Metrics</a:t>
            </a:r>
            <a:endParaRPr lang="en-US" sz="220" dirty="0"/>
          </a:p>
        </p:txBody>
      </p:sp>
      <p:sp>
        <p:nvSpPr>
          <p:cNvPr id="52" name="Border"/>
          <p:cNvSpPr/>
          <p:nvPr/>
        </p:nvSpPr>
        <p:spPr>
          <a:xfrm>
            <a:off x="5445621" y="4330998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53" name="Text: 04"/>
          <p:cNvSpPr txBox="1"/>
          <p:nvPr/>
        </p:nvSpPr>
        <p:spPr>
          <a:xfrm>
            <a:off x="5445621" y="4355128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140" dirty="0"/>
          </a:p>
        </p:txBody>
      </p:sp>
      <p:sp>
        <p:nvSpPr>
          <p:cNvPr id="54" name="Text: What's next"/>
          <p:cNvSpPr txBox="1"/>
          <p:nvPr/>
        </p:nvSpPr>
        <p:spPr>
          <a:xfrm>
            <a:off x="5492333" y="4343698"/>
            <a:ext cx="148342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220" dirty="0"/>
          </a:p>
        </p:txBody>
      </p:sp>
      <p:sp>
        <p:nvSpPr>
          <p:cNvPr id="55" name="Text: ACME · PRODUCT"/>
          <p:cNvSpPr txBox="1"/>
          <p:nvPr/>
        </p:nvSpPr>
        <p:spPr>
          <a:xfrm>
            <a:off x="5445621" y="4365923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56" name="Text: 02 / 06"/>
          <p:cNvSpPr txBox="1"/>
          <p:nvPr/>
        </p:nvSpPr>
        <p:spPr>
          <a:xfrm>
            <a:off x="6388844" y="4365923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02 / 06</a:t>
            </a:r>
            <a:endParaRPr lang="en-US" sz="120" dirty="0"/>
          </a:p>
        </p:txBody>
      </p:sp>
      <p:sp>
        <p:nvSpPr>
          <p:cNvPr id="57" name="Text: 03"/>
          <p:cNvSpPr txBox="1"/>
          <p:nvPr/>
        </p:nvSpPr>
        <p:spPr>
          <a:xfrm>
            <a:off x="5107880" y="4725194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800" dirty="0"/>
          </a:p>
        </p:txBody>
      </p:sp>
      <p:sp>
        <p:nvSpPr>
          <p:cNvPr id="58" name="Rounded Rectangle"/>
          <p:cNvSpPr/>
          <p:nvPr/>
        </p:nvSpPr>
        <p:spPr>
          <a:xfrm>
            <a:off x="5344021" y="4683323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59" name="Rectangle"/>
          <p:cNvSpPr/>
          <p:nvPr/>
        </p:nvSpPr>
        <p:spPr>
          <a:xfrm>
            <a:off x="5344021" y="4683323"/>
            <a:ext cx="121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" name="Text: PROBLEM"/>
          <p:cNvSpPr txBox="1"/>
          <p:nvPr/>
        </p:nvSpPr>
        <p:spPr>
          <a:xfrm>
            <a:off x="5445621" y="4781748"/>
            <a:ext cx="90388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PROBLEM</a:t>
            </a:r>
            <a:endParaRPr lang="en-US" sz="130" dirty="0"/>
          </a:p>
        </p:txBody>
      </p:sp>
      <p:sp>
        <p:nvSpPr>
          <p:cNvPr id="61" name="Text: 3×"/>
          <p:cNvSpPr txBox="1"/>
          <p:nvPr/>
        </p:nvSpPr>
        <p:spPr>
          <a:xfrm>
            <a:off x="5445621" y="4929703"/>
            <a:ext cx="216416" cy="203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spc="-80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3×</a:t>
            </a:r>
            <a:endParaRPr lang="en-US" sz="1600" dirty="0"/>
          </a:p>
        </p:txBody>
      </p:sp>
      <p:sp>
        <p:nvSpPr>
          <p:cNvPr id="62" name="Text: slower onboarding than our fastest compe"/>
          <p:cNvSpPr txBox="1"/>
          <p:nvPr/>
        </p:nvSpPr>
        <p:spPr>
          <a:xfrm>
            <a:off x="5445621" y="5137348"/>
            <a:ext cx="649426" cy="4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slower onboarding than our fastest competitor.</a:t>
            </a:r>
            <a:endParaRPr lang="en-US" sz="240" dirty="0"/>
          </a:p>
        </p:txBody>
      </p:sp>
      <p:sp>
        <p:nvSpPr>
          <p:cNvPr id="63" name="Text: ACME · PRODUCT"/>
          <p:cNvSpPr txBox="1"/>
          <p:nvPr/>
        </p:nvSpPr>
        <p:spPr>
          <a:xfrm>
            <a:off x="5445621" y="5254823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64" name="Text: 03 / 06"/>
          <p:cNvSpPr txBox="1"/>
          <p:nvPr/>
        </p:nvSpPr>
        <p:spPr>
          <a:xfrm>
            <a:off x="6388844" y="5254823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03 / 06</a:t>
            </a:r>
            <a:endParaRPr lang="en-US" sz="120" dirty="0"/>
          </a:p>
        </p:txBody>
      </p:sp>
      <p:sp>
        <p:nvSpPr>
          <p:cNvPr id="65" name="Text: 04"/>
          <p:cNvSpPr txBox="1"/>
          <p:nvPr/>
        </p:nvSpPr>
        <p:spPr>
          <a:xfrm>
            <a:off x="5107880" y="5614095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800" dirty="0"/>
          </a:p>
        </p:txBody>
      </p:sp>
      <p:sp>
        <p:nvSpPr>
          <p:cNvPr id="66" name="Rounded Rectangle"/>
          <p:cNvSpPr/>
          <p:nvPr/>
        </p:nvSpPr>
        <p:spPr>
          <a:xfrm>
            <a:off x="5344021" y="5572224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67" name="Rectangle"/>
          <p:cNvSpPr/>
          <p:nvPr/>
        </p:nvSpPr>
        <p:spPr>
          <a:xfrm>
            <a:off x="5344021" y="5572224"/>
            <a:ext cx="1219200" cy="269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Text: SOLUTION"/>
          <p:cNvSpPr txBox="1"/>
          <p:nvPr/>
        </p:nvSpPr>
        <p:spPr>
          <a:xfrm>
            <a:off x="5445621" y="5670649"/>
            <a:ext cx="103297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SOLUTION</a:t>
            </a:r>
            <a:endParaRPr lang="en-US" sz="130" dirty="0"/>
          </a:p>
        </p:txBody>
      </p:sp>
      <p:sp>
        <p:nvSpPr>
          <p:cNvPr id="69" name="Text: One flow, three clicks."/>
          <p:cNvSpPr txBox="1"/>
          <p:nvPr/>
        </p:nvSpPr>
        <p:spPr>
          <a:xfrm>
            <a:off x="5445621" y="5863054"/>
            <a:ext cx="40811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One flow,</a:t>
            </a:r>
            <a:br>
              <a:rPr lang="en-US" sz="600"/>
            </a:b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three clicks.</a:t>
            </a:r>
            <a:endParaRPr lang="en-US" sz="600" dirty="0"/>
          </a:p>
        </p:txBody>
      </p:sp>
      <p:sp>
        <p:nvSpPr>
          <p:cNvPr id="70" name="Rounded Rectangle"/>
          <p:cNvSpPr/>
          <p:nvPr/>
        </p:nvSpPr>
        <p:spPr>
          <a:xfrm>
            <a:off x="6029821" y="5737324"/>
            <a:ext cx="431800" cy="35560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>
            <a:noFill/>
          </a:ln>
        </p:spPr>
      </p:sp>
      <p:sp>
        <p:nvSpPr>
          <p:cNvPr id="71" name="Text: ACME · PRODUCT"/>
          <p:cNvSpPr txBox="1"/>
          <p:nvPr/>
        </p:nvSpPr>
        <p:spPr>
          <a:xfrm>
            <a:off x="5445621" y="6143724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72" name="Text: 04 / 06"/>
          <p:cNvSpPr txBox="1"/>
          <p:nvPr/>
        </p:nvSpPr>
        <p:spPr>
          <a:xfrm>
            <a:off x="6388844" y="6143724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04 / 06</a:t>
            </a:r>
            <a:endParaRPr lang="en-US" sz="120" dirty="0"/>
          </a:p>
        </p:txBody>
      </p:sp>
      <p:sp>
        <p:nvSpPr>
          <p:cNvPr id="73" name="Text: 05"/>
          <p:cNvSpPr txBox="1"/>
          <p:nvPr/>
        </p:nvSpPr>
        <p:spPr>
          <a:xfrm>
            <a:off x="5107880" y="6502995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05</a:t>
            </a:r>
            <a:endParaRPr lang="en-US" sz="800" dirty="0"/>
          </a:p>
        </p:txBody>
      </p:sp>
      <p:sp>
        <p:nvSpPr>
          <p:cNvPr id="74" name="Rounded Rectangle"/>
          <p:cNvSpPr/>
          <p:nvPr/>
        </p:nvSpPr>
        <p:spPr>
          <a:xfrm>
            <a:off x="5344021" y="6461125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75" name="Text: METRICS"/>
          <p:cNvSpPr txBox="1"/>
          <p:nvPr/>
        </p:nvSpPr>
        <p:spPr>
          <a:xfrm>
            <a:off x="5445621" y="6559550"/>
            <a:ext cx="90388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METRICS</a:t>
            </a:r>
            <a:endParaRPr lang="en-US" sz="130" dirty="0"/>
          </a:p>
        </p:txBody>
      </p:sp>
      <p:sp>
        <p:nvSpPr>
          <p:cNvPr id="76" name="Text: +38%"/>
          <p:cNvSpPr txBox="1"/>
          <p:nvPr/>
        </p:nvSpPr>
        <p:spPr>
          <a:xfrm>
            <a:off x="5445621" y="6730365"/>
            <a:ext cx="254516" cy="101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+38%</a:t>
            </a:r>
            <a:endParaRPr lang="en-US" sz="800" dirty="0"/>
          </a:p>
        </p:txBody>
      </p:sp>
      <p:sp>
        <p:nvSpPr>
          <p:cNvPr id="77" name="Text: activation"/>
          <p:cNvSpPr txBox="1"/>
          <p:nvPr/>
        </p:nvSpPr>
        <p:spPr>
          <a:xfrm>
            <a:off x="5445621" y="6826885"/>
            <a:ext cx="100995" cy="342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activation</a:t>
            </a:r>
            <a:endParaRPr lang="en-US" sz="180" dirty="0"/>
          </a:p>
        </p:txBody>
      </p:sp>
      <p:sp>
        <p:nvSpPr>
          <p:cNvPr id="78" name="Text: 12k"/>
          <p:cNvSpPr txBox="1"/>
          <p:nvPr/>
        </p:nvSpPr>
        <p:spPr>
          <a:xfrm>
            <a:off x="5792748" y="6730365"/>
            <a:ext cx="159216" cy="101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12k</a:t>
            </a:r>
            <a:endParaRPr lang="en-US" sz="800" dirty="0"/>
          </a:p>
        </p:txBody>
      </p:sp>
      <p:sp>
        <p:nvSpPr>
          <p:cNvPr id="79" name="Text: weekly actives"/>
          <p:cNvSpPr txBox="1"/>
          <p:nvPr/>
        </p:nvSpPr>
        <p:spPr>
          <a:xfrm>
            <a:off x="5792748" y="6826885"/>
            <a:ext cx="153184" cy="342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weekly actives</a:t>
            </a:r>
            <a:endParaRPr lang="en-US" sz="180" dirty="0"/>
          </a:p>
        </p:txBody>
      </p:sp>
      <p:sp>
        <p:nvSpPr>
          <p:cNvPr id="80" name="Text: 4.9"/>
          <p:cNvSpPr txBox="1"/>
          <p:nvPr/>
        </p:nvSpPr>
        <p:spPr>
          <a:xfrm>
            <a:off x="6139884" y="6730365"/>
            <a:ext cx="138787" cy="101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4.9</a:t>
            </a:r>
            <a:endParaRPr lang="en-US" sz="800" dirty="0"/>
          </a:p>
        </p:txBody>
      </p:sp>
      <p:sp>
        <p:nvSpPr>
          <p:cNvPr id="81" name="Text: app rating"/>
          <p:cNvSpPr txBox="1"/>
          <p:nvPr/>
        </p:nvSpPr>
        <p:spPr>
          <a:xfrm>
            <a:off x="6139884" y="6826885"/>
            <a:ext cx="104795" cy="342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app rating</a:t>
            </a:r>
            <a:endParaRPr lang="en-US" sz="180" dirty="0"/>
          </a:p>
        </p:txBody>
      </p:sp>
      <p:sp>
        <p:nvSpPr>
          <p:cNvPr id="82" name="Text: ACME · PRODUCT"/>
          <p:cNvSpPr txBox="1"/>
          <p:nvPr/>
        </p:nvSpPr>
        <p:spPr>
          <a:xfrm>
            <a:off x="5445621" y="7032625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83" name="Text: 05 / 06"/>
          <p:cNvSpPr txBox="1"/>
          <p:nvPr/>
        </p:nvSpPr>
        <p:spPr>
          <a:xfrm>
            <a:off x="6388844" y="7032625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05 / 06</a:t>
            </a:r>
            <a:endParaRPr lang="en-US" sz="120" dirty="0"/>
          </a:p>
        </p:txBody>
      </p:sp>
      <p:sp>
        <p:nvSpPr>
          <p:cNvPr id="84" name="Text: 06"/>
          <p:cNvSpPr txBox="1"/>
          <p:nvPr/>
        </p:nvSpPr>
        <p:spPr>
          <a:xfrm>
            <a:off x="5107880" y="7391896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800" dirty="0"/>
          </a:p>
        </p:txBody>
      </p:sp>
      <p:sp>
        <p:nvSpPr>
          <p:cNvPr id="85" name="Rounded Rectangle"/>
          <p:cNvSpPr/>
          <p:nvPr/>
        </p:nvSpPr>
        <p:spPr>
          <a:xfrm>
            <a:off x="5344021" y="7350026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86" name="Text: NEXT"/>
          <p:cNvSpPr txBox="1"/>
          <p:nvPr/>
        </p:nvSpPr>
        <p:spPr>
          <a:xfrm>
            <a:off x="5445621" y="7448451"/>
            <a:ext cx="51653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NEXT</a:t>
            </a:r>
            <a:endParaRPr lang="en-US" sz="130" dirty="0"/>
          </a:p>
        </p:txBody>
      </p:sp>
      <p:sp>
        <p:nvSpPr>
          <p:cNvPr id="87" name="Text: What's next"/>
          <p:cNvSpPr txBox="1"/>
          <p:nvPr/>
        </p:nvSpPr>
        <p:spPr>
          <a:xfrm>
            <a:off x="5445621" y="7551956"/>
            <a:ext cx="398591" cy="76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600" dirty="0"/>
          </a:p>
        </p:txBody>
      </p:sp>
      <p:sp>
        <p:nvSpPr>
          <p:cNvPr id="88" name="Border"/>
          <p:cNvSpPr/>
          <p:nvPr/>
        </p:nvSpPr>
        <p:spPr>
          <a:xfrm>
            <a:off x="5445621" y="7667526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89" name="Text: →"/>
          <p:cNvSpPr txBox="1"/>
          <p:nvPr/>
        </p:nvSpPr>
        <p:spPr>
          <a:xfrm>
            <a:off x="5445621" y="7691656"/>
            <a:ext cx="10656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40" dirty="0"/>
          </a:p>
        </p:txBody>
      </p:sp>
      <p:sp>
        <p:nvSpPr>
          <p:cNvPr id="90" name="Text: Ship the beta in May"/>
          <p:cNvSpPr txBox="1"/>
          <p:nvPr/>
        </p:nvSpPr>
        <p:spPr>
          <a:xfrm>
            <a:off x="5481677" y="7680226"/>
            <a:ext cx="261312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Ship the beta in May</a:t>
            </a:r>
            <a:endParaRPr lang="en-US" sz="220" dirty="0"/>
          </a:p>
        </p:txBody>
      </p:sp>
      <p:sp>
        <p:nvSpPr>
          <p:cNvPr id="91" name="Border"/>
          <p:cNvSpPr/>
          <p:nvPr/>
        </p:nvSpPr>
        <p:spPr>
          <a:xfrm>
            <a:off x="5445621" y="7740551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2" name="Text: →"/>
          <p:cNvSpPr txBox="1"/>
          <p:nvPr/>
        </p:nvSpPr>
        <p:spPr>
          <a:xfrm>
            <a:off x="5445621" y="7764681"/>
            <a:ext cx="10656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40" dirty="0"/>
          </a:p>
        </p:txBody>
      </p:sp>
      <p:sp>
        <p:nvSpPr>
          <p:cNvPr id="93" name="Text: Open the waitlist"/>
          <p:cNvSpPr txBox="1"/>
          <p:nvPr/>
        </p:nvSpPr>
        <p:spPr>
          <a:xfrm>
            <a:off x="5481677" y="7753251"/>
            <a:ext cx="21631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Open the waitlist</a:t>
            </a:r>
            <a:endParaRPr lang="en-US" sz="220" dirty="0"/>
          </a:p>
        </p:txBody>
      </p:sp>
      <p:sp>
        <p:nvSpPr>
          <p:cNvPr id="94" name="Border"/>
          <p:cNvSpPr/>
          <p:nvPr/>
        </p:nvSpPr>
        <p:spPr>
          <a:xfrm>
            <a:off x="5445621" y="7813576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5" name="Text: →"/>
          <p:cNvSpPr txBox="1"/>
          <p:nvPr/>
        </p:nvSpPr>
        <p:spPr>
          <a:xfrm>
            <a:off x="5445621" y="7837706"/>
            <a:ext cx="10656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40" dirty="0"/>
          </a:p>
        </p:txBody>
      </p:sp>
      <p:sp>
        <p:nvSpPr>
          <p:cNvPr id="96" name="Text: Measure, then scale"/>
          <p:cNvSpPr txBox="1"/>
          <p:nvPr/>
        </p:nvSpPr>
        <p:spPr>
          <a:xfrm>
            <a:off x="5481677" y="7826276"/>
            <a:ext cx="255052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Measure, then scale</a:t>
            </a:r>
            <a:endParaRPr lang="en-US" sz="220" dirty="0"/>
          </a:p>
        </p:txBody>
      </p:sp>
      <p:sp>
        <p:nvSpPr>
          <p:cNvPr id="97" name="Text: ACME · PRODUCT"/>
          <p:cNvSpPr txBox="1"/>
          <p:nvPr/>
        </p:nvSpPr>
        <p:spPr>
          <a:xfrm>
            <a:off x="5445621" y="7921526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98" name="Text: 06 / 06"/>
          <p:cNvSpPr txBox="1"/>
          <p:nvPr/>
        </p:nvSpPr>
        <p:spPr>
          <a:xfrm>
            <a:off x="6388844" y="7921526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06 / 06</a:t>
            </a:r>
            <a:endParaRPr lang="en-US" sz="120" dirty="0"/>
          </a:p>
        </p:txBody>
      </p:sp>
      <p:sp>
        <p:nvSpPr>
          <p:cNvPr id="99" name="Rounded Rectangle"/>
          <p:cNvSpPr/>
          <p:nvPr/>
        </p:nvSpPr>
        <p:spPr>
          <a:xfrm>
            <a:off x="7010400" y="2982218"/>
            <a:ext cx="4216400" cy="2371725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sp>
        <p:nvSpPr>
          <p:cNvPr id="100" name="Rectangle"/>
          <p:cNvSpPr/>
          <p:nvPr/>
        </p:nvSpPr>
        <p:spPr>
          <a:xfrm>
            <a:off x="7010400" y="2982218"/>
            <a:ext cx="4216400" cy="23717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1" name="Text: COVER"/>
          <p:cNvSpPr txBox="1"/>
          <p:nvPr/>
        </p:nvSpPr>
        <p:spPr>
          <a:xfrm>
            <a:off x="7361766" y="3322604"/>
            <a:ext cx="223275" cy="856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" spc="81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450" dirty="0"/>
          </a:p>
        </p:txBody>
      </p:sp>
      <p:sp>
        <p:nvSpPr>
          <p:cNvPr id="102" name="Text: What we're shipping, why it matters."/>
          <p:cNvSpPr txBox="1"/>
          <p:nvPr/>
        </p:nvSpPr>
        <p:spPr>
          <a:xfrm>
            <a:off x="7361766" y="4358256"/>
            <a:ext cx="1575830" cy="1304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1" spc="-1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761" dirty="0"/>
          </a:p>
        </p:txBody>
      </p:sp>
      <p:sp>
        <p:nvSpPr>
          <p:cNvPr id="103" name="Text: Q2 Launch"/>
          <p:cNvSpPr txBox="1"/>
          <p:nvPr/>
        </p:nvSpPr>
        <p:spPr>
          <a:xfrm>
            <a:off x="7361766" y="3961652"/>
            <a:ext cx="1863648" cy="38650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43" b="1" spc="-10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3043" dirty="0"/>
          </a:p>
        </p:txBody>
      </p:sp>
      <p:sp>
        <p:nvSpPr>
          <p:cNvPr id="104" name="Text: ACME · PRODUCT"/>
          <p:cNvSpPr txBox="1"/>
          <p:nvPr/>
        </p:nvSpPr>
        <p:spPr>
          <a:xfrm>
            <a:off x="7361766" y="4958654"/>
            <a:ext cx="503271" cy="7905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5" spc="33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415" dirty="0"/>
          </a:p>
        </p:txBody>
      </p:sp>
      <p:sp>
        <p:nvSpPr>
          <p:cNvPr id="105" name="Text: 01 / 06"/>
          <p:cNvSpPr txBox="1"/>
          <p:nvPr/>
        </p:nvSpPr>
        <p:spPr>
          <a:xfrm>
            <a:off x="10623743" y="4958654"/>
            <a:ext cx="251687" cy="7905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5" spc="33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415" dirty="0"/>
          </a:p>
        </p:txBody>
      </p:sp>
      <p:pic>
        <p:nvPicPr>
          <p:cNvPr id="106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2165350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107" name="Rectangle"/>
          <p:cNvSpPr/>
          <p:nvPr/>
        </p:nvSpPr>
        <p:spPr>
          <a:xfrm>
            <a:off x="5283002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08" name="Rounded Rectangle"/>
          <p:cNvSpPr/>
          <p:nvPr/>
        </p:nvSpPr>
        <p:spPr>
          <a:xfrm>
            <a:off x="5390852" y="2108200"/>
            <a:ext cx="1181199" cy="284460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09" name="Rounded Rectangle"/>
          <p:cNvSpPr/>
          <p:nvPr/>
        </p:nvSpPr>
        <p:spPr>
          <a:xfrm>
            <a:off x="5411093" y="2128441"/>
            <a:ext cx="550466" cy="237430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307" sy="105349" algn="ctr" rotWithShape="0">
              <a:srgbClr val="000000">
                <a:alpha val="6000"/>
              </a:srgbClr>
            </a:outerShdw>
          </a:effectLst>
        </p:spPr>
      </p:sp>
      <p:sp>
        <p:nvSpPr>
          <p:cNvPr id="110" name="Text: Slides"/>
          <p:cNvSpPr txBox="1"/>
          <p:nvPr/>
        </p:nvSpPr>
        <p:spPr>
          <a:xfrm>
            <a:off x="5512693" y="2137946"/>
            <a:ext cx="347266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960" dirty="0"/>
          </a:p>
        </p:txBody>
      </p:sp>
      <p:sp>
        <p:nvSpPr>
          <p:cNvPr id="111" name="Text: Assets"/>
          <p:cNvSpPr txBox="1"/>
          <p:nvPr/>
        </p:nvSpPr>
        <p:spPr>
          <a:xfrm>
            <a:off x="6063159" y="2137946"/>
            <a:ext cx="387052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960" dirty="0"/>
          </a:p>
        </p:txBody>
      </p:sp>
      <p:sp>
        <p:nvSpPr>
          <p:cNvPr id="112" name="Text: Q2 Launch"/>
          <p:cNvSpPr txBox="1"/>
          <p:nvPr/>
        </p:nvSpPr>
        <p:spPr>
          <a:xfrm>
            <a:off x="7756525" y="2132350"/>
            <a:ext cx="692051" cy="2057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spc="-1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1080" dirty="0"/>
          </a:p>
        </p:txBody>
      </p:sp>
      <p:sp>
        <p:nvSpPr>
          <p:cNvPr id="113" name="Rectangle"/>
          <p:cNvSpPr/>
          <p:nvPr/>
        </p:nvSpPr>
        <p:spPr>
          <a:xfrm>
            <a:off x="9731772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114" name="Graphic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99650" y="2178050"/>
            <a:ext cx="146050" cy="146050"/>
          </a:xfrm>
          <a:prstGeom prst="rect">
            <a:avLst/>
          </a:prstGeom>
          <a:ln>
            <a:noFill/>
          </a:ln>
        </p:spPr>
      </p:pic>
      <p:pic>
        <p:nvPicPr>
          <p:cNvPr id="115" name="Graphic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8065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116" name="Rectangle"/>
          <p:cNvSpPr/>
          <p:nvPr/>
        </p:nvSpPr>
        <p:spPr>
          <a:xfrm>
            <a:off x="10591105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17" name="Rounded Rectangle"/>
          <p:cNvSpPr/>
          <p:nvPr/>
        </p:nvSpPr>
        <p:spPr>
          <a:xfrm>
            <a:off x="10658277" y="2108101"/>
            <a:ext cx="385862" cy="284460"/>
          </a:xfrm>
          <a:custGeom>
            <a:avLst/>
            <a:gdLst/>
            <a:ahLst/>
            <a:cxnLst/>
            <a:rect l="0" t="0" r="r" b="b"/>
            <a:pathLst>
              <a:path w="385862" h="284460">
                <a:moveTo>
                  <a:pt x="50800" y="0"/>
                </a:moveTo>
                <a:lnTo>
                  <a:pt x="385862" y="0"/>
                </a:lnTo>
                <a:lnTo>
                  <a:pt x="385862" y="284460"/>
                </a:lnTo>
                <a:lnTo>
                  <a:pt x="50800" y="2844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18" name="Graphic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7595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119" name="Rounded Rectangle"/>
          <p:cNvSpPr/>
          <p:nvPr/>
        </p:nvSpPr>
        <p:spPr>
          <a:xfrm>
            <a:off x="11044138" y="2108101"/>
            <a:ext cx="264021" cy="284460"/>
          </a:xfrm>
          <a:custGeom>
            <a:avLst/>
            <a:gdLst/>
            <a:ahLst/>
            <a:cxnLst/>
            <a:rect l="0" t="0" r="r" b="b"/>
            <a:pathLst>
              <a:path w="264021" h="284460">
                <a:moveTo>
                  <a:pt x="0" y="0"/>
                </a:moveTo>
                <a:lnTo>
                  <a:pt x="213221" y="0"/>
                </a:lnTo>
                <a:arcTo wR="50800" hR="50800" stAng="16200000" swAng="5400000"/>
                <a:lnTo>
                  <a:pt x="264021" y="233660"/>
                </a:lnTo>
                <a:arcTo wR="50800" hR="50800" stAng="0" swAng="5400000"/>
                <a:lnTo>
                  <a:pt x="0" y="284460"/>
                </a:lnTo>
                <a:lnTo>
                  <a:pt x="0" y="0"/>
                </a:lnTo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20" name="Graphic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9980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121" name="Rounded Rectangle"/>
          <p:cNvSpPr/>
          <p:nvPr/>
        </p:nvSpPr>
        <p:spPr>
          <a:xfrm>
            <a:off x="8970863" y="2091035"/>
            <a:ext cx="696913" cy="318691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635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122" name="Rounded Rectangle"/>
          <p:cNvSpPr/>
          <p:nvPr/>
        </p:nvSpPr>
        <p:spPr>
          <a:xfrm>
            <a:off x="8994279" y="2114451"/>
            <a:ext cx="325041" cy="271760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3907" sy="104673" algn="ctr" rotWithShape="0">
              <a:srgbClr val="000000">
                <a:alpha val="6000"/>
              </a:srgbClr>
            </a:outerShdw>
          </a:effectLst>
        </p:spPr>
      </p:sp>
      <p:pic>
        <p:nvPicPr>
          <p:cNvPr id="123" name="Graphic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80500" y="2178050"/>
            <a:ext cx="152400" cy="146050"/>
          </a:xfrm>
          <a:prstGeom prst="rect">
            <a:avLst/>
          </a:prstGeom>
          <a:ln>
            <a:noFill/>
          </a:ln>
        </p:spPr>
      </p:pic>
      <p:pic>
        <p:nvPicPr>
          <p:cNvPr id="124" name="Graphic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10700" y="217805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125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126" name="Text: 04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3 · Edit"/>
          <p:cNvSpPr txBox="1"/>
          <p:nvPr/>
        </p:nvSpPr>
        <p:spPr>
          <a:xfrm>
            <a:off x="939800" y="615950"/>
            <a:ext cx="522784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03 · Edit</a:t>
            </a:r>
            <a:endParaRPr lang="en-US" sz="1100" dirty="0"/>
          </a:p>
        </p:txBody>
      </p:sp>
      <p:sp>
        <p:nvSpPr>
          <p:cNvPr id="4" name="Text: Click any element. Tweak it. Save once."/>
          <p:cNvSpPr txBox="1"/>
          <p:nvPr/>
        </p:nvSpPr>
        <p:spPr>
          <a:xfrm>
            <a:off x="762000" y="921766"/>
            <a:ext cx="6967637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Click any element. Tweak it. Save once.</a:t>
            </a:r>
            <a:endParaRPr lang="en-US" sz="3200" dirty="0"/>
          </a:p>
        </p:txBody>
      </p:sp>
      <p:sp>
        <p:nvSpPr>
          <p:cNvPr id="5" name="Rounded Rectangle"/>
          <p:cNvSpPr/>
          <p:nvPr/>
        </p:nvSpPr>
        <p:spPr>
          <a:xfrm>
            <a:off x="762000" y="1778000"/>
            <a:ext cx="10668000" cy="4064000"/>
          </a:xfrm>
          <a:prstGeom prst="roundRect">
            <a:avLst>
              <a:gd name="adj" fmla="val 1875"/>
            </a:avLst>
          </a:prstGeom>
          <a:noFill/>
          <a:ln>
            <a:noFill/>
          </a:ln>
          <a:effectLst>
            <a:outerShdw blurRad="0" dist="0" dir="0" sx="100119" sy="100313" algn="ctr" rotWithShape="0">
              <a:srgbClr val="000000">
                <a:alpha val="7000"/>
              </a:srgbClr>
            </a:outerShdw>
          </a:effectLst>
        </p:spPr>
      </p:sp>
      <p:sp>
        <p:nvSpPr>
          <p:cNvPr id="6" name="Rectangle"/>
          <p:cNvSpPr/>
          <p:nvPr/>
        </p:nvSpPr>
        <p:spPr>
          <a:xfrm>
            <a:off x="762000" y="1778000"/>
            <a:ext cx="10668000" cy="406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7" name="Text: PAGES"/>
          <p:cNvSpPr txBox="1"/>
          <p:nvPr/>
        </p:nvSpPr>
        <p:spPr>
          <a:xfrm>
            <a:off x="891937" y="2253409"/>
            <a:ext cx="3230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PAGES</a:t>
            </a:r>
            <a:endParaRPr lang="en-US" sz="704" dirty="0"/>
          </a:p>
        </p:txBody>
      </p:sp>
      <p:sp>
        <p:nvSpPr>
          <p:cNvPr id="8" name="Text: 06"/>
          <p:cNvSpPr txBox="1"/>
          <p:nvPr/>
        </p:nvSpPr>
        <p:spPr>
          <a:xfrm>
            <a:off x="1978819" y="2252361"/>
            <a:ext cx="116364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5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672" dirty="0"/>
          </a:p>
        </p:txBody>
      </p:sp>
      <p:pic>
        <p:nvPicPr>
          <p:cNvPr id="9" name="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286000"/>
            <a:ext cx="95250" cy="95250"/>
          </a:xfrm>
          <a:prstGeom prst="rect">
            <a:avLst/>
          </a:prstGeom>
          <a:ln>
            <a:noFill/>
          </a:ln>
        </p:spPr>
      </p:pic>
      <p:sp>
        <p:nvSpPr>
          <p:cNvPr id="10" name="Rounded Rectangle"/>
          <p:cNvSpPr/>
          <p:nvPr/>
        </p:nvSpPr>
        <p:spPr>
          <a:xfrm>
            <a:off x="859473" y="2448401"/>
            <a:ext cx="1430655" cy="646113"/>
          </a:xfrm>
          <a:prstGeom prst="roundRect">
            <a:avLst>
              <a:gd name="adj" fmla="val 7548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11" name="Text: 01"/>
          <p:cNvSpPr txBox="1"/>
          <p:nvPr/>
        </p:nvSpPr>
        <p:spPr>
          <a:xfrm>
            <a:off x="1028144" y="2530634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640" dirty="0"/>
          </a:p>
        </p:txBody>
      </p:sp>
      <p:sp>
        <p:nvSpPr>
          <p:cNvPr id="12" name="Rounded Rectangle"/>
          <p:cNvSpPr/>
          <p:nvPr/>
        </p:nvSpPr>
        <p:spPr>
          <a:xfrm>
            <a:off x="1217057" y="2497138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604" sy="104630" algn="ctr" rotWithShape="0">
              <a:srgbClr val="DE3B3D"/>
            </a:outerShdw>
          </a:effectLst>
        </p:spPr>
      </p:sp>
      <p:sp>
        <p:nvSpPr>
          <p:cNvPr id="13" name="Rectangle"/>
          <p:cNvSpPr/>
          <p:nvPr/>
        </p:nvSpPr>
        <p:spPr>
          <a:xfrm>
            <a:off x="1217057" y="2497138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Text: COVER"/>
          <p:cNvSpPr txBox="1"/>
          <p:nvPr/>
        </p:nvSpPr>
        <p:spPr>
          <a:xfrm>
            <a:off x="1298337" y="2575878"/>
            <a:ext cx="51649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104" dirty="0"/>
          </a:p>
        </p:txBody>
      </p:sp>
      <p:sp>
        <p:nvSpPr>
          <p:cNvPr id="15" name="Text: What we're shipping, why it matters."/>
          <p:cNvSpPr txBox="1"/>
          <p:nvPr/>
        </p:nvSpPr>
        <p:spPr>
          <a:xfrm>
            <a:off x="1298337" y="2815450"/>
            <a:ext cx="364530" cy="30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176" dirty="0"/>
          </a:p>
        </p:txBody>
      </p:sp>
      <p:sp>
        <p:nvSpPr>
          <p:cNvPr id="16" name="Text: Q2 Launch"/>
          <p:cNvSpPr txBox="1"/>
          <p:nvPr/>
        </p:nvSpPr>
        <p:spPr>
          <a:xfrm>
            <a:off x="1298337" y="2723706"/>
            <a:ext cx="431109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b="1" spc="-25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704" dirty="0"/>
          </a:p>
        </p:txBody>
      </p:sp>
      <p:sp>
        <p:nvSpPr>
          <p:cNvPr id="17" name="Text: ACME · PRODUCT"/>
          <p:cNvSpPr txBox="1"/>
          <p:nvPr/>
        </p:nvSpPr>
        <p:spPr>
          <a:xfrm>
            <a:off x="1298337" y="2954338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18" name="Text: 01 / 06"/>
          <p:cNvSpPr txBox="1"/>
          <p:nvPr/>
        </p:nvSpPr>
        <p:spPr>
          <a:xfrm>
            <a:off x="2052915" y="2954338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100" dirty="0"/>
          </a:p>
        </p:txBody>
      </p:sp>
      <p:sp>
        <p:nvSpPr>
          <p:cNvPr id="19" name="Text: 02"/>
          <p:cNvSpPr txBox="1"/>
          <p:nvPr/>
        </p:nvSpPr>
        <p:spPr>
          <a:xfrm>
            <a:off x="1028144" y="3241754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640" dirty="0"/>
          </a:p>
        </p:txBody>
      </p:sp>
      <p:sp>
        <p:nvSpPr>
          <p:cNvPr id="20" name="Rounded Rectangle"/>
          <p:cNvSpPr/>
          <p:nvPr/>
        </p:nvSpPr>
        <p:spPr>
          <a:xfrm>
            <a:off x="1217057" y="3208258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21" name="Rectangle"/>
          <p:cNvSpPr/>
          <p:nvPr/>
        </p:nvSpPr>
        <p:spPr>
          <a:xfrm>
            <a:off x="1217057" y="3208258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: AGENDA"/>
          <p:cNvSpPr txBox="1"/>
          <p:nvPr/>
        </p:nvSpPr>
        <p:spPr>
          <a:xfrm>
            <a:off x="1298337" y="3286998"/>
            <a:ext cx="61976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AGENDA</a:t>
            </a:r>
            <a:endParaRPr lang="en-US" sz="104" dirty="0"/>
          </a:p>
        </p:txBody>
      </p:sp>
      <p:sp>
        <p:nvSpPr>
          <p:cNvPr id="23" name="Text: What's inside"/>
          <p:cNvSpPr txBox="1"/>
          <p:nvPr/>
        </p:nvSpPr>
        <p:spPr>
          <a:xfrm>
            <a:off x="1298337" y="3369802"/>
            <a:ext cx="359791" cy="60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inside</a:t>
            </a:r>
            <a:endParaRPr lang="en-US" sz="480" dirty="0"/>
          </a:p>
        </p:txBody>
      </p:sp>
      <p:sp>
        <p:nvSpPr>
          <p:cNvPr id="24" name="Border"/>
          <p:cNvSpPr/>
          <p:nvPr/>
        </p:nvSpPr>
        <p:spPr>
          <a:xfrm>
            <a:off x="1298337" y="346225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5" name="Text: 01"/>
          <p:cNvSpPr txBox="1"/>
          <p:nvPr/>
        </p:nvSpPr>
        <p:spPr>
          <a:xfrm>
            <a:off x="1298337" y="348156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112" dirty="0"/>
          </a:p>
        </p:txBody>
      </p:sp>
      <p:sp>
        <p:nvSpPr>
          <p:cNvPr id="26" name="Text: The problem"/>
          <p:cNvSpPr txBox="1"/>
          <p:nvPr/>
        </p:nvSpPr>
        <p:spPr>
          <a:xfrm>
            <a:off x="1335707" y="3472418"/>
            <a:ext cx="126246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problem</a:t>
            </a:r>
            <a:endParaRPr lang="en-US" sz="176" dirty="0"/>
          </a:p>
        </p:txBody>
      </p:sp>
      <p:sp>
        <p:nvSpPr>
          <p:cNvPr id="27" name="Border"/>
          <p:cNvSpPr/>
          <p:nvPr/>
        </p:nvSpPr>
        <p:spPr>
          <a:xfrm>
            <a:off x="1298337" y="352067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8" name="Text: 02"/>
          <p:cNvSpPr txBox="1"/>
          <p:nvPr/>
        </p:nvSpPr>
        <p:spPr>
          <a:xfrm>
            <a:off x="1298337" y="353998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112" dirty="0"/>
          </a:p>
        </p:txBody>
      </p:sp>
      <p:sp>
        <p:nvSpPr>
          <p:cNvPr id="29" name="Text: Our solution"/>
          <p:cNvSpPr txBox="1"/>
          <p:nvPr/>
        </p:nvSpPr>
        <p:spPr>
          <a:xfrm>
            <a:off x="1335707" y="3530838"/>
            <a:ext cx="124222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Our solution</a:t>
            </a:r>
            <a:endParaRPr lang="en-US" sz="176" dirty="0"/>
          </a:p>
        </p:txBody>
      </p:sp>
      <p:sp>
        <p:nvSpPr>
          <p:cNvPr id="30" name="Border"/>
          <p:cNvSpPr/>
          <p:nvPr/>
        </p:nvSpPr>
        <p:spPr>
          <a:xfrm>
            <a:off x="1298337" y="357909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1" name="Text: 03"/>
          <p:cNvSpPr txBox="1"/>
          <p:nvPr/>
        </p:nvSpPr>
        <p:spPr>
          <a:xfrm>
            <a:off x="1298337" y="359840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112" dirty="0"/>
          </a:p>
        </p:txBody>
      </p:sp>
      <p:sp>
        <p:nvSpPr>
          <p:cNvPr id="32" name="Text: Metrics"/>
          <p:cNvSpPr txBox="1"/>
          <p:nvPr/>
        </p:nvSpPr>
        <p:spPr>
          <a:xfrm>
            <a:off x="1335707" y="3589258"/>
            <a:ext cx="76478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Metrics</a:t>
            </a:r>
            <a:endParaRPr lang="en-US" sz="176" dirty="0"/>
          </a:p>
        </p:txBody>
      </p:sp>
      <p:sp>
        <p:nvSpPr>
          <p:cNvPr id="33" name="Border"/>
          <p:cNvSpPr/>
          <p:nvPr/>
        </p:nvSpPr>
        <p:spPr>
          <a:xfrm>
            <a:off x="1298337" y="363751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4" name="Text: 04"/>
          <p:cNvSpPr txBox="1"/>
          <p:nvPr/>
        </p:nvSpPr>
        <p:spPr>
          <a:xfrm>
            <a:off x="1298337" y="365682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112" dirty="0"/>
          </a:p>
        </p:txBody>
      </p:sp>
      <p:sp>
        <p:nvSpPr>
          <p:cNvPr id="35" name="Text: What's next"/>
          <p:cNvSpPr txBox="1"/>
          <p:nvPr/>
        </p:nvSpPr>
        <p:spPr>
          <a:xfrm>
            <a:off x="1335707" y="3647678"/>
            <a:ext cx="118674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176" dirty="0"/>
          </a:p>
        </p:txBody>
      </p:sp>
      <p:sp>
        <p:nvSpPr>
          <p:cNvPr id="36" name="Text: ACME · PRODUCT"/>
          <p:cNvSpPr txBox="1"/>
          <p:nvPr/>
        </p:nvSpPr>
        <p:spPr>
          <a:xfrm>
            <a:off x="1298337" y="3665458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37" name="Text: 02 / 06"/>
          <p:cNvSpPr txBox="1"/>
          <p:nvPr/>
        </p:nvSpPr>
        <p:spPr>
          <a:xfrm>
            <a:off x="2052915" y="3665458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02 / 06</a:t>
            </a:r>
            <a:endParaRPr lang="en-US" sz="100" dirty="0"/>
          </a:p>
        </p:txBody>
      </p:sp>
      <p:sp>
        <p:nvSpPr>
          <p:cNvPr id="38" name="Text: 03"/>
          <p:cNvSpPr txBox="1"/>
          <p:nvPr/>
        </p:nvSpPr>
        <p:spPr>
          <a:xfrm>
            <a:off x="1028144" y="3952875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640" dirty="0"/>
          </a:p>
        </p:txBody>
      </p:sp>
      <p:sp>
        <p:nvSpPr>
          <p:cNvPr id="39" name="Rounded Rectangle"/>
          <p:cNvSpPr/>
          <p:nvPr/>
        </p:nvSpPr>
        <p:spPr>
          <a:xfrm>
            <a:off x="1217057" y="3919379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40" name="Rectangle"/>
          <p:cNvSpPr/>
          <p:nvPr/>
        </p:nvSpPr>
        <p:spPr>
          <a:xfrm>
            <a:off x="1217057" y="3919379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Text: PROBLEM"/>
          <p:cNvSpPr txBox="1"/>
          <p:nvPr/>
        </p:nvSpPr>
        <p:spPr>
          <a:xfrm>
            <a:off x="1298337" y="3998119"/>
            <a:ext cx="72311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PROBLEM</a:t>
            </a:r>
            <a:endParaRPr lang="en-US" sz="104" dirty="0"/>
          </a:p>
        </p:txBody>
      </p:sp>
      <p:sp>
        <p:nvSpPr>
          <p:cNvPr id="42" name="Text: 3×"/>
          <p:cNvSpPr txBox="1"/>
          <p:nvPr/>
        </p:nvSpPr>
        <p:spPr>
          <a:xfrm>
            <a:off x="1298337" y="4116483"/>
            <a:ext cx="173133" cy="162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 spc="-64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3×</a:t>
            </a:r>
            <a:endParaRPr lang="en-US" sz="1280" dirty="0"/>
          </a:p>
        </p:txBody>
      </p:sp>
      <p:sp>
        <p:nvSpPr>
          <p:cNvPr id="43" name="Text: slower onboarding than our fastest compe"/>
          <p:cNvSpPr txBox="1"/>
          <p:nvPr/>
        </p:nvSpPr>
        <p:spPr>
          <a:xfrm>
            <a:off x="1298337" y="4282599"/>
            <a:ext cx="519541" cy="365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slower onboarding than our fastest competitor.</a:t>
            </a:r>
            <a:endParaRPr lang="en-US" sz="192" dirty="0"/>
          </a:p>
        </p:txBody>
      </p:sp>
      <p:sp>
        <p:nvSpPr>
          <p:cNvPr id="44" name="Text: ACME · PRODUCT"/>
          <p:cNvSpPr txBox="1"/>
          <p:nvPr/>
        </p:nvSpPr>
        <p:spPr>
          <a:xfrm>
            <a:off x="1298337" y="4376579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45" name="Text: 03 / 06"/>
          <p:cNvSpPr txBox="1"/>
          <p:nvPr/>
        </p:nvSpPr>
        <p:spPr>
          <a:xfrm>
            <a:off x="2052915" y="4376579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03 / 06</a:t>
            </a:r>
            <a:endParaRPr lang="en-US" sz="100" dirty="0"/>
          </a:p>
        </p:txBody>
      </p:sp>
      <p:sp>
        <p:nvSpPr>
          <p:cNvPr id="46" name="Text: 04"/>
          <p:cNvSpPr txBox="1"/>
          <p:nvPr/>
        </p:nvSpPr>
        <p:spPr>
          <a:xfrm>
            <a:off x="1028144" y="4663996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640" dirty="0"/>
          </a:p>
        </p:txBody>
      </p:sp>
      <p:sp>
        <p:nvSpPr>
          <p:cNvPr id="47" name="Rounded Rectangle"/>
          <p:cNvSpPr/>
          <p:nvPr/>
        </p:nvSpPr>
        <p:spPr>
          <a:xfrm>
            <a:off x="1217057" y="4630499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48" name="Rectangle"/>
          <p:cNvSpPr/>
          <p:nvPr/>
        </p:nvSpPr>
        <p:spPr>
          <a:xfrm>
            <a:off x="1217057" y="4630499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" name="Text: SOLUTION"/>
          <p:cNvSpPr txBox="1"/>
          <p:nvPr/>
        </p:nvSpPr>
        <p:spPr>
          <a:xfrm>
            <a:off x="1298337" y="4709239"/>
            <a:ext cx="82637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SOLUTION</a:t>
            </a:r>
            <a:endParaRPr lang="en-US" sz="104" dirty="0"/>
          </a:p>
        </p:txBody>
      </p:sp>
      <p:sp>
        <p:nvSpPr>
          <p:cNvPr id="50" name="Text: One flow, three clicks."/>
          <p:cNvSpPr txBox="1"/>
          <p:nvPr/>
        </p:nvSpPr>
        <p:spPr>
          <a:xfrm>
            <a:off x="1298337" y="4863163"/>
            <a:ext cx="32649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One flow,</a:t>
            </a:r>
            <a:br>
              <a:rPr lang="en-US" sz="480"/>
            </a:b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three clicks.</a:t>
            </a:r>
            <a:endParaRPr lang="en-US" sz="480" dirty="0"/>
          </a:p>
        </p:txBody>
      </p:sp>
      <p:sp>
        <p:nvSpPr>
          <p:cNvPr id="51" name="Rounded Rectangle"/>
          <p:cNvSpPr/>
          <p:nvPr/>
        </p:nvSpPr>
        <p:spPr>
          <a:xfrm>
            <a:off x="1765697" y="4762579"/>
            <a:ext cx="345440" cy="28448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>
            <a:noFill/>
          </a:ln>
        </p:spPr>
      </p:sp>
      <p:pic>
        <p:nvPicPr>
          <p:cNvPr id="52" name="Graph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0" y="4886325"/>
            <a:ext cx="44450" cy="41275"/>
          </a:xfrm>
          <a:prstGeom prst="rect">
            <a:avLst/>
          </a:prstGeom>
          <a:ln>
            <a:noFill/>
          </a:ln>
        </p:spPr>
      </p:pic>
      <p:sp>
        <p:nvSpPr>
          <p:cNvPr id="53" name="Text: ACME · PRODUCT"/>
          <p:cNvSpPr txBox="1"/>
          <p:nvPr/>
        </p:nvSpPr>
        <p:spPr>
          <a:xfrm>
            <a:off x="1298337" y="5087699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54" name="Text: 04 / 06"/>
          <p:cNvSpPr txBox="1"/>
          <p:nvPr/>
        </p:nvSpPr>
        <p:spPr>
          <a:xfrm>
            <a:off x="2052915" y="5087699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04 / 06</a:t>
            </a:r>
            <a:endParaRPr lang="en-US" sz="100" dirty="0"/>
          </a:p>
        </p:txBody>
      </p:sp>
      <p:sp>
        <p:nvSpPr>
          <p:cNvPr id="55" name="Text: 05"/>
          <p:cNvSpPr txBox="1"/>
          <p:nvPr/>
        </p:nvSpPr>
        <p:spPr>
          <a:xfrm>
            <a:off x="1028144" y="5375116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05</a:t>
            </a:r>
            <a:endParaRPr lang="en-US" sz="640" dirty="0"/>
          </a:p>
        </p:txBody>
      </p:sp>
      <p:sp>
        <p:nvSpPr>
          <p:cNvPr id="56" name="Rounded Rectangle"/>
          <p:cNvSpPr/>
          <p:nvPr/>
        </p:nvSpPr>
        <p:spPr>
          <a:xfrm>
            <a:off x="1217057" y="5341620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57" name="Rectangle"/>
          <p:cNvSpPr/>
          <p:nvPr/>
        </p:nvSpPr>
        <p:spPr>
          <a:xfrm>
            <a:off x="1217057" y="5341620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Text: METRICS"/>
          <p:cNvSpPr txBox="1"/>
          <p:nvPr/>
        </p:nvSpPr>
        <p:spPr>
          <a:xfrm>
            <a:off x="1298337" y="5420360"/>
            <a:ext cx="72311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METRICS</a:t>
            </a:r>
            <a:endParaRPr lang="en-US" sz="104" dirty="0"/>
          </a:p>
        </p:txBody>
      </p:sp>
      <p:sp>
        <p:nvSpPr>
          <p:cNvPr id="59" name="Text: +38%"/>
          <p:cNvSpPr txBox="1"/>
          <p:nvPr/>
        </p:nvSpPr>
        <p:spPr>
          <a:xfrm>
            <a:off x="1298337" y="5557012"/>
            <a:ext cx="203613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+38%</a:t>
            </a:r>
            <a:endParaRPr lang="en-US" sz="640" dirty="0"/>
          </a:p>
        </p:txBody>
      </p:sp>
      <p:sp>
        <p:nvSpPr>
          <p:cNvPr id="60" name="Text: activation"/>
          <p:cNvSpPr txBox="1"/>
          <p:nvPr/>
        </p:nvSpPr>
        <p:spPr>
          <a:xfrm>
            <a:off x="1298337" y="5634228"/>
            <a:ext cx="80796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activation</a:t>
            </a:r>
            <a:endParaRPr lang="en-US" sz="144" dirty="0"/>
          </a:p>
        </p:txBody>
      </p:sp>
      <p:sp>
        <p:nvSpPr>
          <p:cNvPr id="61" name="Text: 12k"/>
          <p:cNvSpPr txBox="1"/>
          <p:nvPr/>
        </p:nvSpPr>
        <p:spPr>
          <a:xfrm>
            <a:off x="1576038" y="5557012"/>
            <a:ext cx="127373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12k</a:t>
            </a:r>
            <a:endParaRPr lang="en-US" sz="640" dirty="0"/>
          </a:p>
        </p:txBody>
      </p:sp>
      <p:sp>
        <p:nvSpPr>
          <p:cNvPr id="62" name="Text: weekly actives"/>
          <p:cNvSpPr txBox="1"/>
          <p:nvPr/>
        </p:nvSpPr>
        <p:spPr>
          <a:xfrm>
            <a:off x="1576038" y="5634228"/>
            <a:ext cx="122547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weekly actives</a:t>
            </a:r>
            <a:endParaRPr lang="en-US" sz="144" dirty="0"/>
          </a:p>
        </p:txBody>
      </p:sp>
      <p:sp>
        <p:nvSpPr>
          <p:cNvPr id="63" name="Text: 4.9"/>
          <p:cNvSpPr txBox="1"/>
          <p:nvPr/>
        </p:nvSpPr>
        <p:spPr>
          <a:xfrm>
            <a:off x="1853748" y="5557012"/>
            <a:ext cx="111030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4.9</a:t>
            </a:r>
            <a:endParaRPr lang="en-US" sz="640" dirty="0"/>
          </a:p>
        </p:txBody>
      </p:sp>
      <p:sp>
        <p:nvSpPr>
          <p:cNvPr id="64" name="Text: app rating"/>
          <p:cNvSpPr txBox="1"/>
          <p:nvPr/>
        </p:nvSpPr>
        <p:spPr>
          <a:xfrm>
            <a:off x="1853748" y="5634228"/>
            <a:ext cx="83836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app rating</a:t>
            </a:r>
            <a:endParaRPr lang="en-US" sz="144" dirty="0"/>
          </a:p>
        </p:txBody>
      </p:sp>
      <p:sp>
        <p:nvSpPr>
          <p:cNvPr id="65" name="Text: ACME · PRODUCT"/>
          <p:cNvSpPr txBox="1"/>
          <p:nvPr/>
        </p:nvSpPr>
        <p:spPr>
          <a:xfrm>
            <a:off x="1298337" y="5798820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66" name="Text: 05 / 06"/>
          <p:cNvSpPr txBox="1"/>
          <p:nvPr/>
        </p:nvSpPr>
        <p:spPr>
          <a:xfrm>
            <a:off x="2052915" y="5798820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05 / 06</a:t>
            </a:r>
            <a:endParaRPr lang="en-US" sz="100" dirty="0"/>
          </a:p>
        </p:txBody>
      </p:sp>
      <p:sp>
        <p:nvSpPr>
          <p:cNvPr id="67" name="Text: 06"/>
          <p:cNvSpPr txBox="1"/>
          <p:nvPr/>
        </p:nvSpPr>
        <p:spPr>
          <a:xfrm>
            <a:off x="1028144" y="6086237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640" dirty="0"/>
          </a:p>
        </p:txBody>
      </p:sp>
      <p:sp>
        <p:nvSpPr>
          <p:cNvPr id="68" name="Rounded Rectangle"/>
          <p:cNvSpPr/>
          <p:nvPr/>
        </p:nvSpPr>
        <p:spPr>
          <a:xfrm>
            <a:off x="1217057" y="6052741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69" name="Rectangle"/>
          <p:cNvSpPr/>
          <p:nvPr/>
        </p:nvSpPr>
        <p:spPr>
          <a:xfrm>
            <a:off x="1217057" y="6052741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0" name="Text: NEXT"/>
          <p:cNvSpPr txBox="1"/>
          <p:nvPr/>
        </p:nvSpPr>
        <p:spPr>
          <a:xfrm>
            <a:off x="1298337" y="6131481"/>
            <a:ext cx="41323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NEXT</a:t>
            </a:r>
            <a:endParaRPr lang="en-US" sz="104" dirty="0"/>
          </a:p>
        </p:txBody>
      </p:sp>
      <p:sp>
        <p:nvSpPr>
          <p:cNvPr id="71" name="Text: What's next"/>
          <p:cNvSpPr txBox="1"/>
          <p:nvPr/>
        </p:nvSpPr>
        <p:spPr>
          <a:xfrm>
            <a:off x="1298337" y="6214285"/>
            <a:ext cx="318873" cy="60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480" dirty="0"/>
          </a:p>
        </p:txBody>
      </p:sp>
      <p:sp>
        <p:nvSpPr>
          <p:cNvPr id="72" name="Border"/>
          <p:cNvSpPr/>
          <p:nvPr/>
        </p:nvSpPr>
        <p:spPr>
          <a:xfrm>
            <a:off x="1298337" y="630674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3" name="Text: →"/>
          <p:cNvSpPr txBox="1"/>
          <p:nvPr/>
        </p:nvSpPr>
        <p:spPr>
          <a:xfrm>
            <a:off x="1298337" y="632604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74" name="Text: Ship the beta in May"/>
          <p:cNvSpPr txBox="1"/>
          <p:nvPr/>
        </p:nvSpPr>
        <p:spPr>
          <a:xfrm>
            <a:off x="1327182" y="6316901"/>
            <a:ext cx="209050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Ship the beta in May</a:t>
            </a:r>
            <a:endParaRPr lang="en-US" sz="176" dirty="0"/>
          </a:p>
        </p:txBody>
      </p:sp>
      <p:sp>
        <p:nvSpPr>
          <p:cNvPr id="75" name="Border"/>
          <p:cNvSpPr/>
          <p:nvPr/>
        </p:nvSpPr>
        <p:spPr>
          <a:xfrm>
            <a:off x="1298337" y="636516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6" name="Text: →"/>
          <p:cNvSpPr txBox="1"/>
          <p:nvPr/>
        </p:nvSpPr>
        <p:spPr>
          <a:xfrm>
            <a:off x="1298337" y="638446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77" name="Text: Open the waitlist"/>
          <p:cNvSpPr txBox="1"/>
          <p:nvPr/>
        </p:nvSpPr>
        <p:spPr>
          <a:xfrm>
            <a:off x="1327182" y="6375321"/>
            <a:ext cx="173053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Open the waitlist</a:t>
            </a:r>
            <a:endParaRPr lang="en-US" sz="176" dirty="0"/>
          </a:p>
        </p:txBody>
      </p:sp>
      <p:sp>
        <p:nvSpPr>
          <p:cNvPr id="78" name="Border"/>
          <p:cNvSpPr/>
          <p:nvPr/>
        </p:nvSpPr>
        <p:spPr>
          <a:xfrm>
            <a:off x="1298337" y="642358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9" name="Text: →"/>
          <p:cNvSpPr txBox="1"/>
          <p:nvPr/>
        </p:nvSpPr>
        <p:spPr>
          <a:xfrm>
            <a:off x="1298337" y="644288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80" name="Text: Measure, then scale"/>
          <p:cNvSpPr txBox="1"/>
          <p:nvPr/>
        </p:nvSpPr>
        <p:spPr>
          <a:xfrm>
            <a:off x="1327182" y="6433741"/>
            <a:ext cx="204041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Measure, then scale</a:t>
            </a:r>
            <a:endParaRPr lang="en-US" sz="176" dirty="0"/>
          </a:p>
        </p:txBody>
      </p:sp>
      <p:sp>
        <p:nvSpPr>
          <p:cNvPr id="81" name="Text: ACME · PRODUCT"/>
          <p:cNvSpPr txBox="1"/>
          <p:nvPr/>
        </p:nvSpPr>
        <p:spPr>
          <a:xfrm>
            <a:off x="1298337" y="6509941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82" name="Text: 06 / 06"/>
          <p:cNvSpPr txBox="1"/>
          <p:nvPr/>
        </p:nvSpPr>
        <p:spPr>
          <a:xfrm>
            <a:off x="2052915" y="6509941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06 / 06</a:t>
            </a:r>
            <a:endParaRPr lang="en-US" sz="100" dirty="0"/>
          </a:p>
        </p:txBody>
      </p:sp>
      <p:sp>
        <p:nvSpPr>
          <p:cNvPr id="83" name="Rectangle"/>
          <p:cNvSpPr/>
          <p:nvPr/>
        </p:nvSpPr>
        <p:spPr>
          <a:xfrm>
            <a:off x="8829040" y="2168128"/>
            <a:ext cx="2600960" cy="3673872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84" name="Border"/>
          <p:cNvSpPr/>
          <p:nvPr/>
        </p:nvSpPr>
        <p:spPr>
          <a:xfrm>
            <a:off x="8829040" y="2168128"/>
            <a:ext cx="5080" cy="3673872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5" name="Border"/>
          <p:cNvSpPr/>
          <p:nvPr/>
        </p:nvSpPr>
        <p:spPr>
          <a:xfrm>
            <a:off x="8834120" y="2455624"/>
            <a:ext cx="2595880" cy="508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86" name="Graph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450" y="2260600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87" name="Text: Format"/>
          <p:cNvSpPr txBox="1"/>
          <p:nvPr/>
        </p:nvSpPr>
        <p:spPr>
          <a:xfrm>
            <a:off x="9110345" y="2224469"/>
            <a:ext cx="324088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b="1" spc="-8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Format</a:t>
            </a:r>
            <a:endParaRPr lang="en-US" sz="768" dirty="0"/>
          </a:p>
        </p:txBody>
      </p:sp>
      <p:pic>
        <p:nvPicPr>
          <p:cNvPr id="88" name="Graph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2350" y="2276475"/>
            <a:ext cx="69850" cy="69850"/>
          </a:xfrm>
          <a:prstGeom prst="rect">
            <a:avLst/>
          </a:prstGeom>
          <a:ln>
            <a:noFill/>
          </a:ln>
        </p:spPr>
      </p:pic>
      <p:sp>
        <p:nvSpPr>
          <p:cNvPr id="89" name="Text: Text"/>
          <p:cNvSpPr txBox="1"/>
          <p:nvPr/>
        </p:nvSpPr>
        <p:spPr>
          <a:xfrm>
            <a:off x="9142889" y="2617057"/>
            <a:ext cx="190976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Text</a:t>
            </a:r>
            <a:endParaRPr lang="en-US" sz="768" dirty="0"/>
          </a:p>
        </p:txBody>
      </p:sp>
      <p:pic>
        <p:nvPicPr>
          <p:cNvPr id="90" name="Graph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9850" y="2657475"/>
            <a:ext cx="101600" cy="98425"/>
          </a:xfrm>
          <a:prstGeom prst="rect">
            <a:avLst/>
          </a:prstGeom>
          <a:ln>
            <a:noFill/>
          </a:ln>
        </p:spPr>
      </p:pic>
      <p:sp>
        <p:nvSpPr>
          <p:cNvPr id="91" name="Rounded Rectangle"/>
          <p:cNvSpPr/>
          <p:nvPr/>
        </p:nvSpPr>
        <p:spPr>
          <a:xfrm>
            <a:off x="10756186" y="2576989"/>
            <a:ext cx="557530" cy="254953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508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92" name="Rounded Rectangle"/>
          <p:cNvSpPr/>
          <p:nvPr/>
        </p:nvSpPr>
        <p:spPr>
          <a:xfrm>
            <a:off x="10774918" y="2595721"/>
            <a:ext cx="260033" cy="217408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4884" sy="105842" algn="ctr" rotWithShape="0">
              <a:srgbClr val="000000">
                <a:alpha val="6000"/>
              </a:srgbClr>
            </a:outerShdw>
          </a:effectLst>
        </p:spPr>
      </p:sp>
      <p:pic>
        <p:nvPicPr>
          <p:cNvPr id="93" name="Graph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2660650"/>
            <a:ext cx="88900" cy="85725"/>
          </a:xfrm>
          <a:prstGeom prst="rect">
            <a:avLst/>
          </a:prstGeom>
          <a:ln>
            <a:noFill/>
          </a:ln>
        </p:spPr>
      </p:pic>
      <p:pic>
        <p:nvPicPr>
          <p:cNvPr id="94" name="Graphi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2500" y="26511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95" name="Text: TYPOGRAPHY"/>
          <p:cNvSpPr txBox="1"/>
          <p:nvPr/>
        </p:nvSpPr>
        <p:spPr>
          <a:xfrm>
            <a:off x="8947864" y="2984770"/>
            <a:ext cx="65460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TYPOGRAPHY</a:t>
            </a:r>
            <a:endParaRPr lang="en-US" sz="704" dirty="0"/>
          </a:p>
        </p:txBody>
      </p:sp>
      <p:sp>
        <p:nvSpPr>
          <p:cNvPr id="96" name="Rounded Rectangle"/>
          <p:cNvSpPr/>
          <p:nvPr/>
        </p:nvSpPr>
        <p:spPr>
          <a:xfrm>
            <a:off x="8950404" y="3214846"/>
            <a:ext cx="1534319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97" name="Text: Semibold"/>
          <p:cNvSpPr txBox="1"/>
          <p:nvPr/>
        </p:nvSpPr>
        <p:spPr>
          <a:xfrm>
            <a:off x="9034224" y="3238722"/>
            <a:ext cx="416798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Semibold</a:t>
            </a:r>
            <a:endParaRPr lang="en-US" sz="768" dirty="0"/>
          </a:p>
        </p:txBody>
      </p:sp>
      <p:pic>
        <p:nvPicPr>
          <p:cNvPr id="98" name="Graphi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9225" y="3308350"/>
            <a:ext cx="69850" cy="41275"/>
          </a:xfrm>
          <a:prstGeom prst="rect">
            <a:avLst/>
          </a:prstGeom>
          <a:ln>
            <a:noFill/>
          </a:ln>
        </p:spPr>
      </p:pic>
      <p:sp>
        <p:nvSpPr>
          <p:cNvPr id="99" name="Rounded Rectangle"/>
          <p:cNvSpPr/>
          <p:nvPr/>
        </p:nvSpPr>
        <p:spPr>
          <a:xfrm>
            <a:off x="10538539" y="3214846"/>
            <a:ext cx="77517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00" name="Graph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0850" y="3292475"/>
            <a:ext cx="104775" cy="60325"/>
          </a:xfrm>
          <a:prstGeom prst="rect">
            <a:avLst/>
          </a:prstGeom>
          <a:ln>
            <a:noFill/>
          </a:ln>
        </p:spPr>
      </p:pic>
      <p:sp>
        <p:nvSpPr>
          <p:cNvPr id="101" name="Text: 176"/>
          <p:cNvSpPr txBox="1"/>
          <p:nvPr/>
        </p:nvSpPr>
        <p:spPr>
          <a:xfrm>
            <a:off x="10934938" y="3185970"/>
            <a:ext cx="160258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176</a:t>
            </a:r>
            <a:endParaRPr lang="en-US" sz="704" dirty="0"/>
          </a:p>
        </p:txBody>
      </p:sp>
      <p:sp>
        <p:nvSpPr>
          <p:cNvPr id="102" name="Text: 200"/>
          <p:cNvSpPr txBox="1"/>
          <p:nvPr/>
        </p:nvSpPr>
        <p:spPr>
          <a:xfrm>
            <a:off x="10934938" y="3275346"/>
            <a:ext cx="160258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200</a:t>
            </a:r>
            <a:endParaRPr lang="en-US" sz="704" dirty="0"/>
          </a:p>
        </p:txBody>
      </p:sp>
      <p:sp>
        <p:nvSpPr>
          <p:cNvPr id="103" name="Text: PX"/>
          <p:cNvSpPr txBox="1"/>
          <p:nvPr/>
        </p:nvSpPr>
        <p:spPr>
          <a:xfrm>
            <a:off x="11160204" y="3253962"/>
            <a:ext cx="102235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PX</a:t>
            </a:r>
            <a:endParaRPr lang="en-US" sz="608" dirty="0"/>
          </a:p>
        </p:txBody>
      </p:sp>
      <p:sp>
        <p:nvSpPr>
          <p:cNvPr id="104" name="Rounded Rectangle"/>
          <p:cNvSpPr/>
          <p:nvPr/>
        </p:nvSpPr>
        <p:spPr>
          <a:xfrm>
            <a:off x="9172893" y="352369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0" y="0"/>
                </a:moveTo>
                <a:lnTo>
                  <a:pt x="174863" y="0"/>
                </a:lnTo>
                <a:arcTo wR="47625" hR="47625" stAng="16200000" swAng="5400000"/>
                <a:lnTo>
                  <a:pt x="222488" y="174863"/>
                </a:lnTo>
                <a:arcTo wR="47625" hR="47625" stAng="0" swAng="5400000"/>
                <a:lnTo>
                  <a:pt x="0" y="22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05" name="Graphi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2425" y="3587750"/>
            <a:ext cx="79375" cy="88900"/>
          </a:xfrm>
          <a:prstGeom prst="rect">
            <a:avLst/>
          </a:prstGeom>
          <a:ln>
            <a:noFill/>
          </a:ln>
        </p:spPr>
      </p:pic>
      <p:sp>
        <p:nvSpPr>
          <p:cNvPr id="106" name="Rounded Rectangle"/>
          <p:cNvSpPr/>
          <p:nvPr/>
        </p:nvSpPr>
        <p:spPr>
          <a:xfrm>
            <a:off x="8950404" y="352369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47625" y="0"/>
                </a:moveTo>
                <a:lnTo>
                  <a:pt x="222488" y="0"/>
                </a:lnTo>
                <a:lnTo>
                  <a:pt x="222488" y="222488"/>
                </a:lnTo>
                <a:lnTo>
                  <a:pt x="47625" y="222488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0A0A0A"/>
          </a:solidFill>
          <a:ln w="5080" cap="flat" cmpd="sng" algn="ctr">
            <a:solidFill>
              <a:srgbClr val="0A0A0A"/>
            </a:solidFill>
            <a:miter lim="800000"/>
          </a:ln>
        </p:spPr>
      </p:sp>
      <p:pic>
        <p:nvPicPr>
          <p:cNvPr id="107" name="Graphi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3590925"/>
            <a:ext cx="73025" cy="85725"/>
          </a:xfrm>
          <a:prstGeom prst="rect">
            <a:avLst/>
          </a:prstGeom>
          <a:ln>
            <a:noFill/>
          </a:ln>
        </p:spPr>
      </p:pic>
      <p:sp>
        <p:nvSpPr>
          <p:cNvPr id="108" name="Rectangle"/>
          <p:cNvSpPr/>
          <p:nvPr/>
        </p:nvSpPr>
        <p:spPr>
          <a:xfrm>
            <a:off x="9687957" y="3523694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09" name="Graphic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50425" y="3594100"/>
            <a:ext cx="98425" cy="79375"/>
          </a:xfrm>
          <a:prstGeom prst="rect">
            <a:avLst/>
          </a:prstGeom>
          <a:ln>
            <a:noFill/>
          </a:ln>
        </p:spPr>
      </p:pic>
      <p:sp>
        <p:nvSpPr>
          <p:cNvPr id="110" name="Rectangle"/>
          <p:cNvSpPr/>
          <p:nvPr/>
        </p:nvSpPr>
        <p:spPr>
          <a:xfrm>
            <a:off x="9910445" y="3523694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11" name="Graphic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75850" y="3594100"/>
            <a:ext cx="98425" cy="79375"/>
          </a:xfrm>
          <a:prstGeom prst="rect">
            <a:avLst/>
          </a:prstGeom>
          <a:ln>
            <a:noFill/>
          </a:ln>
        </p:spPr>
      </p:pic>
      <p:sp>
        <p:nvSpPr>
          <p:cNvPr id="112" name="Rounded Rectangle"/>
          <p:cNvSpPr/>
          <p:nvPr/>
        </p:nvSpPr>
        <p:spPr>
          <a:xfrm>
            <a:off x="10132933" y="352369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0" y="0"/>
                </a:moveTo>
                <a:lnTo>
                  <a:pt x="174863" y="0"/>
                </a:lnTo>
                <a:arcTo wR="47625" hR="47625" stAng="16200000" swAng="5400000"/>
                <a:lnTo>
                  <a:pt x="222488" y="174863"/>
                </a:lnTo>
                <a:arcTo wR="47625" hR="47625" stAng="0" swAng="5400000"/>
                <a:lnTo>
                  <a:pt x="0" y="22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13" name="Graphi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1750" y="3594100"/>
            <a:ext cx="98425" cy="79375"/>
          </a:xfrm>
          <a:prstGeom prst="rect">
            <a:avLst/>
          </a:prstGeom>
          <a:ln>
            <a:noFill/>
          </a:ln>
        </p:spPr>
      </p:pic>
      <p:sp>
        <p:nvSpPr>
          <p:cNvPr id="114" name="Rounded Rectangle"/>
          <p:cNvSpPr/>
          <p:nvPr/>
        </p:nvSpPr>
        <p:spPr>
          <a:xfrm>
            <a:off x="9465469" y="352369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47625" y="0"/>
                </a:moveTo>
                <a:lnTo>
                  <a:pt x="222488" y="0"/>
                </a:lnTo>
                <a:lnTo>
                  <a:pt x="222488" y="222488"/>
                </a:lnTo>
                <a:lnTo>
                  <a:pt x="47625" y="222488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0A0A0A"/>
          </a:solidFill>
          <a:ln w="5080" cap="flat" cmpd="sng" algn="ctr">
            <a:solidFill>
              <a:srgbClr val="0A0A0A"/>
            </a:solidFill>
            <a:miter lim="800000"/>
          </a:ln>
        </p:spPr>
      </p:sp>
      <p:pic>
        <p:nvPicPr>
          <p:cNvPr id="115" name="Graphic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8175" y="3594100"/>
            <a:ext cx="98425" cy="79375"/>
          </a:xfrm>
          <a:prstGeom prst="rect">
            <a:avLst/>
          </a:prstGeom>
          <a:ln>
            <a:noFill/>
          </a:ln>
        </p:spPr>
      </p:pic>
      <p:sp>
        <p:nvSpPr>
          <p:cNvPr id="116" name="Rounded Rectangle"/>
          <p:cNvSpPr/>
          <p:nvPr/>
        </p:nvSpPr>
        <p:spPr>
          <a:xfrm>
            <a:off x="8950404" y="3832543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17" name="Graphic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0175" y="3889375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18" name="Text: 1"/>
          <p:cNvSpPr txBox="1"/>
          <p:nvPr/>
        </p:nvSpPr>
        <p:spPr>
          <a:xfrm>
            <a:off x="9935448" y="3859482"/>
            <a:ext cx="5341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704" dirty="0"/>
          </a:p>
        </p:txBody>
      </p:sp>
      <p:sp>
        <p:nvSpPr>
          <p:cNvPr id="119" name="Rounded Rectangle"/>
          <p:cNvSpPr/>
          <p:nvPr/>
        </p:nvSpPr>
        <p:spPr>
          <a:xfrm>
            <a:off x="10158968" y="3832543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20" name="Graphi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29850" y="3917950"/>
            <a:ext cx="107950" cy="50800"/>
          </a:xfrm>
          <a:prstGeom prst="rect">
            <a:avLst/>
          </a:prstGeom>
          <a:ln>
            <a:noFill/>
          </a:ln>
        </p:spPr>
      </p:pic>
      <p:sp>
        <p:nvSpPr>
          <p:cNvPr id="121" name="Text: -6.2"/>
          <p:cNvSpPr txBox="1"/>
          <p:nvPr/>
        </p:nvSpPr>
        <p:spPr>
          <a:xfrm>
            <a:off x="10881519" y="3859482"/>
            <a:ext cx="21367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-6.2</a:t>
            </a:r>
            <a:endParaRPr lang="en-US" sz="704" dirty="0"/>
          </a:p>
        </p:txBody>
      </p:sp>
      <p:sp>
        <p:nvSpPr>
          <p:cNvPr id="122" name="Text: PX"/>
          <p:cNvSpPr txBox="1"/>
          <p:nvPr/>
        </p:nvSpPr>
        <p:spPr>
          <a:xfrm>
            <a:off x="11160204" y="3871659"/>
            <a:ext cx="102235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PX</a:t>
            </a:r>
            <a:endParaRPr lang="en-US" sz="608" dirty="0"/>
          </a:p>
        </p:txBody>
      </p:sp>
      <p:sp>
        <p:nvSpPr>
          <p:cNvPr id="123" name="Text: COLOR"/>
          <p:cNvSpPr txBox="1"/>
          <p:nvPr/>
        </p:nvSpPr>
        <p:spPr>
          <a:xfrm>
            <a:off x="8947864" y="4305411"/>
            <a:ext cx="342265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COLOR</a:t>
            </a:r>
            <a:endParaRPr lang="en-US" sz="704" dirty="0"/>
          </a:p>
        </p:txBody>
      </p:sp>
      <p:sp>
        <p:nvSpPr>
          <p:cNvPr id="124" name="Text: Text"/>
          <p:cNvSpPr txBox="1"/>
          <p:nvPr/>
        </p:nvSpPr>
        <p:spPr>
          <a:xfrm>
            <a:off x="8947864" y="4567507"/>
            <a:ext cx="168831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Text</a:t>
            </a:r>
            <a:endParaRPr lang="en-US" sz="704" dirty="0"/>
          </a:p>
        </p:txBody>
      </p:sp>
      <p:sp>
        <p:nvSpPr>
          <p:cNvPr id="125" name="Rounded Rectangle"/>
          <p:cNvSpPr/>
          <p:nvPr/>
        </p:nvSpPr>
        <p:spPr>
          <a:xfrm>
            <a:off x="9600565" y="4535488"/>
            <a:ext cx="22248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26" name="Rounded Rectangle"/>
          <p:cNvSpPr/>
          <p:nvPr/>
        </p:nvSpPr>
        <p:spPr>
          <a:xfrm>
            <a:off x="9646761" y="4581684"/>
            <a:ext cx="130016" cy="130016"/>
          </a:xfrm>
          <a:prstGeom prst="roundRect">
            <a:avLst>
              <a:gd name="adj" fmla="val 18755"/>
            </a:avLst>
          </a:prstGeom>
          <a:solidFill>
            <a:srgbClr val="0A0A0A"/>
          </a:solidFill>
          <a:ln>
            <a:noFill/>
          </a:ln>
        </p:spPr>
      </p:sp>
      <p:sp>
        <p:nvSpPr>
          <p:cNvPr id="127" name="Rounded Rectangle"/>
          <p:cNvSpPr/>
          <p:nvPr/>
        </p:nvSpPr>
        <p:spPr>
          <a:xfrm>
            <a:off x="9876869" y="4535488"/>
            <a:ext cx="143684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28" name="Text: #0A0A0A"/>
          <p:cNvSpPr txBox="1"/>
          <p:nvPr/>
        </p:nvSpPr>
        <p:spPr>
          <a:xfrm>
            <a:off x="9944418" y="4562427"/>
            <a:ext cx="3738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#0A0A0A</a:t>
            </a:r>
            <a:endParaRPr lang="en-US" sz="704" dirty="0"/>
          </a:p>
        </p:txBody>
      </p:sp>
      <p:sp>
        <p:nvSpPr>
          <p:cNvPr id="129" name="Text: Background"/>
          <p:cNvSpPr txBox="1"/>
          <p:nvPr/>
        </p:nvSpPr>
        <p:spPr>
          <a:xfrm>
            <a:off x="8947864" y="4876356"/>
            <a:ext cx="490061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Background</a:t>
            </a:r>
            <a:endParaRPr lang="en-US" sz="704" dirty="0"/>
          </a:p>
        </p:txBody>
      </p:sp>
      <p:sp>
        <p:nvSpPr>
          <p:cNvPr id="130" name="Rounded Rectangle"/>
          <p:cNvSpPr/>
          <p:nvPr/>
        </p:nvSpPr>
        <p:spPr>
          <a:xfrm>
            <a:off x="9600565" y="4844336"/>
            <a:ext cx="22248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31" name="Rendered imag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45650" y="4889500"/>
            <a:ext cx="133350" cy="130175"/>
          </a:xfrm>
          <a:prstGeom prst="rect">
            <a:avLst/>
          </a:prstGeom>
          <a:ln>
            <a:noFill/>
          </a:ln>
        </p:spPr>
      </p:pic>
      <p:sp>
        <p:nvSpPr>
          <p:cNvPr id="132" name="Rounded Rectangle"/>
          <p:cNvSpPr/>
          <p:nvPr/>
        </p:nvSpPr>
        <p:spPr>
          <a:xfrm>
            <a:off x="9876869" y="4844336"/>
            <a:ext cx="143684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33" name="Text: #FFFFFF"/>
          <p:cNvSpPr txBox="1"/>
          <p:nvPr/>
        </p:nvSpPr>
        <p:spPr>
          <a:xfrm>
            <a:off x="9944418" y="4871276"/>
            <a:ext cx="3738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#FFFFFF</a:t>
            </a:r>
            <a:endParaRPr lang="en-US" sz="704" dirty="0"/>
          </a:p>
        </p:txBody>
      </p:sp>
      <p:sp>
        <p:nvSpPr>
          <p:cNvPr id="134" name="Text: CONTENT"/>
          <p:cNvSpPr txBox="1"/>
          <p:nvPr/>
        </p:nvSpPr>
        <p:spPr>
          <a:xfrm>
            <a:off x="8947864" y="5317204"/>
            <a:ext cx="46148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CONTENT</a:t>
            </a:r>
            <a:endParaRPr lang="en-US" sz="704" dirty="0"/>
          </a:p>
        </p:txBody>
      </p:sp>
      <p:sp>
        <p:nvSpPr>
          <p:cNvPr id="135" name="Text: Edit on slide"/>
          <p:cNvSpPr txBox="1"/>
          <p:nvPr/>
        </p:nvSpPr>
        <p:spPr>
          <a:xfrm>
            <a:off x="10724833" y="5313093"/>
            <a:ext cx="526415" cy="1402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6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Edit on slide</a:t>
            </a:r>
            <a:endParaRPr lang="en-US" sz="736" dirty="0"/>
          </a:p>
        </p:txBody>
      </p:sp>
      <p:pic>
        <p:nvPicPr>
          <p:cNvPr id="136" name="Graphic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75925" y="5343525"/>
            <a:ext cx="104775" cy="104775"/>
          </a:xfrm>
          <a:prstGeom prst="rect">
            <a:avLst/>
          </a:prstGeom>
          <a:ln>
            <a:noFill/>
          </a:ln>
        </p:spPr>
      </p:pic>
      <p:sp>
        <p:nvSpPr>
          <p:cNvPr id="137" name="Rounded Rectangle"/>
          <p:cNvSpPr/>
          <p:nvPr/>
        </p:nvSpPr>
        <p:spPr>
          <a:xfrm>
            <a:off x="8950404" y="5547281"/>
            <a:ext cx="2363311" cy="515064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38" name="Text: Q2 Launch"/>
          <p:cNvSpPr txBox="1"/>
          <p:nvPr/>
        </p:nvSpPr>
        <p:spPr>
          <a:xfrm>
            <a:off x="9034224" y="5595931"/>
            <a:ext cx="481171" cy="1560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768" dirty="0"/>
          </a:p>
        </p:txBody>
      </p:sp>
      <p:sp>
        <p:nvSpPr>
          <p:cNvPr id="139" name="Rounded Rectangle"/>
          <p:cNvSpPr/>
          <p:nvPr/>
        </p:nvSpPr>
        <p:spPr>
          <a:xfrm>
            <a:off x="2633980" y="2331958"/>
            <a:ext cx="5948680" cy="3346133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sp>
        <p:nvSpPr>
          <p:cNvPr id="140" name="Rectangle"/>
          <p:cNvSpPr/>
          <p:nvPr/>
        </p:nvSpPr>
        <p:spPr>
          <a:xfrm>
            <a:off x="2633980" y="2331958"/>
            <a:ext cx="5948680" cy="334613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1" name="Text: COVER"/>
          <p:cNvSpPr txBox="1"/>
          <p:nvPr/>
        </p:nvSpPr>
        <p:spPr>
          <a:xfrm>
            <a:off x="3129703" y="2812190"/>
            <a:ext cx="315007" cy="12083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4" spc="11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634" dirty="0"/>
          </a:p>
        </p:txBody>
      </p:sp>
      <p:sp>
        <p:nvSpPr>
          <p:cNvPr id="142" name="Text: What we're shipping, why it matters."/>
          <p:cNvSpPr txBox="1"/>
          <p:nvPr/>
        </p:nvSpPr>
        <p:spPr>
          <a:xfrm>
            <a:off x="3129703" y="4347694"/>
            <a:ext cx="2223252" cy="1840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3" spc="-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1073" dirty="0"/>
          </a:p>
        </p:txBody>
      </p:sp>
      <p:sp>
        <p:nvSpPr>
          <p:cNvPr id="143" name="Text: Q2 Launch"/>
          <p:cNvSpPr txBox="1"/>
          <p:nvPr/>
        </p:nvSpPr>
        <p:spPr>
          <a:xfrm>
            <a:off x="3129703" y="3726180"/>
            <a:ext cx="2987896" cy="6196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9" b="1" spc="-17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4879" dirty="0"/>
          </a:p>
        </p:txBody>
      </p:sp>
      <p:sp>
        <p:nvSpPr>
          <p:cNvPr id="144" name="Rectangle"/>
          <p:cNvSpPr/>
          <p:nvPr/>
        </p:nvSpPr>
        <p:spPr>
          <a:xfrm>
            <a:off x="3132802" y="3636331"/>
            <a:ext cx="2981699" cy="613458"/>
          </a:xfrm>
          <a:prstGeom prst="rect">
            <a:avLst/>
          </a:prstGeom>
          <a:noFill/>
          <a:ln w="6197" cap="flat" cmpd="sng" algn="ctr">
            <a:solidFill>
              <a:srgbClr val="3B82F6"/>
            </a:solidFill>
            <a:miter lim="800000"/>
          </a:ln>
        </p:spPr>
      </p:sp>
      <p:sp>
        <p:nvSpPr>
          <p:cNvPr id="145" name="Rectangle"/>
          <p:cNvSpPr/>
          <p:nvPr/>
        </p:nvSpPr>
        <p:spPr>
          <a:xfrm>
            <a:off x="4623651" y="3444383"/>
            <a:ext cx="8085" cy="195046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6" name="Ellipse"/>
          <p:cNvSpPr/>
          <p:nvPr/>
        </p:nvSpPr>
        <p:spPr>
          <a:xfrm>
            <a:off x="4578000" y="3366200"/>
            <a:ext cx="91302" cy="91302"/>
          </a:xfrm>
          <a:prstGeom prst="ellipse">
            <a:avLst/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47" name="Rounded Rectangle"/>
          <p:cNvSpPr/>
          <p:nvPr/>
        </p:nvSpPr>
        <p:spPr>
          <a:xfrm>
            <a:off x="3090249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48" name="Rounded Rectangle"/>
          <p:cNvSpPr/>
          <p:nvPr/>
        </p:nvSpPr>
        <p:spPr>
          <a:xfrm>
            <a:off x="4578000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49" name="Rounded Rectangle"/>
          <p:cNvSpPr/>
          <p:nvPr/>
        </p:nvSpPr>
        <p:spPr>
          <a:xfrm>
            <a:off x="6065752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0" name="Rounded Rectangle"/>
          <p:cNvSpPr/>
          <p:nvPr/>
        </p:nvSpPr>
        <p:spPr>
          <a:xfrm>
            <a:off x="6065752" y="389740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1" name="Rounded Rectangle"/>
          <p:cNvSpPr/>
          <p:nvPr/>
        </p:nvSpPr>
        <p:spPr>
          <a:xfrm>
            <a:off x="6065752" y="4201039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2" name="Rounded Rectangle"/>
          <p:cNvSpPr/>
          <p:nvPr/>
        </p:nvSpPr>
        <p:spPr>
          <a:xfrm>
            <a:off x="4578000" y="4201039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3" name="Rounded Rectangle"/>
          <p:cNvSpPr/>
          <p:nvPr/>
        </p:nvSpPr>
        <p:spPr>
          <a:xfrm>
            <a:off x="3090249" y="4201039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4" name="Rounded Rectangle"/>
          <p:cNvSpPr/>
          <p:nvPr/>
        </p:nvSpPr>
        <p:spPr>
          <a:xfrm>
            <a:off x="3090249" y="389740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5" name="Text: ACME · PRODUCT"/>
          <p:cNvSpPr txBox="1"/>
          <p:nvPr/>
        </p:nvSpPr>
        <p:spPr>
          <a:xfrm>
            <a:off x="3129703" y="5120403"/>
            <a:ext cx="710037" cy="1115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6" spc="4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586" dirty="0"/>
          </a:p>
        </p:txBody>
      </p:sp>
      <p:sp>
        <p:nvSpPr>
          <p:cNvPr id="156" name="Text: 01 / 06"/>
          <p:cNvSpPr txBox="1"/>
          <p:nvPr/>
        </p:nvSpPr>
        <p:spPr>
          <a:xfrm>
            <a:off x="7731847" y="5120403"/>
            <a:ext cx="355091" cy="1115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6" spc="4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586" dirty="0"/>
          </a:p>
        </p:txBody>
      </p:sp>
      <p:sp>
        <p:nvSpPr>
          <p:cNvPr id="157" name="Rounded Rectangle"/>
          <p:cNvSpPr/>
          <p:nvPr/>
        </p:nvSpPr>
        <p:spPr>
          <a:xfrm>
            <a:off x="5007610" y="5356939"/>
            <a:ext cx="1201420" cy="287496"/>
          </a:xfrm>
          <a:prstGeom prst="roundRect">
            <a:avLst>
              <a:gd name="adj" fmla="val 21734"/>
            </a:avLst>
          </a:prstGeom>
          <a:solidFill>
            <a:srgbClr val="FFFFFF">
              <a:alpha val="95000"/>
            </a:srgbClr>
          </a:solidFill>
          <a:ln w="5080" cap="flat" cmpd="sng" algn="ctr">
            <a:solidFill>
              <a:srgbClr val="E4E4E4"/>
            </a:solidFill>
            <a:miter lim="800000"/>
          </a:ln>
          <a:effectLst>
            <a:outerShdw blurRad="0" dist="0" dir="0" sx="101057" sy="104417" algn="ctr" rotWithShape="0">
              <a:srgbClr val="000000">
                <a:alpha val="8000"/>
              </a:srgbClr>
            </a:outerShdw>
          </a:effectLst>
        </p:spPr>
      </p:sp>
      <p:pic>
        <p:nvPicPr>
          <p:cNvPr id="158" name="Graphic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11750" y="5457825"/>
            <a:ext cx="88900" cy="88900"/>
          </a:xfrm>
          <a:prstGeom prst="rect">
            <a:avLst/>
          </a:prstGeom>
          <a:ln>
            <a:noFill/>
          </a:ln>
        </p:spPr>
      </p:pic>
      <p:sp>
        <p:nvSpPr>
          <p:cNvPr id="159" name="Rectangle"/>
          <p:cNvSpPr/>
          <p:nvPr/>
        </p:nvSpPr>
        <p:spPr>
          <a:xfrm>
            <a:off x="5530215" y="5435600"/>
            <a:ext cx="5080" cy="130016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160" name="Graphic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40350" y="5457825"/>
            <a:ext cx="88900" cy="88900"/>
          </a:xfrm>
          <a:prstGeom prst="rect">
            <a:avLst/>
          </a:prstGeom>
          <a:ln>
            <a:noFill/>
          </a:ln>
        </p:spPr>
      </p:pic>
      <p:sp>
        <p:nvSpPr>
          <p:cNvPr id="161" name="Text: Saved"/>
          <p:cNvSpPr txBox="1"/>
          <p:nvPr/>
        </p:nvSpPr>
        <p:spPr>
          <a:xfrm>
            <a:off x="5827713" y="5413280"/>
            <a:ext cx="281305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Saved</a:t>
            </a:r>
            <a:endParaRPr lang="en-US" sz="768" dirty="0"/>
          </a:p>
        </p:txBody>
      </p:sp>
      <p:pic>
        <p:nvPicPr>
          <p:cNvPr id="162" name="Graphic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76900" y="5467350"/>
            <a:ext cx="88900" cy="66675"/>
          </a:xfrm>
          <a:prstGeom prst="rect">
            <a:avLst/>
          </a:prstGeom>
          <a:ln>
            <a:noFill/>
          </a:ln>
        </p:spPr>
      </p:pic>
      <p:pic>
        <p:nvPicPr>
          <p:cNvPr id="163" name="Graphic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43700" y="5511800"/>
            <a:ext cx="155575" cy="155575"/>
          </a:xfrm>
          <a:prstGeom prst="rect">
            <a:avLst/>
          </a:prstGeom>
          <a:ln>
            <a:noFill/>
          </a:ln>
        </p:spPr>
      </p:pic>
      <p:pic>
        <p:nvPicPr>
          <p:cNvPr id="164" name="Graphic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2500" y="1936750"/>
            <a:ext cx="44450" cy="76200"/>
          </a:xfrm>
          <a:prstGeom prst="rect">
            <a:avLst/>
          </a:prstGeom>
          <a:ln>
            <a:noFill/>
          </a:ln>
        </p:spPr>
      </p:pic>
      <p:sp>
        <p:nvSpPr>
          <p:cNvPr id="165" name="Rectangle"/>
          <p:cNvSpPr/>
          <p:nvPr/>
        </p:nvSpPr>
        <p:spPr>
          <a:xfrm>
            <a:off x="1168241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66" name="Rounded Rectangle"/>
          <p:cNvSpPr/>
          <p:nvPr/>
        </p:nvSpPr>
        <p:spPr>
          <a:xfrm>
            <a:off x="1254522" y="1859280"/>
            <a:ext cx="944959" cy="227568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67" name="Rounded Rectangle"/>
          <p:cNvSpPr/>
          <p:nvPr/>
        </p:nvSpPr>
        <p:spPr>
          <a:xfrm>
            <a:off x="1270714" y="1875472"/>
            <a:ext cx="440373" cy="189944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884" sy="106686" algn="ctr" rotWithShape="0">
              <a:srgbClr val="000000">
                <a:alpha val="6000"/>
              </a:srgbClr>
            </a:outerShdw>
          </a:effectLst>
        </p:spPr>
      </p:sp>
      <p:sp>
        <p:nvSpPr>
          <p:cNvPr id="168" name="Text: Slides"/>
          <p:cNvSpPr txBox="1"/>
          <p:nvPr/>
        </p:nvSpPr>
        <p:spPr>
          <a:xfrm>
            <a:off x="1351994" y="1883077"/>
            <a:ext cx="27781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768" dirty="0"/>
          </a:p>
        </p:txBody>
      </p:sp>
      <p:sp>
        <p:nvSpPr>
          <p:cNvPr id="169" name="Text: Assets"/>
          <p:cNvSpPr txBox="1"/>
          <p:nvPr/>
        </p:nvSpPr>
        <p:spPr>
          <a:xfrm>
            <a:off x="1792367" y="1883077"/>
            <a:ext cx="309642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768" dirty="0"/>
          </a:p>
        </p:txBody>
      </p:sp>
      <p:sp>
        <p:nvSpPr>
          <p:cNvPr id="170" name="Rounded Rectangle"/>
          <p:cNvSpPr/>
          <p:nvPr/>
        </p:nvSpPr>
        <p:spPr>
          <a:xfrm>
            <a:off x="2267029" y="1894284"/>
            <a:ext cx="857726" cy="157480"/>
          </a:xfrm>
          <a:prstGeom prst="roundRect">
            <a:avLst>
              <a:gd name="adj" fmla="val 13871"/>
            </a:avLst>
          </a:prstGeom>
          <a:solidFill>
            <a:srgbClr val="FFFFFF"/>
          </a:solidFill>
          <a:ln w="5080" cap="flat" cmpd="sng" algn="ctr">
            <a:solidFill>
              <a:srgbClr val="ECECEC"/>
            </a:solidFill>
            <a:miter lim="800000"/>
          </a:ln>
        </p:spPr>
      </p:sp>
      <p:sp>
        <p:nvSpPr>
          <p:cNvPr id="171" name="Text: Agent connected"/>
          <p:cNvSpPr txBox="1"/>
          <p:nvPr/>
        </p:nvSpPr>
        <p:spPr>
          <a:xfrm>
            <a:off x="2415778" y="1897872"/>
            <a:ext cx="657701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-3" dirty="0">
                <a:solidFill>
                  <a:srgbClr val="0A0A0A">
                    <a:alpha val="85000"/>
                  </a:srgbClr>
                </a:solidFill>
                <a:latin typeface="Geist Variable"/>
                <a:ea typeface="Geist Variable"/>
                <a:cs typeface="Geist Variable"/>
              </a:rPr>
              <a:t>Agent connected</a:t>
            </a:r>
            <a:endParaRPr lang="en-US" sz="672" dirty="0"/>
          </a:p>
        </p:txBody>
      </p:sp>
      <p:sp>
        <p:nvSpPr>
          <p:cNvPr id="172" name="Ellipse"/>
          <p:cNvSpPr/>
          <p:nvPr/>
        </p:nvSpPr>
        <p:spPr>
          <a:xfrm>
            <a:off x="2318306" y="1948656"/>
            <a:ext cx="48736" cy="487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73" name="Text: Q2 Launch"/>
          <p:cNvSpPr txBox="1"/>
          <p:nvPr/>
        </p:nvSpPr>
        <p:spPr>
          <a:xfrm>
            <a:off x="5819140" y="1878600"/>
            <a:ext cx="553641" cy="1645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4" b="1" spc="-9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864" dirty="0"/>
          </a:p>
        </p:txBody>
      </p:sp>
      <p:sp>
        <p:nvSpPr>
          <p:cNvPr id="174" name="Rectangle"/>
          <p:cNvSpPr/>
          <p:nvPr/>
        </p:nvSpPr>
        <p:spPr>
          <a:xfrm>
            <a:off x="8224996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175" name="Graphic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31200" y="1939925"/>
            <a:ext cx="120650" cy="69850"/>
          </a:xfrm>
          <a:prstGeom prst="rect">
            <a:avLst/>
          </a:prstGeom>
          <a:ln>
            <a:noFill/>
          </a:ln>
        </p:spPr>
      </p:pic>
      <p:pic>
        <p:nvPicPr>
          <p:cNvPr id="176" name="Graphic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94725" y="1920875"/>
            <a:ext cx="111125" cy="111125"/>
          </a:xfrm>
          <a:prstGeom prst="rect">
            <a:avLst/>
          </a:prstGeom>
          <a:ln>
            <a:noFill/>
          </a:ln>
        </p:spPr>
      </p:pic>
      <p:sp>
        <p:nvSpPr>
          <p:cNvPr id="177" name="Text: Design"/>
          <p:cNvSpPr txBox="1"/>
          <p:nvPr/>
        </p:nvSpPr>
        <p:spPr>
          <a:xfrm>
            <a:off x="9042559" y="1885617"/>
            <a:ext cx="314325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75000"/>
                  </a:srgbClr>
                </a:solidFill>
                <a:latin typeface="Geist Variable"/>
                <a:ea typeface="Geist Variable"/>
                <a:cs typeface="Geist Variable"/>
              </a:rPr>
              <a:t>Design</a:t>
            </a:r>
            <a:endParaRPr lang="en-US" sz="768" dirty="0"/>
          </a:p>
        </p:txBody>
      </p:sp>
      <p:pic>
        <p:nvPicPr>
          <p:cNvPr id="178" name="Graphic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868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79" name="Rounded Rectangle"/>
          <p:cNvSpPr/>
          <p:nvPr/>
        </p:nvSpPr>
        <p:spPr>
          <a:xfrm>
            <a:off x="9438084" y="1916033"/>
            <a:ext cx="114538" cy="113824"/>
          </a:xfrm>
          <a:prstGeom prst="roundRect">
            <a:avLst>
              <a:gd name="adj" fmla="val 21423"/>
            </a:avLst>
          </a:prstGeom>
          <a:solidFill>
            <a:srgbClr val="0A0A0A">
              <a:alpha val="10000"/>
            </a:srgbClr>
          </a:solidFill>
          <a:ln>
            <a:noFill/>
          </a:ln>
        </p:spPr>
      </p:sp>
      <p:sp>
        <p:nvSpPr>
          <p:cNvPr id="180" name="Text: D"/>
          <p:cNvSpPr txBox="1"/>
          <p:nvPr/>
        </p:nvSpPr>
        <p:spPr>
          <a:xfrm>
            <a:off x="9470549" y="1903841"/>
            <a:ext cx="49609" cy="113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24" dirty="0">
                <a:solidFill>
                  <a:srgbClr val="0A0A0A">
                    <a:alpha val="75000"/>
                  </a:srgbClr>
                </a:solidFill>
                <a:latin typeface="Courier New"/>
                <a:ea typeface="Courier New"/>
                <a:cs typeface="Courier New"/>
              </a:rPr>
              <a:t>D</a:t>
            </a:r>
            <a:endParaRPr lang="en-US" sz="608" dirty="0"/>
          </a:p>
        </p:txBody>
      </p:sp>
      <p:sp>
        <p:nvSpPr>
          <p:cNvPr id="181" name="Rounded Rectangle"/>
          <p:cNvSpPr/>
          <p:nvPr/>
        </p:nvSpPr>
        <p:spPr>
          <a:xfrm>
            <a:off x="9666367" y="1859201"/>
            <a:ext cx="644684" cy="227568"/>
          </a:xfrm>
          <a:prstGeom prst="roundRect">
            <a:avLst>
              <a:gd name="adj" fmla="val 17858"/>
            </a:avLst>
          </a:prstGeom>
          <a:solidFill>
            <a:srgbClr val="F4F4F4"/>
          </a:solidFill>
          <a:ln>
            <a:noFill/>
          </a:ln>
        </p:spPr>
      </p:sp>
      <p:sp>
        <p:nvSpPr>
          <p:cNvPr id="182" name="Text: Format"/>
          <p:cNvSpPr txBox="1"/>
          <p:nvPr/>
        </p:nvSpPr>
        <p:spPr>
          <a:xfrm>
            <a:off x="9910128" y="1885617"/>
            <a:ext cx="31964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Format</a:t>
            </a:r>
            <a:endParaRPr lang="en-US" sz="768" dirty="0"/>
          </a:p>
        </p:txBody>
      </p:sp>
      <p:pic>
        <p:nvPicPr>
          <p:cNvPr id="183" name="Graphic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56775" y="1924050"/>
            <a:ext cx="98425" cy="95250"/>
          </a:xfrm>
          <a:prstGeom prst="rect">
            <a:avLst/>
          </a:prstGeom>
          <a:ln>
            <a:noFill/>
          </a:ln>
        </p:spPr>
      </p:pic>
      <p:sp>
        <p:nvSpPr>
          <p:cNvPr id="184" name="Rectangle"/>
          <p:cNvSpPr/>
          <p:nvPr/>
        </p:nvSpPr>
        <p:spPr>
          <a:xfrm>
            <a:off x="10359708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85" name="Rounded Rectangle"/>
          <p:cNvSpPr/>
          <p:nvPr/>
        </p:nvSpPr>
        <p:spPr>
          <a:xfrm>
            <a:off x="10413444" y="1859201"/>
            <a:ext cx="707866" cy="227568"/>
          </a:xfrm>
          <a:custGeom>
            <a:avLst/>
            <a:gdLst/>
            <a:ahLst/>
            <a:cxnLst/>
            <a:rect l="0" t="0" r="r" b="b"/>
            <a:pathLst>
              <a:path w="707866" h="227568">
                <a:moveTo>
                  <a:pt x="50800" y="0"/>
                </a:moveTo>
                <a:lnTo>
                  <a:pt x="707866" y="0"/>
                </a:lnTo>
                <a:lnTo>
                  <a:pt x="707866" y="227568"/>
                </a:lnTo>
                <a:lnTo>
                  <a:pt x="50800" y="227568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sp>
        <p:nvSpPr>
          <p:cNvPr id="186" name="Text: Present"/>
          <p:cNvSpPr txBox="1"/>
          <p:nvPr/>
        </p:nvSpPr>
        <p:spPr>
          <a:xfrm>
            <a:off x="10673398" y="1885617"/>
            <a:ext cx="350441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FFFFFF"/>
                </a:solidFill>
                <a:latin typeface="Geist Variable"/>
                <a:ea typeface="Geist Variable"/>
                <a:cs typeface="Geist Variable"/>
              </a:rPr>
              <a:t>Present</a:t>
            </a:r>
            <a:endParaRPr lang="en-US" sz="768" dirty="0"/>
          </a:p>
        </p:txBody>
      </p:sp>
      <p:pic>
        <p:nvPicPr>
          <p:cNvPr id="187" name="Graphic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31475" y="1924050"/>
            <a:ext cx="88900" cy="95250"/>
          </a:xfrm>
          <a:prstGeom prst="rect">
            <a:avLst/>
          </a:prstGeom>
          <a:ln>
            <a:noFill/>
          </a:ln>
        </p:spPr>
      </p:pic>
      <p:sp>
        <p:nvSpPr>
          <p:cNvPr id="188" name="Rounded Rectangle"/>
          <p:cNvSpPr/>
          <p:nvPr/>
        </p:nvSpPr>
        <p:spPr>
          <a:xfrm>
            <a:off x="11121311" y="1859201"/>
            <a:ext cx="211217" cy="227568"/>
          </a:xfrm>
          <a:custGeom>
            <a:avLst/>
            <a:gdLst/>
            <a:ahLst/>
            <a:cxnLst/>
            <a:rect l="0" t="0" r="r" b="b"/>
            <a:pathLst>
              <a:path w="211217" h="227568">
                <a:moveTo>
                  <a:pt x="0" y="0"/>
                </a:moveTo>
                <a:lnTo>
                  <a:pt x="160417" y="0"/>
                </a:lnTo>
                <a:arcTo wR="50800" hR="50800" stAng="16200000" swAng="5400000"/>
                <a:lnTo>
                  <a:pt x="211217" y="176768"/>
                </a:lnTo>
                <a:arcTo wR="50800" hR="50800" stAng="0" swAng="5400000"/>
                <a:lnTo>
                  <a:pt x="0" y="227568"/>
                </a:lnTo>
                <a:lnTo>
                  <a:pt x="0" y="0"/>
                </a:lnTo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89" name="Graphic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191875" y="1952625"/>
            <a:ext cx="69850" cy="41275"/>
          </a:xfrm>
          <a:prstGeom prst="rect">
            <a:avLst/>
          </a:prstGeom>
          <a:ln>
            <a:noFill/>
          </a:ln>
        </p:spPr>
      </p:pic>
      <p:sp>
        <p:nvSpPr>
          <p:cNvPr id="190" name="Rounded Rectangle"/>
          <p:cNvSpPr/>
          <p:nvPr/>
        </p:nvSpPr>
        <p:spPr>
          <a:xfrm>
            <a:off x="7616269" y="1845548"/>
            <a:ext cx="557530" cy="254953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508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191" name="Rounded Rectangle"/>
          <p:cNvSpPr/>
          <p:nvPr/>
        </p:nvSpPr>
        <p:spPr>
          <a:xfrm>
            <a:off x="7895114" y="1864281"/>
            <a:ext cx="260033" cy="217408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4884" sy="105842" algn="ctr" rotWithShape="0">
              <a:srgbClr val="000000">
                <a:alpha val="6000"/>
              </a:srgbClr>
            </a:outerShdw>
          </a:effectLst>
        </p:spPr>
      </p:sp>
      <p:pic>
        <p:nvPicPr>
          <p:cNvPr id="192" name="Graphic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8900" y="1933575"/>
            <a:ext cx="107950" cy="76200"/>
          </a:xfrm>
          <a:prstGeom prst="rect">
            <a:avLst/>
          </a:prstGeom>
          <a:ln>
            <a:noFill/>
          </a:ln>
        </p:spPr>
      </p:pic>
      <p:pic>
        <p:nvPicPr>
          <p:cNvPr id="193" name="Graphic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724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94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195" name="Text: 05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3 · Edit"/>
          <p:cNvSpPr txBox="1"/>
          <p:nvPr/>
        </p:nvSpPr>
        <p:spPr>
          <a:xfrm>
            <a:off x="939800" y="615950"/>
            <a:ext cx="522784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03 · Edit</a:t>
            </a:r>
            <a:endParaRPr lang="en-US" sz="1100" dirty="0"/>
          </a:p>
        </p:txBody>
      </p:sp>
      <p:sp>
        <p:nvSpPr>
          <p:cNvPr id="4" name="Text: Drag. Align. Snap."/>
          <p:cNvSpPr txBox="1"/>
          <p:nvPr/>
        </p:nvSpPr>
        <p:spPr>
          <a:xfrm>
            <a:off x="762000" y="921766"/>
            <a:ext cx="3087092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Drag. Align. Snap.</a:t>
            </a:r>
            <a:endParaRPr lang="en-US" sz="3200" dirty="0"/>
          </a:p>
        </p:txBody>
      </p:sp>
      <p:sp>
        <p:nvSpPr>
          <p:cNvPr id="5" name="Rounded Rectangle"/>
          <p:cNvSpPr/>
          <p:nvPr/>
        </p:nvSpPr>
        <p:spPr>
          <a:xfrm>
            <a:off x="762000" y="1778000"/>
            <a:ext cx="10668000" cy="4064000"/>
          </a:xfrm>
          <a:prstGeom prst="roundRect">
            <a:avLst>
              <a:gd name="adj" fmla="val 1875"/>
            </a:avLst>
          </a:prstGeom>
          <a:noFill/>
          <a:ln>
            <a:noFill/>
          </a:ln>
          <a:effectLst>
            <a:outerShdw blurRad="0" dist="0" dir="0" sx="100119" sy="100313" algn="ctr" rotWithShape="0">
              <a:srgbClr val="000000">
                <a:alpha val="7000"/>
              </a:srgbClr>
            </a:outerShdw>
          </a:effectLst>
        </p:spPr>
      </p:sp>
      <p:sp>
        <p:nvSpPr>
          <p:cNvPr id="6" name="Rectangle"/>
          <p:cNvSpPr/>
          <p:nvPr/>
        </p:nvSpPr>
        <p:spPr>
          <a:xfrm>
            <a:off x="762000" y="1778000"/>
            <a:ext cx="10668000" cy="406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7" name="Text: PAGES"/>
          <p:cNvSpPr txBox="1"/>
          <p:nvPr/>
        </p:nvSpPr>
        <p:spPr>
          <a:xfrm>
            <a:off x="891937" y="2253409"/>
            <a:ext cx="3230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PAGES</a:t>
            </a:r>
            <a:endParaRPr lang="en-US" sz="704" dirty="0"/>
          </a:p>
        </p:txBody>
      </p:sp>
      <p:sp>
        <p:nvSpPr>
          <p:cNvPr id="8" name="Text: 06"/>
          <p:cNvSpPr txBox="1"/>
          <p:nvPr/>
        </p:nvSpPr>
        <p:spPr>
          <a:xfrm>
            <a:off x="1978819" y="2252361"/>
            <a:ext cx="116364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5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672" dirty="0"/>
          </a:p>
        </p:txBody>
      </p:sp>
      <p:pic>
        <p:nvPicPr>
          <p:cNvPr id="9" name="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286000"/>
            <a:ext cx="95250" cy="95250"/>
          </a:xfrm>
          <a:prstGeom prst="rect">
            <a:avLst/>
          </a:prstGeom>
          <a:ln>
            <a:noFill/>
          </a:ln>
        </p:spPr>
      </p:pic>
      <p:sp>
        <p:nvSpPr>
          <p:cNvPr id="10" name="Rounded Rectangle"/>
          <p:cNvSpPr/>
          <p:nvPr/>
        </p:nvSpPr>
        <p:spPr>
          <a:xfrm>
            <a:off x="859473" y="2448401"/>
            <a:ext cx="1430655" cy="646113"/>
          </a:xfrm>
          <a:prstGeom prst="roundRect">
            <a:avLst>
              <a:gd name="adj" fmla="val 7548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11" name="Text: 01"/>
          <p:cNvSpPr txBox="1"/>
          <p:nvPr/>
        </p:nvSpPr>
        <p:spPr>
          <a:xfrm>
            <a:off x="1028144" y="2530634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640" dirty="0"/>
          </a:p>
        </p:txBody>
      </p:sp>
      <p:sp>
        <p:nvSpPr>
          <p:cNvPr id="12" name="Rounded Rectangle"/>
          <p:cNvSpPr/>
          <p:nvPr/>
        </p:nvSpPr>
        <p:spPr>
          <a:xfrm>
            <a:off x="1217057" y="2497138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604" sy="104630" algn="ctr" rotWithShape="0">
              <a:srgbClr val="DE3B3D"/>
            </a:outerShdw>
          </a:effectLst>
        </p:spPr>
      </p:sp>
      <p:sp>
        <p:nvSpPr>
          <p:cNvPr id="13" name="Rectangle"/>
          <p:cNvSpPr/>
          <p:nvPr/>
        </p:nvSpPr>
        <p:spPr>
          <a:xfrm>
            <a:off x="1217057" y="2497138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Text: COVER"/>
          <p:cNvSpPr txBox="1"/>
          <p:nvPr/>
        </p:nvSpPr>
        <p:spPr>
          <a:xfrm>
            <a:off x="1298337" y="2575878"/>
            <a:ext cx="51649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104" dirty="0"/>
          </a:p>
        </p:txBody>
      </p:sp>
      <p:sp>
        <p:nvSpPr>
          <p:cNvPr id="15" name="Text: What we're shipping, why it matters."/>
          <p:cNvSpPr txBox="1"/>
          <p:nvPr/>
        </p:nvSpPr>
        <p:spPr>
          <a:xfrm>
            <a:off x="1298337" y="2815450"/>
            <a:ext cx="364530" cy="30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176" dirty="0"/>
          </a:p>
        </p:txBody>
      </p:sp>
      <p:sp>
        <p:nvSpPr>
          <p:cNvPr id="16" name="Text: Q2 Launch"/>
          <p:cNvSpPr txBox="1"/>
          <p:nvPr/>
        </p:nvSpPr>
        <p:spPr>
          <a:xfrm>
            <a:off x="1298337" y="2723706"/>
            <a:ext cx="431109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b="1" spc="-25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704" dirty="0"/>
          </a:p>
        </p:txBody>
      </p:sp>
      <p:sp>
        <p:nvSpPr>
          <p:cNvPr id="17" name="Text: ACME · PRODUCT"/>
          <p:cNvSpPr txBox="1"/>
          <p:nvPr/>
        </p:nvSpPr>
        <p:spPr>
          <a:xfrm>
            <a:off x="1298337" y="2954338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18" name="Text: 01 / 06"/>
          <p:cNvSpPr txBox="1"/>
          <p:nvPr/>
        </p:nvSpPr>
        <p:spPr>
          <a:xfrm>
            <a:off x="2052915" y="2954338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100" dirty="0"/>
          </a:p>
        </p:txBody>
      </p:sp>
      <p:sp>
        <p:nvSpPr>
          <p:cNvPr id="19" name="Text: 02"/>
          <p:cNvSpPr txBox="1"/>
          <p:nvPr/>
        </p:nvSpPr>
        <p:spPr>
          <a:xfrm>
            <a:off x="1028144" y="3241754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640" dirty="0"/>
          </a:p>
        </p:txBody>
      </p:sp>
      <p:sp>
        <p:nvSpPr>
          <p:cNvPr id="20" name="Rounded Rectangle"/>
          <p:cNvSpPr/>
          <p:nvPr/>
        </p:nvSpPr>
        <p:spPr>
          <a:xfrm>
            <a:off x="1217057" y="3208258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21" name="Rectangle"/>
          <p:cNvSpPr/>
          <p:nvPr/>
        </p:nvSpPr>
        <p:spPr>
          <a:xfrm>
            <a:off x="1217057" y="3208258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: AGENDA"/>
          <p:cNvSpPr txBox="1"/>
          <p:nvPr/>
        </p:nvSpPr>
        <p:spPr>
          <a:xfrm>
            <a:off x="1298337" y="3286998"/>
            <a:ext cx="61976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AGENDA</a:t>
            </a:r>
            <a:endParaRPr lang="en-US" sz="104" dirty="0"/>
          </a:p>
        </p:txBody>
      </p:sp>
      <p:sp>
        <p:nvSpPr>
          <p:cNvPr id="23" name="Text: What's inside"/>
          <p:cNvSpPr txBox="1"/>
          <p:nvPr/>
        </p:nvSpPr>
        <p:spPr>
          <a:xfrm>
            <a:off x="1298337" y="3369802"/>
            <a:ext cx="359791" cy="60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inside</a:t>
            </a:r>
            <a:endParaRPr lang="en-US" sz="480" dirty="0"/>
          </a:p>
        </p:txBody>
      </p:sp>
      <p:sp>
        <p:nvSpPr>
          <p:cNvPr id="24" name="Border"/>
          <p:cNvSpPr/>
          <p:nvPr/>
        </p:nvSpPr>
        <p:spPr>
          <a:xfrm>
            <a:off x="1298337" y="346225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5" name="Text: 01"/>
          <p:cNvSpPr txBox="1"/>
          <p:nvPr/>
        </p:nvSpPr>
        <p:spPr>
          <a:xfrm>
            <a:off x="1298337" y="348156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112" dirty="0"/>
          </a:p>
        </p:txBody>
      </p:sp>
      <p:sp>
        <p:nvSpPr>
          <p:cNvPr id="26" name="Text: The problem"/>
          <p:cNvSpPr txBox="1"/>
          <p:nvPr/>
        </p:nvSpPr>
        <p:spPr>
          <a:xfrm>
            <a:off x="1335707" y="3472418"/>
            <a:ext cx="126246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problem</a:t>
            </a:r>
            <a:endParaRPr lang="en-US" sz="176" dirty="0"/>
          </a:p>
        </p:txBody>
      </p:sp>
      <p:sp>
        <p:nvSpPr>
          <p:cNvPr id="27" name="Border"/>
          <p:cNvSpPr/>
          <p:nvPr/>
        </p:nvSpPr>
        <p:spPr>
          <a:xfrm>
            <a:off x="1298337" y="352067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8" name="Text: 02"/>
          <p:cNvSpPr txBox="1"/>
          <p:nvPr/>
        </p:nvSpPr>
        <p:spPr>
          <a:xfrm>
            <a:off x="1298337" y="353998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112" dirty="0"/>
          </a:p>
        </p:txBody>
      </p:sp>
      <p:sp>
        <p:nvSpPr>
          <p:cNvPr id="29" name="Text: Our solution"/>
          <p:cNvSpPr txBox="1"/>
          <p:nvPr/>
        </p:nvSpPr>
        <p:spPr>
          <a:xfrm>
            <a:off x="1335707" y="3530838"/>
            <a:ext cx="124222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Our solution</a:t>
            </a:r>
            <a:endParaRPr lang="en-US" sz="176" dirty="0"/>
          </a:p>
        </p:txBody>
      </p:sp>
      <p:sp>
        <p:nvSpPr>
          <p:cNvPr id="30" name="Border"/>
          <p:cNvSpPr/>
          <p:nvPr/>
        </p:nvSpPr>
        <p:spPr>
          <a:xfrm>
            <a:off x="1298337" y="357909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1" name="Text: 03"/>
          <p:cNvSpPr txBox="1"/>
          <p:nvPr/>
        </p:nvSpPr>
        <p:spPr>
          <a:xfrm>
            <a:off x="1298337" y="359840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112" dirty="0"/>
          </a:p>
        </p:txBody>
      </p:sp>
      <p:sp>
        <p:nvSpPr>
          <p:cNvPr id="32" name="Text: Metrics"/>
          <p:cNvSpPr txBox="1"/>
          <p:nvPr/>
        </p:nvSpPr>
        <p:spPr>
          <a:xfrm>
            <a:off x="1335707" y="3589258"/>
            <a:ext cx="76478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Metrics</a:t>
            </a:r>
            <a:endParaRPr lang="en-US" sz="176" dirty="0"/>
          </a:p>
        </p:txBody>
      </p:sp>
      <p:sp>
        <p:nvSpPr>
          <p:cNvPr id="33" name="Border"/>
          <p:cNvSpPr/>
          <p:nvPr/>
        </p:nvSpPr>
        <p:spPr>
          <a:xfrm>
            <a:off x="1298337" y="363751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4" name="Text: 04"/>
          <p:cNvSpPr txBox="1"/>
          <p:nvPr/>
        </p:nvSpPr>
        <p:spPr>
          <a:xfrm>
            <a:off x="1298337" y="365682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112" dirty="0"/>
          </a:p>
        </p:txBody>
      </p:sp>
      <p:sp>
        <p:nvSpPr>
          <p:cNvPr id="35" name="Text: What's next"/>
          <p:cNvSpPr txBox="1"/>
          <p:nvPr/>
        </p:nvSpPr>
        <p:spPr>
          <a:xfrm>
            <a:off x="1335707" y="3647678"/>
            <a:ext cx="118674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176" dirty="0"/>
          </a:p>
        </p:txBody>
      </p:sp>
      <p:sp>
        <p:nvSpPr>
          <p:cNvPr id="36" name="Text: ACME · PRODUCT"/>
          <p:cNvSpPr txBox="1"/>
          <p:nvPr/>
        </p:nvSpPr>
        <p:spPr>
          <a:xfrm>
            <a:off x="1298337" y="3665458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37" name="Text: 02 / 06"/>
          <p:cNvSpPr txBox="1"/>
          <p:nvPr/>
        </p:nvSpPr>
        <p:spPr>
          <a:xfrm>
            <a:off x="2052915" y="3665458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02 / 06</a:t>
            </a:r>
            <a:endParaRPr lang="en-US" sz="100" dirty="0"/>
          </a:p>
        </p:txBody>
      </p:sp>
      <p:sp>
        <p:nvSpPr>
          <p:cNvPr id="38" name="Text: 03"/>
          <p:cNvSpPr txBox="1"/>
          <p:nvPr/>
        </p:nvSpPr>
        <p:spPr>
          <a:xfrm>
            <a:off x="1028144" y="3952875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640" dirty="0"/>
          </a:p>
        </p:txBody>
      </p:sp>
      <p:sp>
        <p:nvSpPr>
          <p:cNvPr id="39" name="Rounded Rectangle"/>
          <p:cNvSpPr/>
          <p:nvPr/>
        </p:nvSpPr>
        <p:spPr>
          <a:xfrm>
            <a:off x="1217057" y="3919379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40" name="Rectangle"/>
          <p:cNvSpPr/>
          <p:nvPr/>
        </p:nvSpPr>
        <p:spPr>
          <a:xfrm>
            <a:off x="1217057" y="3919379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Text: PROBLEM"/>
          <p:cNvSpPr txBox="1"/>
          <p:nvPr/>
        </p:nvSpPr>
        <p:spPr>
          <a:xfrm>
            <a:off x="1298337" y="3998119"/>
            <a:ext cx="72311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PROBLEM</a:t>
            </a:r>
            <a:endParaRPr lang="en-US" sz="104" dirty="0"/>
          </a:p>
        </p:txBody>
      </p:sp>
      <p:sp>
        <p:nvSpPr>
          <p:cNvPr id="42" name="Text: 3×"/>
          <p:cNvSpPr txBox="1"/>
          <p:nvPr/>
        </p:nvSpPr>
        <p:spPr>
          <a:xfrm>
            <a:off x="1298337" y="4116483"/>
            <a:ext cx="173133" cy="162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 spc="-64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3×</a:t>
            </a:r>
            <a:endParaRPr lang="en-US" sz="1280" dirty="0"/>
          </a:p>
        </p:txBody>
      </p:sp>
      <p:sp>
        <p:nvSpPr>
          <p:cNvPr id="43" name="Text: slower onboarding than our fastest compe"/>
          <p:cNvSpPr txBox="1"/>
          <p:nvPr/>
        </p:nvSpPr>
        <p:spPr>
          <a:xfrm>
            <a:off x="1298337" y="4282599"/>
            <a:ext cx="519541" cy="365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slower onboarding than our fastest competitor.</a:t>
            </a:r>
            <a:endParaRPr lang="en-US" sz="192" dirty="0"/>
          </a:p>
        </p:txBody>
      </p:sp>
      <p:sp>
        <p:nvSpPr>
          <p:cNvPr id="44" name="Text: ACME · PRODUCT"/>
          <p:cNvSpPr txBox="1"/>
          <p:nvPr/>
        </p:nvSpPr>
        <p:spPr>
          <a:xfrm>
            <a:off x="1298337" y="4376579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45" name="Text: 03 / 06"/>
          <p:cNvSpPr txBox="1"/>
          <p:nvPr/>
        </p:nvSpPr>
        <p:spPr>
          <a:xfrm>
            <a:off x="2052915" y="4376579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03 / 06</a:t>
            </a:r>
            <a:endParaRPr lang="en-US" sz="100" dirty="0"/>
          </a:p>
        </p:txBody>
      </p:sp>
      <p:sp>
        <p:nvSpPr>
          <p:cNvPr id="46" name="Text: 04"/>
          <p:cNvSpPr txBox="1"/>
          <p:nvPr/>
        </p:nvSpPr>
        <p:spPr>
          <a:xfrm>
            <a:off x="1028144" y="4663996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640" dirty="0"/>
          </a:p>
        </p:txBody>
      </p:sp>
      <p:sp>
        <p:nvSpPr>
          <p:cNvPr id="47" name="Rounded Rectangle"/>
          <p:cNvSpPr/>
          <p:nvPr/>
        </p:nvSpPr>
        <p:spPr>
          <a:xfrm>
            <a:off x="1217057" y="4630499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48" name="Rectangle"/>
          <p:cNvSpPr/>
          <p:nvPr/>
        </p:nvSpPr>
        <p:spPr>
          <a:xfrm>
            <a:off x="1217057" y="4630499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" name="Text: SOLUTION"/>
          <p:cNvSpPr txBox="1"/>
          <p:nvPr/>
        </p:nvSpPr>
        <p:spPr>
          <a:xfrm>
            <a:off x="1298337" y="4709239"/>
            <a:ext cx="82637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SOLUTION</a:t>
            </a:r>
            <a:endParaRPr lang="en-US" sz="104" dirty="0"/>
          </a:p>
        </p:txBody>
      </p:sp>
      <p:sp>
        <p:nvSpPr>
          <p:cNvPr id="50" name="Text: One flow, three clicks."/>
          <p:cNvSpPr txBox="1"/>
          <p:nvPr/>
        </p:nvSpPr>
        <p:spPr>
          <a:xfrm>
            <a:off x="1298337" y="4863163"/>
            <a:ext cx="32649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One flow,</a:t>
            </a:r>
            <a:br>
              <a:rPr lang="en-US" sz="480"/>
            </a:b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three clicks.</a:t>
            </a:r>
            <a:endParaRPr lang="en-US" sz="480" dirty="0"/>
          </a:p>
        </p:txBody>
      </p:sp>
      <p:sp>
        <p:nvSpPr>
          <p:cNvPr id="51" name="Rounded Rectangle"/>
          <p:cNvSpPr/>
          <p:nvPr/>
        </p:nvSpPr>
        <p:spPr>
          <a:xfrm>
            <a:off x="1765697" y="4762579"/>
            <a:ext cx="345440" cy="28448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>
            <a:noFill/>
          </a:ln>
        </p:spPr>
      </p:sp>
      <p:pic>
        <p:nvPicPr>
          <p:cNvPr id="52" name="Graph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0" y="4886325"/>
            <a:ext cx="44450" cy="41275"/>
          </a:xfrm>
          <a:prstGeom prst="rect">
            <a:avLst/>
          </a:prstGeom>
          <a:ln>
            <a:noFill/>
          </a:ln>
        </p:spPr>
      </p:pic>
      <p:sp>
        <p:nvSpPr>
          <p:cNvPr id="53" name="Text: ACME · PRODUCT"/>
          <p:cNvSpPr txBox="1"/>
          <p:nvPr/>
        </p:nvSpPr>
        <p:spPr>
          <a:xfrm>
            <a:off x="1298337" y="5087699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54" name="Text: 04 / 06"/>
          <p:cNvSpPr txBox="1"/>
          <p:nvPr/>
        </p:nvSpPr>
        <p:spPr>
          <a:xfrm>
            <a:off x="2052915" y="5087699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04 / 06</a:t>
            </a:r>
            <a:endParaRPr lang="en-US" sz="100" dirty="0"/>
          </a:p>
        </p:txBody>
      </p:sp>
      <p:sp>
        <p:nvSpPr>
          <p:cNvPr id="55" name="Text: 05"/>
          <p:cNvSpPr txBox="1"/>
          <p:nvPr/>
        </p:nvSpPr>
        <p:spPr>
          <a:xfrm>
            <a:off x="1028144" y="5375116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05</a:t>
            </a:r>
            <a:endParaRPr lang="en-US" sz="640" dirty="0"/>
          </a:p>
        </p:txBody>
      </p:sp>
      <p:sp>
        <p:nvSpPr>
          <p:cNvPr id="56" name="Rounded Rectangle"/>
          <p:cNvSpPr/>
          <p:nvPr/>
        </p:nvSpPr>
        <p:spPr>
          <a:xfrm>
            <a:off x="1217057" y="5341620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57" name="Rectangle"/>
          <p:cNvSpPr/>
          <p:nvPr/>
        </p:nvSpPr>
        <p:spPr>
          <a:xfrm>
            <a:off x="1217057" y="5341620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Text: METRICS"/>
          <p:cNvSpPr txBox="1"/>
          <p:nvPr/>
        </p:nvSpPr>
        <p:spPr>
          <a:xfrm>
            <a:off x="1298337" y="5420360"/>
            <a:ext cx="72311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METRICS</a:t>
            </a:r>
            <a:endParaRPr lang="en-US" sz="104" dirty="0"/>
          </a:p>
        </p:txBody>
      </p:sp>
      <p:sp>
        <p:nvSpPr>
          <p:cNvPr id="59" name="Text: +38%"/>
          <p:cNvSpPr txBox="1"/>
          <p:nvPr/>
        </p:nvSpPr>
        <p:spPr>
          <a:xfrm>
            <a:off x="1298337" y="5557012"/>
            <a:ext cx="203613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+38%</a:t>
            </a:r>
            <a:endParaRPr lang="en-US" sz="640" dirty="0"/>
          </a:p>
        </p:txBody>
      </p:sp>
      <p:sp>
        <p:nvSpPr>
          <p:cNvPr id="60" name="Text: activation"/>
          <p:cNvSpPr txBox="1"/>
          <p:nvPr/>
        </p:nvSpPr>
        <p:spPr>
          <a:xfrm>
            <a:off x="1298337" y="5634228"/>
            <a:ext cx="80796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activation</a:t>
            </a:r>
            <a:endParaRPr lang="en-US" sz="144" dirty="0"/>
          </a:p>
        </p:txBody>
      </p:sp>
      <p:sp>
        <p:nvSpPr>
          <p:cNvPr id="61" name="Text: 12k"/>
          <p:cNvSpPr txBox="1"/>
          <p:nvPr/>
        </p:nvSpPr>
        <p:spPr>
          <a:xfrm>
            <a:off x="1576038" y="5557012"/>
            <a:ext cx="127373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12k</a:t>
            </a:r>
            <a:endParaRPr lang="en-US" sz="640" dirty="0"/>
          </a:p>
        </p:txBody>
      </p:sp>
      <p:sp>
        <p:nvSpPr>
          <p:cNvPr id="62" name="Text: weekly actives"/>
          <p:cNvSpPr txBox="1"/>
          <p:nvPr/>
        </p:nvSpPr>
        <p:spPr>
          <a:xfrm>
            <a:off x="1576038" y="5634228"/>
            <a:ext cx="122547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weekly actives</a:t>
            </a:r>
            <a:endParaRPr lang="en-US" sz="144" dirty="0"/>
          </a:p>
        </p:txBody>
      </p:sp>
      <p:sp>
        <p:nvSpPr>
          <p:cNvPr id="63" name="Text: 4.9"/>
          <p:cNvSpPr txBox="1"/>
          <p:nvPr/>
        </p:nvSpPr>
        <p:spPr>
          <a:xfrm>
            <a:off x="1853748" y="5557012"/>
            <a:ext cx="111030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4.9</a:t>
            </a:r>
            <a:endParaRPr lang="en-US" sz="640" dirty="0"/>
          </a:p>
        </p:txBody>
      </p:sp>
      <p:sp>
        <p:nvSpPr>
          <p:cNvPr id="64" name="Text: app rating"/>
          <p:cNvSpPr txBox="1"/>
          <p:nvPr/>
        </p:nvSpPr>
        <p:spPr>
          <a:xfrm>
            <a:off x="1853748" y="5634228"/>
            <a:ext cx="83836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app rating</a:t>
            </a:r>
            <a:endParaRPr lang="en-US" sz="144" dirty="0"/>
          </a:p>
        </p:txBody>
      </p:sp>
      <p:sp>
        <p:nvSpPr>
          <p:cNvPr id="65" name="Text: ACME · PRODUCT"/>
          <p:cNvSpPr txBox="1"/>
          <p:nvPr/>
        </p:nvSpPr>
        <p:spPr>
          <a:xfrm>
            <a:off x="1298337" y="5798820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66" name="Text: 05 / 06"/>
          <p:cNvSpPr txBox="1"/>
          <p:nvPr/>
        </p:nvSpPr>
        <p:spPr>
          <a:xfrm>
            <a:off x="2052915" y="5798820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05 / 06</a:t>
            </a:r>
            <a:endParaRPr lang="en-US" sz="100" dirty="0"/>
          </a:p>
        </p:txBody>
      </p:sp>
      <p:sp>
        <p:nvSpPr>
          <p:cNvPr id="67" name="Text: 06"/>
          <p:cNvSpPr txBox="1"/>
          <p:nvPr/>
        </p:nvSpPr>
        <p:spPr>
          <a:xfrm>
            <a:off x="1028144" y="6086237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640" dirty="0"/>
          </a:p>
        </p:txBody>
      </p:sp>
      <p:sp>
        <p:nvSpPr>
          <p:cNvPr id="68" name="Rounded Rectangle"/>
          <p:cNvSpPr/>
          <p:nvPr/>
        </p:nvSpPr>
        <p:spPr>
          <a:xfrm>
            <a:off x="1217057" y="6052741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69" name="Rectangle"/>
          <p:cNvSpPr/>
          <p:nvPr/>
        </p:nvSpPr>
        <p:spPr>
          <a:xfrm>
            <a:off x="1217057" y="6052741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0" name="Text: NEXT"/>
          <p:cNvSpPr txBox="1"/>
          <p:nvPr/>
        </p:nvSpPr>
        <p:spPr>
          <a:xfrm>
            <a:off x="1298337" y="6131481"/>
            <a:ext cx="41323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NEXT</a:t>
            </a:r>
            <a:endParaRPr lang="en-US" sz="104" dirty="0"/>
          </a:p>
        </p:txBody>
      </p:sp>
      <p:sp>
        <p:nvSpPr>
          <p:cNvPr id="71" name="Text: What's next"/>
          <p:cNvSpPr txBox="1"/>
          <p:nvPr/>
        </p:nvSpPr>
        <p:spPr>
          <a:xfrm>
            <a:off x="1298337" y="6214285"/>
            <a:ext cx="318873" cy="60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480" dirty="0"/>
          </a:p>
        </p:txBody>
      </p:sp>
      <p:sp>
        <p:nvSpPr>
          <p:cNvPr id="72" name="Border"/>
          <p:cNvSpPr/>
          <p:nvPr/>
        </p:nvSpPr>
        <p:spPr>
          <a:xfrm>
            <a:off x="1298337" y="630674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3" name="Text: →"/>
          <p:cNvSpPr txBox="1"/>
          <p:nvPr/>
        </p:nvSpPr>
        <p:spPr>
          <a:xfrm>
            <a:off x="1298337" y="632604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74" name="Text: Ship the beta in May"/>
          <p:cNvSpPr txBox="1"/>
          <p:nvPr/>
        </p:nvSpPr>
        <p:spPr>
          <a:xfrm>
            <a:off x="1327182" y="6316901"/>
            <a:ext cx="209050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Ship the beta in May</a:t>
            </a:r>
            <a:endParaRPr lang="en-US" sz="176" dirty="0"/>
          </a:p>
        </p:txBody>
      </p:sp>
      <p:sp>
        <p:nvSpPr>
          <p:cNvPr id="75" name="Border"/>
          <p:cNvSpPr/>
          <p:nvPr/>
        </p:nvSpPr>
        <p:spPr>
          <a:xfrm>
            <a:off x="1298337" y="636516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6" name="Text: →"/>
          <p:cNvSpPr txBox="1"/>
          <p:nvPr/>
        </p:nvSpPr>
        <p:spPr>
          <a:xfrm>
            <a:off x="1298337" y="638446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77" name="Text: Open the waitlist"/>
          <p:cNvSpPr txBox="1"/>
          <p:nvPr/>
        </p:nvSpPr>
        <p:spPr>
          <a:xfrm>
            <a:off x="1327182" y="6375321"/>
            <a:ext cx="173053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Open the waitlist</a:t>
            </a:r>
            <a:endParaRPr lang="en-US" sz="176" dirty="0"/>
          </a:p>
        </p:txBody>
      </p:sp>
      <p:sp>
        <p:nvSpPr>
          <p:cNvPr id="78" name="Border"/>
          <p:cNvSpPr/>
          <p:nvPr/>
        </p:nvSpPr>
        <p:spPr>
          <a:xfrm>
            <a:off x="1298337" y="642358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9" name="Text: →"/>
          <p:cNvSpPr txBox="1"/>
          <p:nvPr/>
        </p:nvSpPr>
        <p:spPr>
          <a:xfrm>
            <a:off x="1298337" y="644288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80" name="Text: Measure, then scale"/>
          <p:cNvSpPr txBox="1"/>
          <p:nvPr/>
        </p:nvSpPr>
        <p:spPr>
          <a:xfrm>
            <a:off x="1327182" y="6433741"/>
            <a:ext cx="204041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Measure, then scale</a:t>
            </a:r>
            <a:endParaRPr lang="en-US" sz="176" dirty="0"/>
          </a:p>
        </p:txBody>
      </p:sp>
      <p:sp>
        <p:nvSpPr>
          <p:cNvPr id="81" name="Text: ACME · PRODUCT"/>
          <p:cNvSpPr txBox="1"/>
          <p:nvPr/>
        </p:nvSpPr>
        <p:spPr>
          <a:xfrm>
            <a:off x="1298337" y="6509941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82" name="Text: 06 / 06"/>
          <p:cNvSpPr txBox="1"/>
          <p:nvPr/>
        </p:nvSpPr>
        <p:spPr>
          <a:xfrm>
            <a:off x="2052915" y="6509941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06 / 06</a:t>
            </a:r>
            <a:endParaRPr lang="en-US" sz="100" dirty="0"/>
          </a:p>
        </p:txBody>
      </p:sp>
      <p:sp>
        <p:nvSpPr>
          <p:cNvPr id="83" name="Rectangle"/>
          <p:cNvSpPr/>
          <p:nvPr/>
        </p:nvSpPr>
        <p:spPr>
          <a:xfrm>
            <a:off x="8829040" y="2168128"/>
            <a:ext cx="2600960" cy="3673872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84" name="Border"/>
          <p:cNvSpPr/>
          <p:nvPr/>
        </p:nvSpPr>
        <p:spPr>
          <a:xfrm>
            <a:off x="8829040" y="2168128"/>
            <a:ext cx="5080" cy="3673872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5" name="Border"/>
          <p:cNvSpPr/>
          <p:nvPr/>
        </p:nvSpPr>
        <p:spPr>
          <a:xfrm>
            <a:off x="8834120" y="2455624"/>
            <a:ext cx="2595880" cy="508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86" name="Graph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450" y="2260600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87" name="Text: Format"/>
          <p:cNvSpPr txBox="1"/>
          <p:nvPr/>
        </p:nvSpPr>
        <p:spPr>
          <a:xfrm>
            <a:off x="9110345" y="2224469"/>
            <a:ext cx="324088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b="1" spc="-8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Format</a:t>
            </a:r>
            <a:endParaRPr lang="en-US" sz="768" dirty="0"/>
          </a:p>
        </p:txBody>
      </p:sp>
      <p:pic>
        <p:nvPicPr>
          <p:cNvPr id="88" name="Graph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2350" y="2276475"/>
            <a:ext cx="69850" cy="69850"/>
          </a:xfrm>
          <a:prstGeom prst="rect">
            <a:avLst/>
          </a:prstGeom>
          <a:ln>
            <a:noFill/>
          </a:ln>
        </p:spPr>
      </p:pic>
      <p:sp>
        <p:nvSpPr>
          <p:cNvPr id="89" name="Text: Text"/>
          <p:cNvSpPr txBox="1"/>
          <p:nvPr/>
        </p:nvSpPr>
        <p:spPr>
          <a:xfrm>
            <a:off x="9142889" y="2617057"/>
            <a:ext cx="190976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Text</a:t>
            </a:r>
            <a:endParaRPr lang="en-US" sz="768" dirty="0"/>
          </a:p>
        </p:txBody>
      </p:sp>
      <p:pic>
        <p:nvPicPr>
          <p:cNvPr id="90" name="Graph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9850" y="2657475"/>
            <a:ext cx="101600" cy="98425"/>
          </a:xfrm>
          <a:prstGeom prst="rect">
            <a:avLst/>
          </a:prstGeom>
          <a:ln>
            <a:noFill/>
          </a:ln>
        </p:spPr>
      </p:pic>
      <p:sp>
        <p:nvSpPr>
          <p:cNvPr id="91" name="Rounded Rectangle"/>
          <p:cNvSpPr/>
          <p:nvPr/>
        </p:nvSpPr>
        <p:spPr>
          <a:xfrm>
            <a:off x="10756186" y="2576989"/>
            <a:ext cx="557530" cy="254953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508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92" name="Rounded Rectangle"/>
          <p:cNvSpPr/>
          <p:nvPr/>
        </p:nvSpPr>
        <p:spPr>
          <a:xfrm>
            <a:off x="11035030" y="2595721"/>
            <a:ext cx="260033" cy="217408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4884" sy="105842" algn="ctr" rotWithShape="0">
              <a:srgbClr val="000000">
                <a:alpha val="6000"/>
              </a:srgbClr>
            </a:outerShdw>
          </a:effectLst>
        </p:spPr>
      </p:sp>
      <p:pic>
        <p:nvPicPr>
          <p:cNvPr id="93" name="Graph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2660650"/>
            <a:ext cx="88900" cy="85725"/>
          </a:xfrm>
          <a:prstGeom prst="rect">
            <a:avLst/>
          </a:prstGeom>
          <a:ln>
            <a:noFill/>
          </a:ln>
        </p:spPr>
      </p:pic>
      <p:pic>
        <p:nvPicPr>
          <p:cNvPr id="94" name="Graphi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2500" y="26511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95" name="Text: POSITION"/>
          <p:cNvSpPr txBox="1"/>
          <p:nvPr/>
        </p:nvSpPr>
        <p:spPr>
          <a:xfrm>
            <a:off x="8947864" y="2984770"/>
            <a:ext cx="46997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POSITION</a:t>
            </a:r>
            <a:endParaRPr lang="en-US" sz="704" dirty="0"/>
          </a:p>
        </p:txBody>
      </p:sp>
      <p:pic>
        <p:nvPicPr>
          <p:cNvPr id="96" name="Graphi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6450" y="3019425"/>
            <a:ext cx="85725" cy="88900"/>
          </a:xfrm>
          <a:prstGeom prst="rect">
            <a:avLst/>
          </a:prstGeom>
          <a:ln>
            <a:noFill/>
          </a:ln>
        </p:spPr>
      </p:pic>
      <p:pic>
        <p:nvPicPr>
          <p:cNvPr id="97" name="Graph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3300" y="30099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98" name="Rounded Rectangle"/>
          <p:cNvSpPr/>
          <p:nvPr/>
        </p:nvSpPr>
        <p:spPr>
          <a:xfrm>
            <a:off x="8950404" y="3214846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99" name="Text: X"/>
          <p:cNvSpPr txBox="1"/>
          <p:nvPr/>
        </p:nvSpPr>
        <p:spPr>
          <a:xfrm>
            <a:off x="9017953" y="3249851"/>
            <a:ext cx="48578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-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X</a:t>
            </a:r>
            <a:endParaRPr lang="en-US" sz="640" dirty="0"/>
          </a:p>
        </p:txBody>
      </p:sp>
      <p:sp>
        <p:nvSpPr>
          <p:cNvPr id="100" name="Text: 1200"/>
          <p:cNvSpPr txBox="1"/>
          <p:nvPr/>
        </p:nvSpPr>
        <p:spPr>
          <a:xfrm>
            <a:off x="9775190" y="3241786"/>
            <a:ext cx="21367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1200</a:t>
            </a:r>
            <a:endParaRPr lang="en-US" sz="704" dirty="0"/>
          </a:p>
        </p:txBody>
      </p:sp>
      <p:sp>
        <p:nvSpPr>
          <p:cNvPr id="101" name="Rounded Rectangle"/>
          <p:cNvSpPr/>
          <p:nvPr/>
        </p:nvSpPr>
        <p:spPr>
          <a:xfrm>
            <a:off x="10158968" y="3214846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2" name="Text: Y"/>
          <p:cNvSpPr txBox="1"/>
          <p:nvPr/>
        </p:nvSpPr>
        <p:spPr>
          <a:xfrm>
            <a:off x="10226516" y="3249851"/>
            <a:ext cx="48578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-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Y</a:t>
            </a:r>
            <a:endParaRPr lang="en-US" sz="640" dirty="0"/>
          </a:p>
        </p:txBody>
      </p:sp>
      <p:sp>
        <p:nvSpPr>
          <p:cNvPr id="103" name="Text: 160"/>
          <p:cNvSpPr txBox="1"/>
          <p:nvPr/>
        </p:nvSpPr>
        <p:spPr>
          <a:xfrm>
            <a:off x="11037173" y="3185970"/>
            <a:ext cx="160258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160</a:t>
            </a:r>
            <a:endParaRPr lang="en-US" sz="704" dirty="0"/>
          </a:p>
        </p:txBody>
      </p:sp>
      <p:sp>
        <p:nvSpPr>
          <p:cNvPr id="104" name="Text: 420"/>
          <p:cNvSpPr txBox="1"/>
          <p:nvPr/>
        </p:nvSpPr>
        <p:spPr>
          <a:xfrm>
            <a:off x="11037173" y="3275346"/>
            <a:ext cx="160258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420</a:t>
            </a:r>
            <a:endParaRPr lang="en-US" sz="704" dirty="0"/>
          </a:p>
        </p:txBody>
      </p:sp>
      <p:sp>
        <p:nvSpPr>
          <p:cNvPr id="105" name="Rounded Rectangle"/>
          <p:cNvSpPr/>
          <p:nvPr/>
        </p:nvSpPr>
        <p:spPr>
          <a:xfrm>
            <a:off x="8950404" y="3491151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6" name="Text: W"/>
          <p:cNvSpPr txBox="1"/>
          <p:nvPr/>
        </p:nvSpPr>
        <p:spPr>
          <a:xfrm>
            <a:off x="9017953" y="3526155"/>
            <a:ext cx="48578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-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W</a:t>
            </a:r>
            <a:endParaRPr lang="en-US" sz="640" dirty="0"/>
          </a:p>
        </p:txBody>
      </p:sp>
      <p:sp>
        <p:nvSpPr>
          <p:cNvPr id="107" name="Text: 480"/>
          <p:cNvSpPr txBox="1"/>
          <p:nvPr/>
        </p:nvSpPr>
        <p:spPr>
          <a:xfrm>
            <a:off x="9828609" y="3518091"/>
            <a:ext cx="16025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480</a:t>
            </a:r>
            <a:endParaRPr lang="en-US" sz="704" dirty="0"/>
          </a:p>
        </p:txBody>
      </p:sp>
      <p:sp>
        <p:nvSpPr>
          <p:cNvPr id="108" name="Rounded Rectangle"/>
          <p:cNvSpPr/>
          <p:nvPr/>
        </p:nvSpPr>
        <p:spPr>
          <a:xfrm>
            <a:off x="10158968" y="3491151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9" name="Text: H"/>
          <p:cNvSpPr txBox="1"/>
          <p:nvPr/>
        </p:nvSpPr>
        <p:spPr>
          <a:xfrm>
            <a:off x="10226516" y="3526155"/>
            <a:ext cx="48578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-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H</a:t>
            </a:r>
            <a:endParaRPr lang="en-US" sz="640" dirty="0"/>
          </a:p>
        </p:txBody>
      </p:sp>
      <p:sp>
        <p:nvSpPr>
          <p:cNvPr id="110" name="Text: 320"/>
          <p:cNvSpPr txBox="1"/>
          <p:nvPr/>
        </p:nvSpPr>
        <p:spPr>
          <a:xfrm>
            <a:off x="11037173" y="3518091"/>
            <a:ext cx="16025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320</a:t>
            </a:r>
            <a:endParaRPr lang="en-US" sz="704" dirty="0"/>
          </a:p>
        </p:txBody>
      </p:sp>
      <p:sp>
        <p:nvSpPr>
          <p:cNvPr id="111" name="Rounded Rectangle"/>
          <p:cNvSpPr/>
          <p:nvPr/>
        </p:nvSpPr>
        <p:spPr>
          <a:xfrm>
            <a:off x="8950404" y="3767455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12" name="Graphi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6525" y="3829050"/>
            <a:ext cx="95250" cy="95250"/>
          </a:xfrm>
          <a:prstGeom prst="rect">
            <a:avLst/>
          </a:prstGeom>
          <a:ln>
            <a:noFill/>
          </a:ln>
        </p:spPr>
      </p:pic>
      <p:sp>
        <p:nvSpPr>
          <p:cNvPr id="113" name="Text: 0"/>
          <p:cNvSpPr txBox="1"/>
          <p:nvPr/>
        </p:nvSpPr>
        <p:spPr>
          <a:xfrm>
            <a:off x="9884331" y="3794395"/>
            <a:ext cx="5341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0</a:t>
            </a:r>
            <a:endParaRPr lang="en-US" sz="704" dirty="0"/>
          </a:p>
        </p:txBody>
      </p:sp>
      <p:sp>
        <p:nvSpPr>
          <p:cNvPr id="114" name="Text: °"/>
          <p:cNvSpPr txBox="1"/>
          <p:nvPr/>
        </p:nvSpPr>
        <p:spPr>
          <a:xfrm>
            <a:off x="10002758" y="3806571"/>
            <a:ext cx="51118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°</a:t>
            </a:r>
            <a:endParaRPr lang="en-US" sz="608" dirty="0"/>
          </a:p>
        </p:txBody>
      </p:sp>
      <p:sp>
        <p:nvSpPr>
          <p:cNvPr id="115" name="Text: ALIGN"/>
          <p:cNvSpPr txBox="1"/>
          <p:nvPr/>
        </p:nvSpPr>
        <p:spPr>
          <a:xfrm>
            <a:off x="8947864" y="4240324"/>
            <a:ext cx="298133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ALIGN</a:t>
            </a:r>
            <a:endParaRPr lang="en-US" sz="704" dirty="0"/>
          </a:p>
        </p:txBody>
      </p:sp>
      <p:sp>
        <p:nvSpPr>
          <p:cNvPr id="116" name="Rounded Rectangle"/>
          <p:cNvSpPr/>
          <p:nvPr/>
        </p:nvSpPr>
        <p:spPr>
          <a:xfrm>
            <a:off x="11121231" y="4222036"/>
            <a:ext cx="195024" cy="195024"/>
          </a:xfrm>
          <a:prstGeom prst="roundRect">
            <a:avLst>
              <a:gd name="adj" fmla="val 20838"/>
            </a:avLst>
          </a:prstGeom>
          <a:solidFill>
            <a:srgbClr val="EFEFEF"/>
          </a:solidFill>
          <a:ln>
            <a:noFill/>
          </a:ln>
        </p:spPr>
      </p:sp>
      <p:pic>
        <p:nvPicPr>
          <p:cNvPr id="117" name="Graphi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63300" y="4267200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18" name="Rounded Rectangle"/>
          <p:cNvSpPr/>
          <p:nvPr/>
        </p:nvSpPr>
        <p:spPr>
          <a:xfrm>
            <a:off x="8950404" y="4470400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47625" y="0"/>
                </a:moveTo>
                <a:lnTo>
                  <a:pt x="222488" y="0"/>
                </a:lnTo>
                <a:lnTo>
                  <a:pt x="222488" y="222488"/>
                </a:lnTo>
                <a:lnTo>
                  <a:pt x="47625" y="222488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19" name="Graphic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0650" y="45307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20" name="Rectangle"/>
          <p:cNvSpPr/>
          <p:nvPr/>
        </p:nvSpPr>
        <p:spPr>
          <a:xfrm>
            <a:off x="9172893" y="4470400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21" name="Graphic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9725" y="4530725"/>
            <a:ext cx="104775" cy="104775"/>
          </a:xfrm>
          <a:prstGeom prst="rect">
            <a:avLst/>
          </a:prstGeom>
          <a:ln>
            <a:noFill/>
          </a:ln>
        </p:spPr>
      </p:pic>
      <p:sp>
        <p:nvSpPr>
          <p:cNvPr id="122" name="Rounded Rectangle"/>
          <p:cNvSpPr/>
          <p:nvPr/>
        </p:nvSpPr>
        <p:spPr>
          <a:xfrm>
            <a:off x="9395381" y="4470400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0" y="0"/>
                </a:moveTo>
                <a:lnTo>
                  <a:pt x="174863" y="0"/>
                </a:lnTo>
                <a:arcTo wR="47625" hR="47625" stAng="16200000" swAng="5400000"/>
                <a:lnTo>
                  <a:pt x="222488" y="174863"/>
                </a:lnTo>
                <a:arcTo wR="47625" hR="47625" stAng="0" swAng="5400000"/>
                <a:lnTo>
                  <a:pt x="0" y="22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23" name="Graphi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51975" y="45307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24" name="Rounded Rectangle"/>
          <p:cNvSpPr/>
          <p:nvPr/>
        </p:nvSpPr>
        <p:spPr>
          <a:xfrm>
            <a:off x="9687957" y="4470400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47625" y="0"/>
                </a:moveTo>
                <a:lnTo>
                  <a:pt x="222488" y="0"/>
                </a:lnTo>
                <a:lnTo>
                  <a:pt x="222488" y="222488"/>
                </a:lnTo>
                <a:lnTo>
                  <a:pt x="47625" y="222488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25" name="Graphic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47250" y="45307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26" name="Rectangle"/>
          <p:cNvSpPr/>
          <p:nvPr/>
        </p:nvSpPr>
        <p:spPr>
          <a:xfrm>
            <a:off x="9910445" y="4470400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27" name="Graphic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69500" y="45307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28" name="Rounded Rectangle"/>
          <p:cNvSpPr/>
          <p:nvPr/>
        </p:nvSpPr>
        <p:spPr>
          <a:xfrm>
            <a:off x="10132933" y="4470400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0" y="0"/>
                </a:moveTo>
                <a:lnTo>
                  <a:pt x="174863" y="0"/>
                </a:lnTo>
                <a:arcTo wR="47625" hR="47625" stAng="16200000" swAng="5400000"/>
                <a:lnTo>
                  <a:pt x="222488" y="174863"/>
                </a:lnTo>
                <a:arcTo wR="47625" hR="47625" stAng="0" swAng="5400000"/>
                <a:lnTo>
                  <a:pt x="0" y="22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29" name="Graphi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88575" y="45307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30" name="Text: LAYER"/>
          <p:cNvSpPr txBox="1"/>
          <p:nvPr/>
        </p:nvSpPr>
        <p:spPr>
          <a:xfrm>
            <a:off x="8947864" y="4943269"/>
            <a:ext cx="306943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LAYER</a:t>
            </a:r>
            <a:endParaRPr lang="en-US" sz="704" dirty="0"/>
          </a:p>
        </p:txBody>
      </p:sp>
      <p:sp>
        <p:nvSpPr>
          <p:cNvPr id="131" name="Rounded Rectangle"/>
          <p:cNvSpPr/>
          <p:nvPr/>
        </p:nvSpPr>
        <p:spPr>
          <a:xfrm>
            <a:off x="8950404" y="5173345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47625" y="0"/>
                </a:moveTo>
                <a:lnTo>
                  <a:pt x="222488" y="0"/>
                </a:lnTo>
                <a:lnTo>
                  <a:pt x="222488" y="222488"/>
                </a:lnTo>
                <a:lnTo>
                  <a:pt x="47625" y="222488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32" name="Graphic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10650" y="5232400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33" name="Rectangle"/>
          <p:cNvSpPr/>
          <p:nvPr/>
        </p:nvSpPr>
        <p:spPr>
          <a:xfrm>
            <a:off x="9172893" y="5173345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34" name="Graphic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42425" y="5245100"/>
            <a:ext cx="79375" cy="79375"/>
          </a:xfrm>
          <a:prstGeom prst="rect">
            <a:avLst/>
          </a:prstGeom>
          <a:ln>
            <a:noFill/>
          </a:ln>
        </p:spPr>
      </p:pic>
      <p:sp>
        <p:nvSpPr>
          <p:cNvPr id="135" name="Rectangle"/>
          <p:cNvSpPr/>
          <p:nvPr/>
        </p:nvSpPr>
        <p:spPr>
          <a:xfrm>
            <a:off x="9395381" y="5173345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36" name="Graphic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67850" y="5245100"/>
            <a:ext cx="76200" cy="79375"/>
          </a:xfrm>
          <a:prstGeom prst="rect">
            <a:avLst/>
          </a:prstGeom>
          <a:ln>
            <a:noFill/>
          </a:ln>
        </p:spPr>
      </p:pic>
      <p:sp>
        <p:nvSpPr>
          <p:cNvPr id="137" name="Rounded Rectangle"/>
          <p:cNvSpPr/>
          <p:nvPr/>
        </p:nvSpPr>
        <p:spPr>
          <a:xfrm>
            <a:off x="9617869" y="5173345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0" y="0"/>
                </a:moveTo>
                <a:lnTo>
                  <a:pt x="174863" y="0"/>
                </a:lnTo>
                <a:arcTo wR="47625" hR="47625" stAng="16200000" swAng="5400000"/>
                <a:lnTo>
                  <a:pt x="222488" y="174863"/>
                </a:lnTo>
                <a:arcTo wR="47625" hR="47625" stAng="0" swAng="5400000"/>
                <a:lnTo>
                  <a:pt x="0" y="22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pic>
        <p:nvPicPr>
          <p:cNvPr id="138" name="Graphic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74225" y="5232400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139" name="Text: COMMENT"/>
          <p:cNvSpPr txBox="1"/>
          <p:nvPr/>
        </p:nvSpPr>
        <p:spPr>
          <a:xfrm>
            <a:off x="8947864" y="5646214"/>
            <a:ext cx="50553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COMMENT</a:t>
            </a:r>
            <a:endParaRPr lang="en-US" sz="704" dirty="0"/>
          </a:p>
        </p:txBody>
      </p:sp>
      <p:pic>
        <p:nvPicPr>
          <p:cNvPr id="140" name="Graphic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49025" y="5692775"/>
            <a:ext cx="34925" cy="60325"/>
          </a:xfrm>
          <a:prstGeom prst="rect">
            <a:avLst/>
          </a:prstGeom>
          <a:ln>
            <a:noFill/>
          </a:ln>
        </p:spPr>
      </p:pic>
      <p:sp>
        <p:nvSpPr>
          <p:cNvPr id="141" name="Text: SOURCE"/>
          <p:cNvSpPr txBox="1"/>
          <p:nvPr/>
        </p:nvSpPr>
        <p:spPr>
          <a:xfrm>
            <a:off x="8947864" y="6040311"/>
            <a:ext cx="40925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SOURCE</a:t>
            </a:r>
            <a:endParaRPr lang="en-US" sz="704" dirty="0"/>
          </a:p>
        </p:txBody>
      </p:sp>
      <p:sp>
        <p:nvSpPr>
          <p:cNvPr id="142" name="Rounded Rectangle"/>
          <p:cNvSpPr/>
          <p:nvPr/>
        </p:nvSpPr>
        <p:spPr>
          <a:xfrm>
            <a:off x="2633980" y="2331958"/>
            <a:ext cx="5948680" cy="3346133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sp>
        <p:nvSpPr>
          <p:cNvPr id="143" name="Rectangle"/>
          <p:cNvSpPr/>
          <p:nvPr/>
        </p:nvSpPr>
        <p:spPr>
          <a:xfrm>
            <a:off x="2633980" y="2331958"/>
            <a:ext cx="5948680" cy="334613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4" name="Text: COVER"/>
          <p:cNvSpPr txBox="1"/>
          <p:nvPr/>
        </p:nvSpPr>
        <p:spPr>
          <a:xfrm>
            <a:off x="3129703" y="2812190"/>
            <a:ext cx="315007" cy="12083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4" spc="11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634" dirty="0"/>
          </a:p>
        </p:txBody>
      </p:sp>
      <p:sp>
        <p:nvSpPr>
          <p:cNvPr id="145" name="Text: What we're shipping, why it matters."/>
          <p:cNvSpPr txBox="1"/>
          <p:nvPr/>
        </p:nvSpPr>
        <p:spPr>
          <a:xfrm>
            <a:off x="3129703" y="4273335"/>
            <a:ext cx="2223252" cy="1840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3" spc="-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1073" dirty="0"/>
          </a:p>
        </p:txBody>
      </p:sp>
      <p:sp>
        <p:nvSpPr>
          <p:cNvPr id="146" name="Text: Q2 Launch"/>
          <p:cNvSpPr txBox="1"/>
          <p:nvPr/>
        </p:nvSpPr>
        <p:spPr>
          <a:xfrm>
            <a:off x="3129703" y="3713787"/>
            <a:ext cx="2629319" cy="5452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4" b="1" spc="-15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4294" dirty="0"/>
          </a:p>
        </p:txBody>
      </p:sp>
      <p:sp>
        <p:nvSpPr>
          <p:cNvPr id="147" name="Rounded Rectangle"/>
          <p:cNvSpPr/>
          <p:nvPr/>
        </p:nvSpPr>
        <p:spPr>
          <a:xfrm>
            <a:off x="6351906" y="3633232"/>
            <a:ext cx="1487170" cy="991447"/>
          </a:xfrm>
          <a:prstGeom prst="roundRect">
            <a:avLst>
              <a:gd name="adj" fmla="val 7500"/>
            </a:avLst>
          </a:prstGeom>
          <a:solidFill>
            <a:srgbClr val="F7F7F7"/>
          </a:solidFill>
          <a:ln>
            <a:noFill/>
          </a:ln>
        </p:spPr>
      </p:sp>
      <p:pic>
        <p:nvPicPr>
          <p:cNvPr id="148" name="Graphic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07225" y="4035425"/>
            <a:ext cx="184150" cy="184150"/>
          </a:xfrm>
          <a:prstGeom prst="rect">
            <a:avLst/>
          </a:prstGeom>
          <a:ln>
            <a:noFill/>
          </a:ln>
        </p:spPr>
      </p:pic>
      <p:sp>
        <p:nvSpPr>
          <p:cNvPr id="149" name="Rectangle"/>
          <p:cNvSpPr/>
          <p:nvPr/>
        </p:nvSpPr>
        <p:spPr>
          <a:xfrm>
            <a:off x="6355004" y="3636331"/>
            <a:ext cx="1480974" cy="985250"/>
          </a:xfrm>
          <a:prstGeom prst="rect">
            <a:avLst/>
          </a:prstGeom>
          <a:noFill/>
          <a:ln w="6197" cap="flat" cmpd="sng" algn="ctr">
            <a:solidFill>
              <a:srgbClr val="3B82F6"/>
            </a:solidFill>
            <a:miter lim="800000"/>
          </a:ln>
        </p:spPr>
      </p:sp>
      <p:sp>
        <p:nvSpPr>
          <p:cNvPr id="150" name="Rectangle"/>
          <p:cNvSpPr/>
          <p:nvPr/>
        </p:nvSpPr>
        <p:spPr>
          <a:xfrm>
            <a:off x="7095491" y="3444383"/>
            <a:ext cx="8085" cy="195046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51" name="Ellipse"/>
          <p:cNvSpPr/>
          <p:nvPr/>
        </p:nvSpPr>
        <p:spPr>
          <a:xfrm>
            <a:off x="7049840" y="3366200"/>
            <a:ext cx="91302" cy="91302"/>
          </a:xfrm>
          <a:prstGeom prst="ellipse">
            <a:avLst/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2" name="Rounded Rectangle"/>
          <p:cNvSpPr/>
          <p:nvPr/>
        </p:nvSpPr>
        <p:spPr>
          <a:xfrm>
            <a:off x="6312451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3" name="Rounded Rectangle"/>
          <p:cNvSpPr/>
          <p:nvPr/>
        </p:nvSpPr>
        <p:spPr>
          <a:xfrm>
            <a:off x="7049840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4" name="Rounded Rectangle"/>
          <p:cNvSpPr/>
          <p:nvPr/>
        </p:nvSpPr>
        <p:spPr>
          <a:xfrm>
            <a:off x="7787229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5" name="Rounded Rectangle"/>
          <p:cNvSpPr/>
          <p:nvPr/>
        </p:nvSpPr>
        <p:spPr>
          <a:xfrm>
            <a:off x="7787229" y="4083305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6" name="Rounded Rectangle"/>
          <p:cNvSpPr/>
          <p:nvPr/>
        </p:nvSpPr>
        <p:spPr>
          <a:xfrm>
            <a:off x="7787229" y="4572832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7" name="Rounded Rectangle"/>
          <p:cNvSpPr/>
          <p:nvPr/>
        </p:nvSpPr>
        <p:spPr>
          <a:xfrm>
            <a:off x="7049840" y="4572832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8" name="Rounded Rectangle"/>
          <p:cNvSpPr/>
          <p:nvPr/>
        </p:nvSpPr>
        <p:spPr>
          <a:xfrm>
            <a:off x="6312451" y="4572832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9" name="Rounded Rectangle"/>
          <p:cNvSpPr/>
          <p:nvPr/>
        </p:nvSpPr>
        <p:spPr>
          <a:xfrm>
            <a:off x="6312451" y="4083305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60" name="Text: ACME · PRODUCT"/>
          <p:cNvSpPr txBox="1"/>
          <p:nvPr/>
        </p:nvSpPr>
        <p:spPr>
          <a:xfrm>
            <a:off x="3129703" y="5120403"/>
            <a:ext cx="710037" cy="1115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6" spc="4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586" dirty="0"/>
          </a:p>
        </p:txBody>
      </p:sp>
      <p:sp>
        <p:nvSpPr>
          <p:cNvPr id="161" name="Text: 01 / 06"/>
          <p:cNvSpPr txBox="1"/>
          <p:nvPr/>
        </p:nvSpPr>
        <p:spPr>
          <a:xfrm>
            <a:off x="7731847" y="5120403"/>
            <a:ext cx="355091" cy="1115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6" spc="4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586" dirty="0"/>
          </a:p>
        </p:txBody>
      </p:sp>
      <p:pic>
        <p:nvPicPr>
          <p:cNvPr id="162" name="Graphic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02475" y="4140200"/>
            <a:ext cx="155575" cy="155575"/>
          </a:xfrm>
          <a:prstGeom prst="rect">
            <a:avLst/>
          </a:prstGeom>
          <a:ln>
            <a:noFill/>
          </a:ln>
        </p:spPr>
      </p:pic>
      <p:pic>
        <p:nvPicPr>
          <p:cNvPr id="163" name="Graphic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2500" y="1936750"/>
            <a:ext cx="44450" cy="76200"/>
          </a:xfrm>
          <a:prstGeom prst="rect">
            <a:avLst/>
          </a:prstGeom>
          <a:ln>
            <a:noFill/>
          </a:ln>
        </p:spPr>
      </p:pic>
      <p:sp>
        <p:nvSpPr>
          <p:cNvPr id="164" name="Rectangle"/>
          <p:cNvSpPr/>
          <p:nvPr/>
        </p:nvSpPr>
        <p:spPr>
          <a:xfrm>
            <a:off x="1168241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65" name="Rounded Rectangle"/>
          <p:cNvSpPr/>
          <p:nvPr/>
        </p:nvSpPr>
        <p:spPr>
          <a:xfrm>
            <a:off x="1254522" y="1859280"/>
            <a:ext cx="944959" cy="227568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66" name="Rounded Rectangle"/>
          <p:cNvSpPr/>
          <p:nvPr/>
        </p:nvSpPr>
        <p:spPr>
          <a:xfrm>
            <a:off x="1270714" y="1875472"/>
            <a:ext cx="440373" cy="189944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884" sy="106686" algn="ctr" rotWithShape="0">
              <a:srgbClr val="000000">
                <a:alpha val="6000"/>
              </a:srgbClr>
            </a:outerShdw>
          </a:effectLst>
        </p:spPr>
      </p:sp>
      <p:sp>
        <p:nvSpPr>
          <p:cNvPr id="167" name="Text: Slides"/>
          <p:cNvSpPr txBox="1"/>
          <p:nvPr/>
        </p:nvSpPr>
        <p:spPr>
          <a:xfrm>
            <a:off x="1351994" y="1883077"/>
            <a:ext cx="27781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768" dirty="0"/>
          </a:p>
        </p:txBody>
      </p:sp>
      <p:sp>
        <p:nvSpPr>
          <p:cNvPr id="168" name="Text: Assets"/>
          <p:cNvSpPr txBox="1"/>
          <p:nvPr/>
        </p:nvSpPr>
        <p:spPr>
          <a:xfrm>
            <a:off x="1792367" y="1883077"/>
            <a:ext cx="309642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768" dirty="0"/>
          </a:p>
        </p:txBody>
      </p:sp>
      <p:sp>
        <p:nvSpPr>
          <p:cNvPr id="169" name="Rounded Rectangle"/>
          <p:cNvSpPr/>
          <p:nvPr/>
        </p:nvSpPr>
        <p:spPr>
          <a:xfrm>
            <a:off x="2267029" y="1894284"/>
            <a:ext cx="857726" cy="157480"/>
          </a:xfrm>
          <a:prstGeom prst="roundRect">
            <a:avLst>
              <a:gd name="adj" fmla="val 13871"/>
            </a:avLst>
          </a:prstGeom>
          <a:solidFill>
            <a:srgbClr val="FFFFFF"/>
          </a:solidFill>
          <a:ln w="5080" cap="flat" cmpd="sng" algn="ctr">
            <a:solidFill>
              <a:srgbClr val="ECECEC"/>
            </a:solidFill>
            <a:miter lim="800000"/>
          </a:ln>
        </p:spPr>
      </p:sp>
      <p:sp>
        <p:nvSpPr>
          <p:cNvPr id="170" name="Text: Agent connected"/>
          <p:cNvSpPr txBox="1"/>
          <p:nvPr/>
        </p:nvSpPr>
        <p:spPr>
          <a:xfrm>
            <a:off x="2415778" y="1897872"/>
            <a:ext cx="657701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-3" dirty="0">
                <a:solidFill>
                  <a:srgbClr val="0A0A0A">
                    <a:alpha val="85000"/>
                  </a:srgbClr>
                </a:solidFill>
                <a:latin typeface="Geist Variable"/>
                <a:ea typeface="Geist Variable"/>
                <a:cs typeface="Geist Variable"/>
              </a:rPr>
              <a:t>Agent connected</a:t>
            </a:r>
            <a:endParaRPr lang="en-US" sz="672" dirty="0"/>
          </a:p>
        </p:txBody>
      </p:sp>
      <p:sp>
        <p:nvSpPr>
          <p:cNvPr id="171" name="Ellipse"/>
          <p:cNvSpPr/>
          <p:nvPr/>
        </p:nvSpPr>
        <p:spPr>
          <a:xfrm>
            <a:off x="2318306" y="1948656"/>
            <a:ext cx="48736" cy="487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72" name="Text: Q2 Launch"/>
          <p:cNvSpPr txBox="1"/>
          <p:nvPr/>
        </p:nvSpPr>
        <p:spPr>
          <a:xfrm>
            <a:off x="5819140" y="1878600"/>
            <a:ext cx="553641" cy="1645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4" b="1" spc="-9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864" dirty="0"/>
          </a:p>
        </p:txBody>
      </p:sp>
      <p:sp>
        <p:nvSpPr>
          <p:cNvPr id="173" name="Rectangle"/>
          <p:cNvSpPr/>
          <p:nvPr/>
        </p:nvSpPr>
        <p:spPr>
          <a:xfrm>
            <a:off x="8224996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174" name="Graphic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31200" y="1939925"/>
            <a:ext cx="120650" cy="69850"/>
          </a:xfrm>
          <a:prstGeom prst="rect">
            <a:avLst/>
          </a:prstGeom>
          <a:ln>
            <a:noFill/>
          </a:ln>
        </p:spPr>
      </p:pic>
      <p:pic>
        <p:nvPicPr>
          <p:cNvPr id="175" name="Graphic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94725" y="1920875"/>
            <a:ext cx="111125" cy="111125"/>
          </a:xfrm>
          <a:prstGeom prst="rect">
            <a:avLst/>
          </a:prstGeom>
          <a:ln>
            <a:noFill/>
          </a:ln>
        </p:spPr>
      </p:pic>
      <p:sp>
        <p:nvSpPr>
          <p:cNvPr id="176" name="Text: Design"/>
          <p:cNvSpPr txBox="1"/>
          <p:nvPr/>
        </p:nvSpPr>
        <p:spPr>
          <a:xfrm>
            <a:off x="9042559" y="1885617"/>
            <a:ext cx="314325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75000"/>
                  </a:srgbClr>
                </a:solidFill>
                <a:latin typeface="Geist Variable"/>
                <a:ea typeface="Geist Variable"/>
                <a:cs typeface="Geist Variable"/>
              </a:rPr>
              <a:t>Design</a:t>
            </a:r>
            <a:endParaRPr lang="en-US" sz="768" dirty="0"/>
          </a:p>
        </p:txBody>
      </p:sp>
      <p:pic>
        <p:nvPicPr>
          <p:cNvPr id="177" name="Graphic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868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78" name="Rounded Rectangle"/>
          <p:cNvSpPr/>
          <p:nvPr/>
        </p:nvSpPr>
        <p:spPr>
          <a:xfrm>
            <a:off x="9438084" y="1916033"/>
            <a:ext cx="114538" cy="113824"/>
          </a:xfrm>
          <a:prstGeom prst="roundRect">
            <a:avLst>
              <a:gd name="adj" fmla="val 21423"/>
            </a:avLst>
          </a:prstGeom>
          <a:solidFill>
            <a:srgbClr val="0A0A0A">
              <a:alpha val="10000"/>
            </a:srgbClr>
          </a:solidFill>
          <a:ln>
            <a:noFill/>
          </a:ln>
        </p:spPr>
      </p:sp>
      <p:sp>
        <p:nvSpPr>
          <p:cNvPr id="179" name="Text: D"/>
          <p:cNvSpPr txBox="1"/>
          <p:nvPr/>
        </p:nvSpPr>
        <p:spPr>
          <a:xfrm>
            <a:off x="9470549" y="1903841"/>
            <a:ext cx="49609" cy="113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24" dirty="0">
                <a:solidFill>
                  <a:srgbClr val="0A0A0A">
                    <a:alpha val="75000"/>
                  </a:srgbClr>
                </a:solidFill>
                <a:latin typeface="Courier New"/>
                <a:ea typeface="Courier New"/>
                <a:cs typeface="Courier New"/>
              </a:rPr>
              <a:t>D</a:t>
            </a:r>
            <a:endParaRPr lang="en-US" sz="608" dirty="0"/>
          </a:p>
        </p:txBody>
      </p:sp>
      <p:sp>
        <p:nvSpPr>
          <p:cNvPr id="180" name="Rounded Rectangle"/>
          <p:cNvSpPr/>
          <p:nvPr/>
        </p:nvSpPr>
        <p:spPr>
          <a:xfrm>
            <a:off x="9666367" y="1859201"/>
            <a:ext cx="644684" cy="227568"/>
          </a:xfrm>
          <a:prstGeom prst="roundRect">
            <a:avLst>
              <a:gd name="adj" fmla="val 17858"/>
            </a:avLst>
          </a:prstGeom>
          <a:solidFill>
            <a:srgbClr val="F4F4F4"/>
          </a:solidFill>
          <a:ln>
            <a:noFill/>
          </a:ln>
        </p:spPr>
      </p:sp>
      <p:sp>
        <p:nvSpPr>
          <p:cNvPr id="181" name="Text: Format"/>
          <p:cNvSpPr txBox="1"/>
          <p:nvPr/>
        </p:nvSpPr>
        <p:spPr>
          <a:xfrm>
            <a:off x="9910128" y="1885617"/>
            <a:ext cx="31964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Format</a:t>
            </a:r>
            <a:endParaRPr lang="en-US" sz="768" dirty="0"/>
          </a:p>
        </p:txBody>
      </p:sp>
      <p:pic>
        <p:nvPicPr>
          <p:cNvPr id="182" name="Graphic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56775" y="1924050"/>
            <a:ext cx="98425" cy="95250"/>
          </a:xfrm>
          <a:prstGeom prst="rect">
            <a:avLst/>
          </a:prstGeom>
          <a:ln>
            <a:noFill/>
          </a:ln>
        </p:spPr>
      </p:pic>
      <p:sp>
        <p:nvSpPr>
          <p:cNvPr id="183" name="Rectangle"/>
          <p:cNvSpPr/>
          <p:nvPr/>
        </p:nvSpPr>
        <p:spPr>
          <a:xfrm>
            <a:off x="10359708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84" name="Rounded Rectangle"/>
          <p:cNvSpPr/>
          <p:nvPr/>
        </p:nvSpPr>
        <p:spPr>
          <a:xfrm>
            <a:off x="10413444" y="1859201"/>
            <a:ext cx="707866" cy="227568"/>
          </a:xfrm>
          <a:custGeom>
            <a:avLst/>
            <a:gdLst/>
            <a:ahLst/>
            <a:cxnLst/>
            <a:rect l="0" t="0" r="r" b="b"/>
            <a:pathLst>
              <a:path w="707866" h="227568">
                <a:moveTo>
                  <a:pt x="50800" y="0"/>
                </a:moveTo>
                <a:lnTo>
                  <a:pt x="707866" y="0"/>
                </a:lnTo>
                <a:lnTo>
                  <a:pt x="707866" y="227568"/>
                </a:lnTo>
                <a:lnTo>
                  <a:pt x="50800" y="227568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sp>
        <p:nvSpPr>
          <p:cNvPr id="185" name="Text: Present"/>
          <p:cNvSpPr txBox="1"/>
          <p:nvPr/>
        </p:nvSpPr>
        <p:spPr>
          <a:xfrm>
            <a:off x="10673398" y="1885617"/>
            <a:ext cx="350441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FFFFFF"/>
                </a:solidFill>
                <a:latin typeface="Geist Variable"/>
                <a:ea typeface="Geist Variable"/>
                <a:cs typeface="Geist Variable"/>
              </a:rPr>
              <a:t>Present</a:t>
            </a:r>
            <a:endParaRPr lang="en-US" sz="768" dirty="0"/>
          </a:p>
        </p:txBody>
      </p:sp>
      <p:pic>
        <p:nvPicPr>
          <p:cNvPr id="186" name="Graphic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31475" y="1924050"/>
            <a:ext cx="88900" cy="95250"/>
          </a:xfrm>
          <a:prstGeom prst="rect">
            <a:avLst/>
          </a:prstGeom>
          <a:ln>
            <a:noFill/>
          </a:ln>
        </p:spPr>
      </p:pic>
      <p:sp>
        <p:nvSpPr>
          <p:cNvPr id="187" name="Rounded Rectangle"/>
          <p:cNvSpPr/>
          <p:nvPr/>
        </p:nvSpPr>
        <p:spPr>
          <a:xfrm>
            <a:off x="11121311" y="1859201"/>
            <a:ext cx="211217" cy="227568"/>
          </a:xfrm>
          <a:custGeom>
            <a:avLst/>
            <a:gdLst/>
            <a:ahLst/>
            <a:cxnLst/>
            <a:rect l="0" t="0" r="r" b="b"/>
            <a:pathLst>
              <a:path w="211217" h="227568">
                <a:moveTo>
                  <a:pt x="0" y="0"/>
                </a:moveTo>
                <a:lnTo>
                  <a:pt x="160417" y="0"/>
                </a:lnTo>
                <a:arcTo wR="50800" hR="50800" stAng="16200000" swAng="5400000"/>
                <a:lnTo>
                  <a:pt x="211217" y="176768"/>
                </a:lnTo>
                <a:arcTo wR="50800" hR="50800" stAng="0" swAng="5400000"/>
                <a:lnTo>
                  <a:pt x="0" y="227568"/>
                </a:lnTo>
                <a:lnTo>
                  <a:pt x="0" y="0"/>
                </a:lnTo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88" name="Graphic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191875" y="1952625"/>
            <a:ext cx="69850" cy="41275"/>
          </a:xfrm>
          <a:prstGeom prst="rect">
            <a:avLst/>
          </a:prstGeom>
          <a:ln>
            <a:noFill/>
          </a:ln>
        </p:spPr>
      </p:pic>
      <p:sp>
        <p:nvSpPr>
          <p:cNvPr id="189" name="Rounded Rectangle"/>
          <p:cNvSpPr/>
          <p:nvPr/>
        </p:nvSpPr>
        <p:spPr>
          <a:xfrm>
            <a:off x="7616269" y="1845548"/>
            <a:ext cx="557530" cy="254953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508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190" name="Rounded Rectangle"/>
          <p:cNvSpPr/>
          <p:nvPr/>
        </p:nvSpPr>
        <p:spPr>
          <a:xfrm>
            <a:off x="7895114" y="1864281"/>
            <a:ext cx="260033" cy="217408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4884" sy="105842" algn="ctr" rotWithShape="0">
              <a:srgbClr val="000000">
                <a:alpha val="6000"/>
              </a:srgbClr>
            </a:outerShdw>
          </a:effectLst>
        </p:spPr>
      </p:sp>
      <p:pic>
        <p:nvPicPr>
          <p:cNvPr id="191" name="Graphic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08900" y="1933575"/>
            <a:ext cx="107950" cy="76200"/>
          </a:xfrm>
          <a:prstGeom prst="rect">
            <a:avLst/>
          </a:prstGeom>
          <a:ln>
            <a:noFill/>
          </a:ln>
        </p:spPr>
      </p:pic>
      <p:pic>
        <p:nvPicPr>
          <p:cNvPr id="192" name="Graphic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9724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93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194" name="Text: 06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4 · Comment"/>
          <p:cNvSpPr txBox="1"/>
          <p:nvPr/>
        </p:nvSpPr>
        <p:spPr>
          <a:xfrm>
            <a:off x="939800" y="615950"/>
            <a:ext cx="902097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04 · Comment</a:t>
            </a:r>
            <a:endParaRPr lang="en-US" sz="1100" dirty="0"/>
          </a:p>
        </p:txBody>
      </p:sp>
      <p:sp>
        <p:nvSpPr>
          <p:cNvPr id="4" name="Text: Point at what's wrong."/>
          <p:cNvSpPr txBox="1"/>
          <p:nvPr/>
        </p:nvSpPr>
        <p:spPr>
          <a:xfrm>
            <a:off x="762000" y="921766"/>
            <a:ext cx="3902670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Point at what's wrong.</a:t>
            </a:r>
            <a:endParaRPr lang="en-US" sz="3200" dirty="0"/>
          </a:p>
        </p:txBody>
      </p:sp>
      <p:sp>
        <p:nvSpPr>
          <p:cNvPr id="5" name="Rounded Rectangle"/>
          <p:cNvSpPr/>
          <p:nvPr/>
        </p:nvSpPr>
        <p:spPr>
          <a:xfrm>
            <a:off x="762000" y="1778000"/>
            <a:ext cx="10668000" cy="4064000"/>
          </a:xfrm>
          <a:prstGeom prst="roundRect">
            <a:avLst>
              <a:gd name="adj" fmla="val 1875"/>
            </a:avLst>
          </a:prstGeom>
          <a:noFill/>
          <a:ln>
            <a:noFill/>
          </a:ln>
          <a:effectLst>
            <a:outerShdw blurRad="0" dist="0" dir="0" sx="100119" sy="100313" algn="ctr" rotWithShape="0">
              <a:srgbClr val="000000">
                <a:alpha val="7000"/>
              </a:srgbClr>
            </a:outerShdw>
          </a:effectLst>
        </p:spPr>
      </p:sp>
      <p:sp>
        <p:nvSpPr>
          <p:cNvPr id="6" name="Rectangle"/>
          <p:cNvSpPr/>
          <p:nvPr/>
        </p:nvSpPr>
        <p:spPr>
          <a:xfrm>
            <a:off x="762000" y="1778000"/>
            <a:ext cx="10668000" cy="406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7" name="Text: PAGES"/>
          <p:cNvSpPr txBox="1"/>
          <p:nvPr/>
        </p:nvSpPr>
        <p:spPr>
          <a:xfrm>
            <a:off x="891937" y="2253409"/>
            <a:ext cx="3230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PAGES</a:t>
            </a:r>
            <a:endParaRPr lang="en-US" sz="704" dirty="0"/>
          </a:p>
        </p:txBody>
      </p:sp>
      <p:sp>
        <p:nvSpPr>
          <p:cNvPr id="8" name="Text: 06"/>
          <p:cNvSpPr txBox="1"/>
          <p:nvPr/>
        </p:nvSpPr>
        <p:spPr>
          <a:xfrm>
            <a:off x="1978819" y="2252361"/>
            <a:ext cx="116364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5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672" dirty="0"/>
          </a:p>
        </p:txBody>
      </p:sp>
      <p:pic>
        <p:nvPicPr>
          <p:cNvPr id="9" name="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286000"/>
            <a:ext cx="95250" cy="95250"/>
          </a:xfrm>
          <a:prstGeom prst="rect">
            <a:avLst/>
          </a:prstGeom>
          <a:ln>
            <a:noFill/>
          </a:ln>
        </p:spPr>
      </p:pic>
      <p:sp>
        <p:nvSpPr>
          <p:cNvPr id="10" name="Rounded Rectangle"/>
          <p:cNvSpPr/>
          <p:nvPr/>
        </p:nvSpPr>
        <p:spPr>
          <a:xfrm>
            <a:off x="859473" y="2448401"/>
            <a:ext cx="1430655" cy="646113"/>
          </a:xfrm>
          <a:prstGeom prst="roundRect">
            <a:avLst>
              <a:gd name="adj" fmla="val 7548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11" name="Text: 01"/>
          <p:cNvSpPr txBox="1"/>
          <p:nvPr/>
        </p:nvSpPr>
        <p:spPr>
          <a:xfrm>
            <a:off x="1028144" y="2530634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640" dirty="0"/>
          </a:p>
        </p:txBody>
      </p:sp>
      <p:sp>
        <p:nvSpPr>
          <p:cNvPr id="12" name="Rounded Rectangle"/>
          <p:cNvSpPr/>
          <p:nvPr/>
        </p:nvSpPr>
        <p:spPr>
          <a:xfrm>
            <a:off x="1217057" y="2497138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604" sy="104630" algn="ctr" rotWithShape="0">
              <a:srgbClr val="DE3B3D"/>
            </a:outerShdw>
          </a:effectLst>
        </p:spPr>
      </p:sp>
      <p:sp>
        <p:nvSpPr>
          <p:cNvPr id="13" name="Rectangle"/>
          <p:cNvSpPr/>
          <p:nvPr/>
        </p:nvSpPr>
        <p:spPr>
          <a:xfrm>
            <a:off x="1217057" y="2497138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Text: COVER"/>
          <p:cNvSpPr txBox="1"/>
          <p:nvPr/>
        </p:nvSpPr>
        <p:spPr>
          <a:xfrm>
            <a:off x="1298337" y="2575878"/>
            <a:ext cx="51649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104" dirty="0"/>
          </a:p>
        </p:txBody>
      </p:sp>
      <p:sp>
        <p:nvSpPr>
          <p:cNvPr id="15" name="Text: What we're shipping, why it matters."/>
          <p:cNvSpPr txBox="1"/>
          <p:nvPr/>
        </p:nvSpPr>
        <p:spPr>
          <a:xfrm>
            <a:off x="1298337" y="2815450"/>
            <a:ext cx="364530" cy="30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176" dirty="0"/>
          </a:p>
        </p:txBody>
      </p:sp>
      <p:sp>
        <p:nvSpPr>
          <p:cNvPr id="16" name="Text: Q2 Launch"/>
          <p:cNvSpPr txBox="1"/>
          <p:nvPr/>
        </p:nvSpPr>
        <p:spPr>
          <a:xfrm>
            <a:off x="1298337" y="2723706"/>
            <a:ext cx="431109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b="1" spc="-25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704" dirty="0"/>
          </a:p>
        </p:txBody>
      </p:sp>
      <p:sp>
        <p:nvSpPr>
          <p:cNvPr id="17" name="Text: ACME · PRODUCT"/>
          <p:cNvSpPr txBox="1"/>
          <p:nvPr/>
        </p:nvSpPr>
        <p:spPr>
          <a:xfrm>
            <a:off x="1298337" y="2954338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18" name="Text: 01 / 06"/>
          <p:cNvSpPr txBox="1"/>
          <p:nvPr/>
        </p:nvSpPr>
        <p:spPr>
          <a:xfrm>
            <a:off x="2052915" y="2954338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100" dirty="0"/>
          </a:p>
        </p:txBody>
      </p:sp>
      <p:sp>
        <p:nvSpPr>
          <p:cNvPr id="19" name="Text: 02"/>
          <p:cNvSpPr txBox="1"/>
          <p:nvPr/>
        </p:nvSpPr>
        <p:spPr>
          <a:xfrm>
            <a:off x="1028144" y="3241754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640" dirty="0"/>
          </a:p>
        </p:txBody>
      </p:sp>
      <p:sp>
        <p:nvSpPr>
          <p:cNvPr id="20" name="Rounded Rectangle"/>
          <p:cNvSpPr/>
          <p:nvPr/>
        </p:nvSpPr>
        <p:spPr>
          <a:xfrm>
            <a:off x="1217057" y="3208258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21" name="Rectangle"/>
          <p:cNvSpPr/>
          <p:nvPr/>
        </p:nvSpPr>
        <p:spPr>
          <a:xfrm>
            <a:off x="1217057" y="3208258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: AGENDA"/>
          <p:cNvSpPr txBox="1"/>
          <p:nvPr/>
        </p:nvSpPr>
        <p:spPr>
          <a:xfrm>
            <a:off x="1298337" y="3286998"/>
            <a:ext cx="61976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AGENDA</a:t>
            </a:r>
            <a:endParaRPr lang="en-US" sz="104" dirty="0"/>
          </a:p>
        </p:txBody>
      </p:sp>
      <p:sp>
        <p:nvSpPr>
          <p:cNvPr id="23" name="Text: What's inside"/>
          <p:cNvSpPr txBox="1"/>
          <p:nvPr/>
        </p:nvSpPr>
        <p:spPr>
          <a:xfrm>
            <a:off x="1298337" y="3369802"/>
            <a:ext cx="359791" cy="60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inside</a:t>
            </a:r>
            <a:endParaRPr lang="en-US" sz="480" dirty="0"/>
          </a:p>
        </p:txBody>
      </p:sp>
      <p:sp>
        <p:nvSpPr>
          <p:cNvPr id="24" name="Border"/>
          <p:cNvSpPr/>
          <p:nvPr/>
        </p:nvSpPr>
        <p:spPr>
          <a:xfrm>
            <a:off x="1298337" y="346225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5" name="Text: 01"/>
          <p:cNvSpPr txBox="1"/>
          <p:nvPr/>
        </p:nvSpPr>
        <p:spPr>
          <a:xfrm>
            <a:off x="1298337" y="348156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112" dirty="0"/>
          </a:p>
        </p:txBody>
      </p:sp>
      <p:sp>
        <p:nvSpPr>
          <p:cNvPr id="26" name="Text: The problem"/>
          <p:cNvSpPr txBox="1"/>
          <p:nvPr/>
        </p:nvSpPr>
        <p:spPr>
          <a:xfrm>
            <a:off x="1335707" y="3472418"/>
            <a:ext cx="126246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problem</a:t>
            </a:r>
            <a:endParaRPr lang="en-US" sz="176" dirty="0"/>
          </a:p>
        </p:txBody>
      </p:sp>
      <p:sp>
        <p:nvSpPr>
          <p:cNvPr id="27" name="Border"/>
          <p:cNvSpPr/>
          <p:nvPr/>
        </p:nvSpPr>
        <p:spPr>
          <a:xfrm>
            <a:off x="1298337" y="352067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8" name="Text: 02"/>
          <p:cNvSpPr txBox="1"/>
          <p:nvPr/>
        </p:nvSpPr>
        <p:spPr>
          <a:xfrm>
            <a:off x="1298337" y="353998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112" dirty="0"/>
          </a:p>
        </p:txBody>
      </p:sp>
      <p:sp>
        <p:nvSpPr>
          <p:cNvPr id="29" name="Text: Our solution"/>
          <p:cNvSpPr txBox="1"/>
          <p:nvPr/>
        </p:nvSpPr>
        <p:spPr>
          <a:xfrm>
            <a:off x="1335707" y="3530838"/>
            <a:ext cx="124222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Our solution</a:t>
            </a:r>
            <a:endParaRPr lang="en-US" sz="176" dirty="0"/>
          </a:p>
        </p:txBody>
      </p:sp>
      <p:sp>
        <p:nvSpPr>
          <p:cNvPr id="30" name="Border"/>
          <p:cNvSpPr/>
          <p:nvPr/>
        </p:nvSpPr>
        <p:spPr>
          <a:xfrm>
            <a:off x="1298337" y="357909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1" name="Text: 03"/>
          <p:cNvSpPr txBox="1"/>
          <p:nvPr/>
        </p:nvSpPr>
        <p:spPr>
          <a:xfrm>
            <a:off x="1298337" y="359840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112" dirty="0"/>
          </a:p>
        </p:txBody>
      </p:sp>
      <p:sp>
        <p:nvSpPr>
          <p:cNvPr id="32" name="Text: Metrics"/>
          <p:cNvSpPr txBox="1"/>
          <p:nvPr/>
        </p:nvSpPr>
        <p:spPr>
          <a:xfrm>
            <a:off x="1335707" y="3589258"/>
            <a:ext cx="76478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Metrics</a:t>
            </a:r>
            <a:endParaRPr lang="en-US" sz="176" dirty="0"/>
          </a:p>
        </p:txBody>
      </p:sp>
      <p:sp>
        <p:nvSpPr>
          <p:cNvPr id="33" name="Border"/>
          <p:cNvSpPr/>
          <p:nvPr/>
        </p:nvSpPr>
        <p:spPr>
          <a:xfrm>
            <a:off x="1298337" y="3637518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4" name="Text: 04"/>
          <p:cNvSpPr txBox="1"/>
          <p:nvPr/>
        </p:nvSpPr>
        <p:spPr>
          <a:xfrm>
            <a:off x="1298337" y="3656822"/>
            <a:ext cx="17050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112" dirty="0"/>
          </a:p>
        </p:txBody>
      </p:sp>
      <p:sp>
        <p:nvSpPr>
          <p:cNvPr id="35" name="Text: What's next"/>
          <p:cNvSpPr txBox="1"/>
          <p:nvPr/>
        </p:nvSpPr>
        <p:spPr>
          <a:xfrm>
            <a:off x="1335707" y="3647678"/>
            <a:ext cx="118674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176" dirty="0"/>
          </a:p>
        </p:txBody>
      </p:sp>
      <p:sp>
        <p:nvSpPr>
          <p:cNvPr id="36" name="Text: ACME · PRODUCT"/>
          <p:cNvSpPr txBox="1"/>
          <p:nvPr/>
        </p:nvSpPr>
        <p:spPr>
          <a:xfrm>
            <a:off x="1298337" y="3665458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37" name="Text: 02 / 06"/>
          <p:cNvSpPr txBox="1"/>
          <p:nvPr/>
        </p:nvSpPr>
        <p:spPr>
          <a:xfrm>
            <a:off x="2052915" y="3665458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02 / 06</a:t>
            </a:r>
            <a:endParaRPr lang="en-US" sz="100" dirty="0"/>
          </a:p>
        </p:txBody>
      </p:sp>
      <p:sp>
        <p:nvSpPr>
          <p:cNvPr id="38" name="Text: 03"/>
          <p:cNvSpPr txBox="1"/>
          <p:nvPr/>
        </p:nvSpPr>
        <p:spPr>
          <a:xfrm>
            <a:off x="1028144" y="3952875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640" dirty="0"/>
          </a:p>
        </p:txBody>
      </p:sp>
      <p:sp>
        <p:nvSpPr>
          <p:cNvPr id="39" name="Rounded Rectangle"/>
          <p:cNvSpPr/>
          <p:nvPr/>
        </p:nvSpPr>
        <p:spPr>
          <a:xfrm>
            <a:off x="1217057" y="3919379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40" name="Rectangle"/>
          <p:cNvSpPr/>
          <p:nvPr/>
        </p:nvSpPr>
        <p:spPr>
          <a:xfrm>
            <a:off x="1217057" y="3919379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" name="Text: PROBLEM"/>
          <p:cNvSpPr txBox="1"/>
          <p:nvPr/>
        </p:nvSpPr>
        <p:spPr>
          <a:xfrm>
            <a:off x="1298337" y="3998119"/>
            <a:ext cx="72311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PROBLEM</a:t>
            </a:r>
            <a:endParaRPr lang="en-US" sz="104" dirty="0"/>
          </a:p>
        </p:txBody>
      </p:sp>
      <p:sp>
        <p:nvSpPr>
          <p:cNvPr id="42" name="Text: 3×"/>
          <p:cNvSpPr txBox="1"/>
          <p:nvPr/>
        </p:nvSpPr>
        <p:spPr>
          <a:xfrm>
            <a:off x="1298337" y="4116483"/>
            <a:ext cx="173133" cy="1625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 spc="-64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3×</a:t>
            </a:r>
            <a:endParaRPr lang="en-US" sz="1280" dirty="0"/>
          </a:p>
        </p:txBody>
      </p:sp>
      <p:sp>
        <p:nvSpPr>
          <p:cNvPr id="43" name="Text: slower onboarding than our fastest compe"/>
          <p:cNvSpPr txBox="1"/>
          <p:nvPr/>
        </p:nvSpPr>
        <p:spPr>
          <a:xfrm>
            <a:off x="1298337" y="4282599"/>
            <a:ext cx="519541" cy="365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slower onboarding than our fastest competitor.</a:t>
            </a:r>
            <a:endParaRPr lang="en-US" sz="192" dirty="0"/>
          </a:p>
        </p:txBody>
      </p:sp>
      <p:sp>
        <p:nvSpPr>
          <p:cNvPr id="44" name="Text: ACME · PRODUCT"/>
          <p:cNvSpPr txBox="1"/>
          <p:nvPr/>
        </p:nvSpPr>
        <p:spPr>
          <a:xfrm>
            <a:off x="1298337" y="4376579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45" name="Text: 03 / 06"/>
          <p:cNvSpPr txBox="1"/>
          <p:nvPr/>
        </p:nvSpPr>
        <p:spPr>
          <a:xfrm>
            <a:off x="2052915" y="4376579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03 / 06</a:t>
            </a:r>
            <a:endParaRPr lang="en-US" sz="100" dirty="0"/>
          </a:p>
        </p:txBody>
      </p:sp>
      <p:sp>
        <p:nvSpPr>
          <p:cNvPr id="46" name="Text: 04"/>
          <p:cNvSpPr txBox="1"/>
          <p:nvPr/>
        </p:nvSpPr>
        <p:spPr>
          <a:xfrm>
            <a:off x="1028144" y="4663996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640" dirty="0"/>
          </a:p>
        </p:txBody>
      </p:sp>
      <p:sp>
        <p:nvSpPr>
          <p:cNvPr id="47" name="Rounded Rectangle"/>
          <p:cNvSpPr/>
          <p:nvPr/>
        </p:nvSpPr>
        <p:spPr>
          <a:xfrm>
            <a:off x="1217057" y="4630499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48" name="Rectangle"/>
          <p:cNvSpPr/>
          <p:nvPr/>
        </p:nvSpPr>
        <p:spPr>
          <a:xfrm>
            <a:off x="1217057" y="4630499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" name="Text: SOLUTION"/>
          <p:cNvSpPr txBox="1"/>
          <p:nvPr/>
        </p:nvSpPr>
        <p:spPr>
          <a:xfrm>
            <a:off x="1298337" y="4709239"/>
            <a:ext cx="82637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SOLUTION</a:t>
            </a:r>
            <a:endParaRPr lang="en-US" sz="104" dirty="0"/>
          </a:p>
        </p:txBody>
      </p:sp>
      <p:sp>
        <p:nvSpPr>
          <p:cNvPr id="50" name="Text: One flow, three clicks."/>
          <p:cNvSpPr txBox="1"/>
          <p:nvPr/>
        </p:nvSpPr>
        <p:spPr>
          <a:xfrm>
            <a:off x="1298337" y="4863163"/>
            <a:ext cx="32649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One flow,</a:t>
            </a:r>
            <a:br>
              <a:rPr lang="en-US" sz="480"/>
            </a:b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three clicks.</a:t>
            </a:r>
            <a:endParaRPr lang="en-US" sz="480" dirty="0"/>
          </a:p>
        </p:txBody>
      </p:sp>
      <p:sp>
        <p:nvSpPr>
          <p:cNvPr id="51" name="Rounded Rectangle"/>
          <p:cNvSpPr/>
          <p:nvPr/>
        </p:nvSpPr>
        <p:spPr>
          <a:xfrm>
            <a:off x="1765697" y="4762579"/>
            <a:ext cx="345440" cy="28448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>
            <a:noFill/>
          </a:ln>
        </p:spPr>
      </p:sp>
      <p:pic>
        <p:nvPicPr>
          <p:cNvPr id="52" name="Graph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0" y="4886325"/>
            <a:ext cx="44450" cy="41275"/>
          </a:xfrm>
          <a:prstGeom prst="rect">
            <a:avLst/>
          </a:prstGeom>
          <a:ln>
            <a:noFill/>
          </a:ln>
        </p:spPr>
      </p:pic>
      <p:sp>
        <p:nvSpPr>
          <p:cNvPr id="53" name="Text: ACME · PRODUCT"/>
          <p:cNvSpPr txBox="1"/>
          <p:nvPr/>
        </p:nvSpPr>
        <p:spPr>
          <a:xfrm>
            <a:off x="1298337" y="5087699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54" name="Text: 04 / 06"/>
          <p:cNvSpPr txBox="1"/>
          <p:nvPr/>
        </p:nvSpPr>
        <p:spPr>
          <a:xfrm>
            <a:off x="2052915" y="5087699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04 / 06</a:t>
            </a:r>
            <a:endParaRPr lang="en-US" sz="100" dirty="0"/>
          </a:p>
        </p:txBody>
      </p:sp>
      <p:sp>
        <p:nvSpPr>
          <p:cNvPr id="55" name="Text: 05"/>
          <p:cNvSpPr txBox="1"/>
          <p:nvPr/>
        </p:nvSpPr>
        <p:spPr>
          <a:xfrm>
            <a:off x="1028144" y="5375116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05</a:t>
            </a:r>
            <a:endParaRPr lang="en-US" sz="640" dirty="0"/>
          </a:p>
        </p:txBody>
      </p:sp>
      <p:sp>
        <p:nvSpPr>
          <p:cNvPr id="56" name="Rounded Rectangle"/>
          <p:cNvSpPr/>
          <p:nvPr/>
        </p:nvSpPr>
        <p:spPr>
          <a:xfrm>
            <a:off x="1217057" y="5341620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57" name="Rectangle"/>
          <p:cNvSpPr/>
          <p:nvPr/>
        </p:nvSpPr>
        <p:spPr>
          <a:xfrm>
            <a:off x="1217057" y="5341620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Text: METRICS"/>
          <p:cNvSpPr txBox="1"/>
          <p:nvPr/>
        </p:nvSpPr>
        <p:spPr>
          <a:xfrm>
            <a:off x="1298337" y="5420360"/>
            <a:ext cx="72311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METRICS</a:t>
            </a:r>
            <a:endParaRPr lang="en-US" sz="104" dirty="0"/>
          </a:p>
        </p:txBody>
      </p:sp>
      <p:sp>
        <p:nvSpPr>
          <p:cNvPr id="59" name="Text: +38%"/>
          <p:cNvSpPr txBox="1"/>
          <p:nvPr/>
        </p:nvSpPr>
        <p:spPr>
          <a:xfrm>
            <a:off x="1298337" y="5557012"/>
            <a:ext cx="203613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+38%</a:t>
            </a:r>
            <a:endParaRPr lang="en-US" sz="640" dirty="0"/>
          </a:p>
        </p:txBody>
      </p:sp>
      <p:sp>
        <p:nvSpPr>
          <p:cNvPr id="60" name="Text: activation"/>
          <p:cNvSpPr txBox="1"/>
          <p:nvPr/>
        </p:nvSpPr>
        <p:spPr>
          <a:xfrm>
            <a:off x="1298337" y="5634228"/>
            <a:ext cx="80796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activation</a:t>
            </a:r>
            <a:endParaRPr lang="en-US" sz="144" dirty="0"/>
          </a:p>
        </p:txBody>
      </p:sp>
      <p:sp>
        <p:nvSpPr>
          <p:cNvPr id="61" name="Text: 12k"/>
          <p:cNvSpPr txBox="1"/>
          <p:nvPr/>
        </p:nvSpPr>
        <p:spPr>
          <a:xfrm>
            <a:off x="1576038" y="5557012"/>
            <a:ext cx="127373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12k</a:t>
            </a:r>
            <a:endParaRPr lang="en-US" sz="640" dirty="0"/>
          </a:p>
        </p:txBody>
      </p:sp>
      <p:sp>
        <p:nvSpPr>
          <p:cNvPr id="62" name="Text: weekly actives"/>
          <p:cNvSpPr txBox="1"/>
          <p:nvPr/>
        </p:nvSpPr>
        <p:spPr>
          <a:xfrm>
            <a:off x="1576038" y="5634228"/>
            <a:ext cx="122547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weekly actives</a:t>
            </a:r>
            <a:endParaRPr lang="en-US" sz="144" dirty="0"/>
          </a:p>
        </p:txBody>
      </p:sp>
      <p:sp>
        <p:nvSpPr>
          <p:cNvPr id="63" name="Text: 4.9"/>
          <p:cNvSpPr txBox="1"/>
          <p:nvPr/>
        </p:nvSpPr>
        <p:spPr>
          <a:xfrm>
            <a:off x="1853748" y="5557012"/>
            <a:ext cx="111030" cy="812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b="1" spc="-2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4.9</a:t>
            </a:r>
            <a:endParaRPr lang="en-US" sz="640" dirty="0"/>
          </a:p>
        </p:txBody>
      </p:sp>
      <p:sp>
        <p:nvSpPr>
          <p:cNvPr id="64" name="Text: app rating"/>
          <p:cNvSpPr txBox="1"/>
          <p:nvPr/>
        </p:nvSpPr>
        <p:spPr>
          <a:xfrm>
            <a:off x="1853748" y="5634228"/>
            <a:ext cx="83836" cy="2743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app rating</a:t>
            </a:r>
            <a:endParaRPr lang="en-US" sz="144" dirty="0"/>
          </a:p>
        </p:txBody>
      </p:sp>
      <p:sp>
        <p:nvSpPr>
          <p:cNvPr id="65" name="Text: ACME · PRODUCT"/>
          <p:cNvSpPr txBox="1"/>
          <p:nvPr/>
        </p:nvSpPr>
        <p:spPr>
          <a:xfrm>
            <a:off x="1298337" y="5798820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66" name="Text: 05 / 06"/>
          <p:cNvSpPr txBox="1"/>
          <p:nvPr/>
        </p:nvSpPr>
        <p:spPr>
          <a:xfrm>
            <a:off x="2052915" y="5798820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05 / 06</a:t>
            </a:r>
            <a:endParaRPr lang="en-US" sz="100" dirty="0"/>
          </a:p>
        </p:txBody>
      </p:sp>
      <p:sp>
        <p:nvSpPr>
          <p:cNvPr id="67" name="Text: 06"/>
          <p:cNvSpPr txBox="1"/>
          <p:nvPr/>
        </p:nvSpPr>
        <p:spPr>
          <a:xfrm>
            <a:off x="1028144" y="6086237"/>
            <a:ext cx="107633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3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640" dirty="0"/>
          </a:p>
        </p:txBody>
      </p:sp>
      <p:sp>
        <p:nvSpPr>
          <p:cNvPr id="68" name="Rounded Rectangle"/>
          <p:cNvSpPr/>
          <p:nvPr/>
        </p:nvSpPr>
        <p:spPr>
          <a:xfrm>
            <a:off x="1217057" y="6052741"/>
            <a:ext cx="975360" cy="5486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302" sy="102315" algn="ctr" rotWithShape="0">
              <a:srgbClr val="ECECEC"/>
            </a:outerShdw>
          </a:effectLst>
        </p:spPr>
      </p:sp>
      <p:sp>
        <p:nvSpPr>
          <p:cNvPr id="69" name="Rectangle"/>
          <p:cNvSpPr/>
          <p:nvPr/>
        </p:nvSpPr>
        <p:spPr>
          <a:xfrm>
            <a:off x="1217057" y="6052741"/>
            <a:ext cx="97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0" name="Text: NEXT"/>
          <p:cNvSpPr txBox="1"/>
          <p:nvPr/>
        </p:nvSpPr>
        <p:spPr>
          <a:xfrm>
            <a:off x="1298337" y="6131481"/>
            <a:ext cx="41323" cy="198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" spc="1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NEXT</a:t>
            </a:r>
            <a:endParaRPr lang="en-US" sz="104" dirty="0"/>
          </a:p>
        </p:txBody>
      </p:sp>
      <p:sp>
        <p:nvSpPr>
          <p:cNvPr id="71" name="Text: What's next"/>
          <p:cNvSpPr txBox="1"/>
          <p:nvPr/>
        </p:nvSpPr>
        <p:spPr>
          <a:xfrm>
            <a:off x="1298337" y="6214285"/>
            <a:ext cx="318873" cy="609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" b="1" spc="-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480" dirty="0"/>
          </a:p>
        </p:txBody>
      </p:sp>
      <p:sp>
        <p:nvSpPr>
          <p:cNvPr id="72" name="Border"/>
          <p:cNvSpPr/>
          <p:nvPr/>
        </p:nvSpPr>
        <p:spPr>
          <a:xfrm>
            <a:off x="1298337" y="630674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3" name="Text: →"/>
          <p:cNvSpPr txBox="1"/>
          <p:nvPr/>
        </p:nvSpPr>
        <p:spPr>
          <a:xfrm>
            <a:off x="1298337" y="632604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74" name="Text: Ship the beta in May"/>
          <p:cNvSpPr txBox="1"/>
          <p:nvPr/>
        </p:nvSpPr>
        <p:spPr>
          <a:xfrm>
            <a:off x="1327182" y="6316901"/>
            <a:ext cx="209050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Ship the beta in May</a:t>
            </a:r>
            <a:endParaRPr lang="en-US" sz="176" dirty="0"/>
          </a:p>
        </p:txBody>
      </p:sp>
      <p:sp>
        <p:nvSpPr>
          <p:cNvPr id="75" name="Border"/>
          <p:cNvSpPr/>
          <p:nvPr/>
        </p:nvSpPr>
        <p:spPr>
          <a:xfrm>
            <a:off x="1298337" y="636516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6" name="Text: →"/>
          <p:cNvSpPr txBox="1"/>
          <p:nvPr/>
        </p:nvSpPr>
        <p:spPr>
          <a:xfrm>
            <a:off x="1298337" y="638446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77" name="Text: Open the waitlist"/>
          <p:cNvSpPr txBox="1"/>
          <p:nvPr/>
        </p:nvSpPr>
        <p:spPr>
          <a:xfrm>
            <a:off x="1327182" y="6375321"/>
            <a:ext cx="173053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Open the waitlist</a:t>
            </a:r>
            <a:endParaRPr lang="en-US" sz="176" dirty="0"/>
          </a:p>
        </p:txBody>
      </p:sp>
      <p:sp>
        <p:nvSpPr>
          <p:cNvPr id="78" name="Border"/>
          <p:cNvSpPr/>
          <p:nvPr/>
        </p:nvSpPr>
        <p:spPr>
          <a:xfrm>
            <a:off x="1298337" y="6423581"/>
            <a:ext cx="812800" cy="508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79" name="Text: →"/>
          <p:cNvSpPr txBox="1"/>
          <p:nvPr/>
        </p:nvSpPr>
        <p:spPr>
          <a:xfrm>
            <a:off x="1298337" y="6442885"/>
            <a:ext cx="8525" cy="213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12" dirty="0"/>
          </a:p>
        </p:txBody>
      </p:sp>
      <p:sp>
        <p:nvSpPr>
          <p:cNvPr id="80" name="Text: Measure, then scale"/>
          <p:cNvSpPr txBox="1"/>
          <p:nvPr/>
        </p:nvSpPr>
        <p:spPr>
          <a:xfrm>
            <a:off x="1327182" y="6433741"/>
            <a:ext cx="204041" cy="335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Measure, then scale</a:t>
            </a:r>
            <a:endParaRPr lang="en-US" sz="176" dirty="0"/>
          </a:p>
        </p:txBody>
      </p:sp>
      <p:sp>
        <p:nvSpPr>
          <p:cNvPr id="81" name="Text: ACME · PRODUCT"/>
          <p:cNvSpPr txBox="1"/>
          <p:nvPr/>
        </p:nvSpPr>
        <p:spPr>
          <a:xfrm>
            <a:off x="1298337" y="6509941"/>
            <a:ext cx="116419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00" dirty="0"/>
          </a:p>
        </p:txBody>
      </p:sp>
      <p:sp>
        <p:nvSpPr>
          <p:cNvPr id="82" name="Text: 06 / 06"/>
          <p:cNvSpPr txBox="1"/>
          <p:nvPr/>
        </p:nvSpPr>
        <p:spPr>
          <a:xfrm>
            <a:off x="2052915" y="6509941"/>
            <a:ext cx="58222" cy="182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" spc="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06 / 06</a:t>
            </a:r>
            <a:endParaRPr lang="en-US" sz="100" dirty="0"/>
          </a:p>
        </p:txBody>
      </p:sp>
      <p:sp>
        <p:nvSpPr>
          <p:cNvPr id="83" name="Rectangle"/>
          <p:cNvSpPr/>
          <p:nvPr/>
        </p:nvSpPr>
        <p:spPr>
          <a:xfrm>
            <a:off x="8829040" y="2168128"/>
            <a:ext cx="2600960" cy="3673872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84" name="Border"/>
          <p:cNvSpPr/>
          <p:nvPr/>
        </p:nvSpPr>
        <p:spPr>
          <a:xfrm>
            <a:off x="8829040" y="2168128"/>
            <a:ext cx="5080" cy="3673872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5" name="Border"/>
          <p:cNvSpPr/>
          <p:nvPr/>
        </p:nvSpPr>
        <p:spPr>
          <a:xfrm>
            <a:off x="8834120" y="2455624"/>
            <a:ext cx="2595880" cy="508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86" name="Graph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4450" y="2260600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87" name="Text: Format"/>
          <p:cNvSpPr txBox="1"/>
          <p:nvPr/>
        </p:nvSpPr>
        <p:spPr>
          <a:xfrm>
            <a:off x="9110345" y="2224469"/>
            <a:ext cx="324088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b="1" spc="-8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Format</a:t>
            </a:r>
            <a:endParaRPr lang="en-US" sz="768" dirty="0"/>
          </a:p>
        </p:txBody>
      </p:sp>
      <p:pic>
        <p:nvPicPr>
          <p:cNvPr id="88" name="Graph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2350" y="2276475"/>
            <a:ext cx="69850" cy="69850"/>
          </a:xfrm>
          <a:prstGeom prst="rect">
            <a:avLst/>
          </a:prstGeom>
          <a:ln>
            <a:noFill/>
          </a:ln>
        </p:spPr>
      </p:pic>
      <p:sp>
        <p:nvSpPr>
          <p:cNvPr id="89" name="Text: Text"/>
          <p:cNvSpPr txBox="1"/>
          <p:nvPr/>
        </p:nvSpPr>
        <p:spPr>
          <a:xfrm>
            <a:off x="9142889" y="2617057"/>
            <a:ext cx="190976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Text</a:t>
            </a:r>
            <a:endParaRPr lang="en-US" sz="768" dirty="0"/>
          </a:p>
        </p:txBody>
      </p:sp>
      <p:pic>
        <p:nvPicPr>
          <p:cNvPr id="90" name="Graph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9850" y="2657475"/>
            <a:ext cx="101600" cy="98425"/>
          </a:xfrm>
          <a:prstGeom prst="rect">
            <a:avLst/>
          </a:prstGeom>
          <a:ln>
            <a:noFill/>
          </a:ln>
        </p:spPr>
      </p:pic>
      <p:sp>
        <p:nvSpPr>
          <p:cNvPr id="91" name="Rounded Rectangle"/>
          <p:cNvSpPr/>
          <p:nvPr/>
        </p:nvSpPr>
        <p:spPr>
          <a:xfrm>
            <a:off x="10756186" y="2576989"/>
            <a:ext cx="557530" cy="254953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508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92" name="Rounded Rectangle"/>
          <p:cNvSpPr/>
          <p:nvPr/>
        </p:nvSpPr>
        <p:spPr>
          <a:xfrm>
            <a:off x="10774918" y="2595721"/>
            <a:ext cx="260033" cy="217408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4884" sy="105842" algn="ctr" rotWithShape="0">
              <a:srgbClr val="000000">
                <a:alpha val="6000"/>
              </a:srgbClr>
            </a:outerShdw>
          </a:effectLst>
        </p:spPr>
      </p:sp>
      <p:pic>
        <p:nvPicPr>
          <p:cNvPr id="93" name="Graph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2660650"/>
            <a:ext cx="88900" cy="85725"/>
          </a:xfrm>
          <a:prstGeom prst="rect">
            <a:avLst/>
          </a:prstGeom>
          <a:ln>
            <a:noFill/>
          </a:ln>
        </p:spPr>
      </p:pic>
      <p:pic>
        <p:nvPicPr>
          <p:cNvPr id="94" name="Graphi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2500" y="2651125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95" name="Text: TYPOGRAPHY"/>
          <p:cNvSpPr txBox="1"/>
          <p:nvPr/>
        </p:nvSpPr>
        <p:spPr>
          <a:xfrm>
            <a:off x="8947864" y="703850"/>
            <a:ext cx="65460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TYPOGRAPHY</a:t>
            </a:r>
            <a:endParaRPr lang="en-US" sz="704" dirty="0"/>
          </a:p>
        </p:txBody>
      </p:sp>
      <p:sp>
        <p:nvSpPr>
          <p:cNvPr id="96" name="Rounded Rectangle"/>
          <p:cNvSpPr/>
          <p:nvPr/>
        </p:nvSpPr>
        <p:spPr>
          <a:xfrm>
            <a:off x="8950404" y="933926"/>
            <a:ext cx="1534319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97" name="Text: Semibold"/>
          <p:cNvSpPr txBox="1"/>
          <p:nvPr/>
        </p:nvSpPr>
        <p:spPr>
          <a:xfrm>
            <a:off x="9034224" y="957802"/>
            <a:ext cx="416798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Semibold</a:t>
            </a:r>
            <a:endParaRPr lang="en-US" sz="768" dirty="0"/>
          </a:p>
        </p:txBody>
      </p:sp>
      <p:sp>
        <p:nvSpPr>
          <p:cNvPr id="98" name="Rounded Rectangle"/>
          <p:cNvSpPr/>
          <p:nvPr/>
        </p:nvSpPr>
        <p:spPr>
          <a:xfrm>
            <a:off x="10538539" y="933926"/>
            <a:ext cx="77517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99" name="Text: 176"/>
          <p:cNvSpPr txBox="1"/>
          <p:nvPr/>
        </p:nvSpPr>
        <p:spPr>
          <a:xfrm>
            <a:off x="10934938" y="960866"/>
            <a:ext cx="16025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176</a:t>
            </a:r>
            <a:endParaRPr lang="en-US" sz="704" dirty="0"/>
          </a:p>
        </p:txBody>
      </p:sp>
      <p:sp>
        <p:nvSpPr>
          <p:cNvPr id="100" name="Text: PX"/>
          <p:cNvSpPr txBox="1"/>
          <p:nvPr/>
        </p:nvSpPr>
        <p:spPr>
          <a:xfrm>
            <a:off x="11160204" y="973042"/>
            <a:ext cx="102235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PX</a:t>
            </a:r>
            <a:endParaRPr lang="en-US" sz="608" dirty="0"/>
          </a:p>
        </p:txBody>
      </p:sp>
      <p:sp>
        <p:nvSpPr>
          <p:cNvPr id="101" name="Rounded Rectangle"/>
          <p:cNvSpPr/>
          <p:nvPr/>
        </p:nvSpPr>
        <p:spPr>
          <a:xfrm>
            <a:off x="9172893" y="124277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0" y="0"/>
                </a:moveTo>
                <a:lnTo>
                  <a:pt x="174863" y="0"/>
                </a:lnTo>
                <a:arcTo wR="47625" hR="47625" stAng="16200000" swAng="5400000"/>
                <a:lnTo>
                  <a:pt x="222488" y="174863"/>
                </a:lnTo>
                <a:arcTo wR="47625" hR="47625" stAng="0" swAng="5400000"/>
                <a:lnTo>
                  <a:pt x="0" y="22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2" name="Rounded Rectangle"/>
          <p:cNvSpPr/>
          <p:nvPr/>
        </p:nvSpPr>
        <p:spPr>
          <a:xfrm>
            <a:off x="8950404" y="124277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47625" y="0"/>
                </a:moveTo>
                <a:lnTo>
                  <a:pt x="222488" y="0"/>
                </a:lnTo>
                <a:lnTo>
                  <a:pt x="222488" y="222488"/>
                </a:lnTo>
                <a:lnTo>
                  <a:pt x="47625" y="222488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0A0A0A"/>
          </a:solidFill>
          <a:ln w="5080" cap="flat" cmpd="sng" algn="ctr">
            <a:solidFill>
              <a:srgbClr val="0A0A0A"/>
            </a:solidFill>
            <a:miter lim="800000"/>
          </a:ln>
        </p:spPr>
      </p:sp>
      <p:sp>
        <p:nvSpPr>
          <p:cNvPr id="103" name="Rectangle"/>
          <p:cNvSpPr/>
          <p:nvPr/>
        </p:nvSpPr>
        <p:spPr>
          <a:xfrm>
            <a:off x="9687957" y="1242774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4" name="Rectangle"/>
          <p:cNvSpPr/>
          <p:nvPr/>
        </p:nvSpPr>
        <p:spPr>
          <a:xfrm>
            <a:off x="9910445" y="1242774"/>
            <a:ext cx="222488" cy="222488"/>
          </a:xfrm>
          <a:prstGeom prst="rect">
            <a:avLst/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5" name="Rounded Rectangle"/>
          <p:cNvSpPr/>
          <p:nvPr/>
        </p:nvSpPr>
        <p:spPr>
          <a:xfrm>
            <a:off x="10132933" y="124277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0" y="0"/>
                </a:moveTo>
                <a:lnTo>
                  <a:pt x="174863" y="0"/>
                </a:lnTo>
                <a:arcTo wR="47625" hR="47625" stAng="16200000" swAng="5400000"/>
                <a:lnTo>
                  <a:pt x="222488" y="174863"/>
                </a:lnTo>
                <a:arcTo wR="47625" hR="47625" stAng="0" swAng="5400000"/>
                <a:lnTo>
                  <a:pt x="0" y="222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6" name="Rounded Rectangle"/>
          <p:cNvSpPr/>
          <p:nvPr/>
        </p:nvSpPr>
        <p:spPr>
          <a:xfrm>
            <a:off x="9465469" y="1242774"/>
            <a:ext cx="222488" cy="222488"/>
          </a:xfrm>
          <a:custGeom>
            <a:avLst/>
            <a:gdLst/>
            <a:ahLst/>
            <a:cxnLst/>
            <a:rect l="0" t="0" r="r" b="b"/>
            <a:pathLst>
              <a:path w="222488" h="222488">
                <a:moveTo>
                  <a:pt x="47625" y="0"/>
                </a:moveTo>
                <a:lnTo>
                  <a:pt x="222488" y="0"/>
                </a:lnTo>
                <a:lnTo>
                  <a:pt x="222488" y="222488"/>
                </a:lnTo>
                <a:lnTo>
                  <a:pt x="47625" y="222488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0A0A0A"/>
          </a:solidFill>
          <a:ln w="5080" cap="flat" cmpd="sng" algn="ctr">
            <a:solidFill>
              <a:srgbClr val="0A0A0A"/>
            </a:solidFill>
            <a:miter lim="800000"/>
          </a:ln>
        </p:spPr>
      </p:sp>
      <p:sp>
        <p:nvSpPr>
          <p:cNvPr id="107" name="Rounded Rectangle"/>
          <p:cNvSpPr/>
          <p:nvPr/>
        </p:nvSpPr>
        <p:spPr>
          <a:xfrm>
            <a:off x="8950404" y="1551622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08" name="Text: 1"/>
          <p:cNvSpPr txBox="1"/>
          <p:nvPr/>
        </p:nvSpPr>
        <p:spPr>
          <a:xfrm>
            <a:off x="9935448" y="1578562"/>
            <a:ext cx="5341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704" dirty="0"/>
          </a:p>
        </p:txBody>
      </p:sp>
      <p:sp>
        <p:nvSpPr>
          <p:cNvPr id="109" name="Rounded Rectangle"/>
          <p:cNvSpPr/>
          <p:nvPr/>
        </p:nvSpPr>
        <p:spPr>
          <a:xfrm>
            <a:off x="10158968" y="1551622"/>
            <a:ext cx="115474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10" name="Text: -6.2"/>
          <p:cNvSpPr txBox="1"/>
          <p:nvPr/>
        </p:nvSpPr>
        <p:spPr>
          <a:xfrm>
            <a:off x="10881519" y="1578562"/>
            <a:ext cx="21367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-6.2</a:t>
            </a:r>
            <a:endParaRPr lang="en-US" sz="704" dirty="0"/>
          </a:p>
        </p:txBody>
      </p:sp>
      <p:sp>
        <p:nvSpPr>
          <p:cNvPr id="111" name="Text: PX"/>
          <p:cNvSpPr txBox="1"/>
          <p:nvPr/>
        </p:nvSpPr>
        <p:spPr>
          <a:xfrm>
            <a:off x="11160204" y="1590739"/>
            <a:ext cx="102235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PX</a:t>
            </a:r>
            <a:endParaRPr lang="en-US" sz="608" dirty="0"/>
          </a:p>
        </p:txBody>
      </p:sp>
      <p:sp>
        <p:nvSpPr>
          <p:cNvPr id="112" name="Text: COLOR"/>
          <p:cNvSpPr txBox="1"/>
          <p:nvPr/>
        </p:nvSpPr>
        <p:spPr>
          <a:xfrm>
            <a:off x="8947864" y="2024491"/>
            <a:ext cx="342265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COLOR</a:t>
            </a:r>
            <a:endParaRPr lang="en-US" sz="704" dirty="0"/>
          </a:p>
        </p:txBody>
      </p:sp>
      <p:sp>
        <p:nvSpPr>
          <p:cNvPr id="113" name="Text: Text"/>
          <p:cNvSpPr txBox="1"/>
          <p:nvPr/>
        </p:nvSpPr>
        <p:spPr>
          <a:xfrm>
            <a:off x="8947864" y="2286587"/>
            <a:ext cx="168831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Text</a:t>
            </a:r>
            <a:endParaRPr lang="en-US" sz="704" dirty="0"/>
          </a:p>
        </p:txBody>
      </p:sp>
      <p:sp>
        <p:nvSpPr>
          <p:cNvPr id="114" name="Rounded Rectangle"/>
          <p:cNvSpPr/>
          <p:nvPr/>
        </p:nvSpPr>
        <p:spPr>
          <a:xfrm>
            <a:off x="9600565" y="2254568"/>
            <a:ext cx="22248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15" name="Rounded Rectangle"/>
          <p:cNvSpPr/>
          <p:nvPr/>
        </p:nvSpPr>
        <p:spPr>
          <a:xfrm>
            <a:off x="9646761" y="2300764"/>
            <a:ext cx="130016" cy="130016"/>
          </a:xfrm>
          <a:prstGeom prst="roundRect">
            <a:avLst>
              <a:gd name="adj" fmla="val 18755"/>
            </a:avLst>
          </a:prstGeom>
          <a:solidFill>
            <a:srgbClr val="0A0A0A"/>
          </a:solidFill>
          <a:ln>
            <a:noFill/>
          </a:ln>
        </p:spPr>
      </p:sp>
      <p:sp>
        <p:nvSpPr>
          <p:cNvPr id="116" name="Rounded Rectangle"/>
          <p:cNvSpPr/>
          <p:nvPr/>
        </p:nvSpPr>
        <p:spPr>
          <a:xfrm>
            <a:off x="9876869" y="2254568"/>
            <a:ext cx="143684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17" name="Text: #0A0A0A"/>
          <p:cNvSpPr txBox="1"/>
          <p:nvPr/>
        </p:nvSpPr>
        <p:spPr>
          <a:xfrm>
            <a:off x="9944418" y="2281507"/>
            <a:ext cx="3738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#0A0A0A</a:t>
            </a:r>
            <a:endParaRPr lang="en-US" sz="704" dirty="0"/>
          </a:p>
        </p:txBody>
      </p:sp>
      <p:sp>
        <p:nvSpPr>
          <p:cNvPr id="118" name="Text: Background"/>
          <p:cNvSpPr txBox="1"/>
          <p:nvPr/>
        </p:nvSpPr>
        <p:spPr>
          <a:xfrm>
            <a:off x="8947864" y="2595436"/>
            <a:ext cx="490061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Background</a:t>
            </a:r>
            <a:endParaRPr lang="en-US" sz="704" dirty="0"/>
          </a:p>
        </p:txBody>
      </p:sp>
      <p:sp>
        <p:nvSpPr>
          <p:cNvPr id="119" name="Rounded Rectangle"/>
          <p:cNvSpPr/>
          <p:nvPr/>
        </p:nvSpPr>
        <p:spPr>
          <a:xfrm>
            <a:off x="9600565" y="2563416"/>
            <a:ext cx="22248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20" name="Rounded Rectangle"/>
          <p:cNvSpPr/>
          <p:nvPr/>
        </p:nvSpPr>
        <p:spPr>
          <a:xfrm>
            <a:off x="9876869" y="2563416"/>
            <a:ext cx="143684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21" name="Text: #FFFFFF"/>
          <p:cNvSpPr txBox="1"/>
          <p:nvPr/>
        </p:nvSpPr>
        <p:spPr>
          <a:xfrm>
            <a:off x="9944418" y="2590356"/>
            <a:ext cx="3738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#FFFFFF</a:t>
            </a:r>
            <a:endParaRPr lang="en-US" sz="704" dirty="0"/>
          </a:p>
        </p:txBody>
      </p:sp>
      <p:sp>
        <p:nvSpPr>
          <p:cNvPr id="122" name="Text: CONTENT"/>
          <p:cNvSpPr txBox="1"/>
          <p:nvPr/>
        </p:nvSpPr>
        <p:spPr>
          <a:xfrm>
            <a:off x="8947864" y="3036284"/>
            <a:ext cx="46148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CONTENT</a:t>
            </a:r>
            <a:endParaRPr lang="en-US" sz="704" dirty="0"/>
          </a:p>
        </p:txBody>
      </p:sp>
      <p:sp>
        <p:nvSpPr>
          <p:cNvPr id="123" name="Text: Edit on slide"/>
          <p:cNvSpPr txBox="1"/>
          <p:nvPr/>
        </p:nvSpPr>
        <p:spPr>
          <a:xfrm>
            <a:off x="10724833" y="3032173"/>
            <a:ext cx="526415" cy="1402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6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Edit on slide</a:t>
            </a:r>
            <a:endParaRPr lang="en-US" sz="736" dirty="0"/>
          </a:p>
        </p:txBody>
      </p:sp>
      <p:pic>
        <p:nvPicPr>
          <p:cNvPr id="124" name="Graphi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5925" y="3060700"/>
            <a:ext cx="104775" cy="107950"/>
          </a:xfrm>
          <a:prstGeom prst="rect">
            <a:avLst/>
          </a:prstGeom>
          <a:ln>
            <a:noFill/>
          </a:ln>
        </p:spPr>
      </p:pic>
      <p:sp>
        <p:nvSpPr>
          <p:cNvPr id="125" name="Rounded Rectangle"/>
          <p:cNvSpPr/>
          <p:nvPr/>
        </p:nvSpPr>
        <p:spPr>
          <a:xfrm>
            <a:off x="8950404" y="3266361"/>
            <a:ext cx="2363311" cy="515064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26" name="Text: Q2 Launch"/>
          <p:cNvSpPr txBox="1"/>
          <p:nvPr/>
        </p:nvSpPr>
        <p:spPr>
          <a:xfrm>
            <a:off x="9034224" y="3315011"/>
            <a:ext cx="481171" cy="1560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768" dirty="0"/>
          </a:p>
        </p:txBody>
      </p:sp>
      <p:sp>
        <p:nvSpPr>
          <p:cNvPr id="127" name="Text: COMMENT"/>
          <p:cNvSpPr txBox="1"/>
          <p:nvPr/>
        </p:nvSpPr>
        <p:spPr>
          <a:xfrm>
            <a:off x="8947864" y="4031806"/>
            <a:ext cx="50553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COMMENT</a:t>
            </a:r>
            <a:endParaRPr lang="en-US" sz="704" dirty="0"/>
          </a:p>
        </p:txBody>
      </p:sp>
      <p:pic>
        <p:nvPicPr>
          <p:cNvPr id="128" name="Graph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6325" y="4095750"/>
            <a:ext cx="60325" cy="34925"/>
          </a:xfrm>
          <a:prstGeom prst="rect">
            <a:avLst/>
          </a:prstGeom>
          <a:ln>
            <a:noFill/>
          </a:ln>
        </p:spPr>
      </p:pic>
      <p:sp>
        <p:nvSpPr>
          <p:cNvPr id="129" name="Text: ⌘/ to focus · ⌘↵ to add"/>
          <p:cNvSpPr txBox="1"/>
          <p:nvPr/>
        </p:nvSpPr>
        <p:spPr>
          <a:xfrm>
            <a:off x="8947864" y="4894278"/>
            <a:ext cx="1171178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-3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⌘/ to focus · ⌘↵ to add</a:t>
            </a:r>
            <a:endParaRPr lang="en-US" sz="672" dirty="0"/>
          </a:p>
        </p:txBody>
      </p:sp>
      <p:sp>
        <p:nvSpPr>
          <p:cNvPr id="130" name="Rounded Rectangle"/>
          <p:cNvSpPr/>
          <p:nvPr/>
        </p:nvSpPr>
        <p:spPr>
          <a:xfrm>
            <a:off x="10522903" y="4860766"/>
            <a:ext cx="793353" cy="227568"/>
          </a:xfrm>
          <a:prstGeom prst="roundRect">
            <a:avLst>
              <a:gd name="adj" fmla="val 17858"/>
            </a:avLst>
          </a:prstGeom>
          <a:solidFill>
            <a:srgbClr val="DE3B3D">
              <a:alpha val="45000"/>
            </a:srgbClr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7200"/>
              </a:srgbClr>
            </a:outerShdw>
          </a:effectLst>
        </p:spPr>
      </p:sp>
      <p:sp>
        <p:nvSpPr>
          <p:cNvPr id="131" name="Text: Add comment"/>
          <p:cNvSpPr txBox="1"/>
          <p:nvPr/>
        </p:nvSpPr>
        <p:spPr>
          <a:xfrm>
            <a:off x="10604183" y="4887182"/>
            <a:ext cx="63079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FFFFFF">
                    <a:alpha val="45000"/>
                  </a:srgbClr>
                </a:solidFill>
                <a:latin typeface="Geist Variable"/>
                <a:ea typeface="Geist Variable"/>
                <a:cs typeface="Geist Variable"/>
              </a:rPr>
              <a:t>Add comment</a:t>
            </a:r>
            <a:endParaRPr lang="en-US" sz="768" dirty="0"/>
          </a:p>
        </p:txBody>
      </p:sp>
      <p:sp>
        <p:nvSpPr>
          <p:cNvPr id="132" name="Rounded Rectangle"/>
          <p:cNvSpPr/>
          <p:nvPr/>
        </p:nvSpPr>
        <p:spPr>
          <a:xfrm>
            <a:off x="8950404" y="4261882"/>
            <a:ext cx="2363311" cy="515064"/>
          </a:xfrm>
          <a:prstGeom prst="roundRect">
            <a:avLst>
              <a:gd name="adj" fmla="val 897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133" name="Text: Describe a change for the agent…"/>
          <p:cNvSpPr txBox="1"/>
          <p:nvPr/>
        </p:nvSpPr>
        <p:spPr>
          <a:xfrm>
            <a:off x="9034224" y="4310532"/>
            <a:ext cx="1468676" cy="15605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6B6B6B">
                    <a:alpha val="70000"/>
                  </a:srgbClr>
                </a:solidFill>
                <a:latin typeface="Geist Variable"/>
                <a:ea typeface="Geist Variable"/>
                <a:cs typeface="Geist Variable"/>
              </a:rPr>
              <a:t>Describe a change for the agent…</a:t>
            </a:r>
            <a:endParaRPr lang="en-US" sz="768" dirty="0"/>
          </a:p>
        </p:txBody>
      </p:sp>
      <p:sp>
        <p:nvSpPr>
          <p:cNvPr id="134" name="Text: SOURCE"/>
          <p:cNvSpPr txBox="1"/>
          <p:nvPr/>
        </p:nvSpPr>
        <p:spPr>
          <a:xfrm>
            <a:off x="8947864" y="5336175"/>
            <a:ext cx="40925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SOURCE</a:t>
            </a:r>
            <a:endParaRPr lang="en-US" sz="704" dirty="0"/>
          </a:p>
        </p:txBody>
      </p:sp>
      <p:pic>
        <p:nvPicPr>
          <p:cNvPr id="135" name="Graphi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36325" y="5394325"/>
            <a:ext cx="60325" cy="38100"/>
          </a:xfrm>
          <a:prstGeom prst="rect">
            <a:avLst/>
          </a:prstGeom>
          <a:ln>
            <a:noFill/>
          </a:ln>
        </p:spPr>
      </p:pic>
      <p:sp>
        <p:nvSpPr>
          <p:cNvPr id="136" name="Text: &lt;h1&gt; · 12:7"/>
          <p:cNvSpPr txBox="1"/>
          <p:nvPr/>
        </p:nvSpPr>
        <p:spPr>
          <a:xfrm>
            <a:off x="8947864" y="5557615"/>
            <a:ext cx="560149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-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&lt;h1&gt; · 12:7</a:t>
            </a:r>
            <a:endParaRPr lang="en-US" sz="672" dirty="0"/>
          </a:p>
        </p:txBody>
      </p:sp>
      <p:sp>
        <p:nvSpPr>
          <p:cNvPr id="137" name="Rounded Rectangle"/>
          <p:cNvSpPr/>
          <p:nvPr/>
        </p:nvSpPr>
        <p:spPr>
          <a:xfrm>
            <a:off x="10424081" y="5566251"/>
            <a:ext cx="889635" cy="143193"/>
          </a:xfrm>
          <a:prstGeom prst="roundRect">
            <a:avLst>
              <a:gd name="adj" fmla="val 15255"/>
            </a:avLst>
          </a:prstGeom>
          <a:solidFill>
            <a:srgbClr val="FFFFFF"/>
          </a:solidFill>
          <a:ln w="5080" cap="flat" cmpd="sng" algn="ctr">
            <a:solidFill>
              <a:srgbClr val="ECECEC"/>
            </a:solidFill>
            <a:miter lim="800000"/>
          </a:ln>
        </p:spPr>
      </p:sp>
      <p:sp>
        <p:nvSpPr>
          <p:cNvPr id="138" name="Text: Agent is watching"/>
          <p:cNvSpPr txBox="1"/>
          <p:nvPr/>
        </p:nvSpPr>
        <p:spPr>
          <a:xfrm>
            <a:off x="10572829" y="5562695"/>
            <a:ext cx="689610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-3" dirty="0">
                <a:solidFill>
                  <a:srgbClr val="0A0A0A">
                    <a:alpha val="85000"/>
                  </a:srgbClr>
                </a:solidFill>
                <a:latin typeface="Geist Variable"/>
                <a:ea typeface="Geist Variable"/>
                <a:cs typeface="Geist Variable"/>
              </a:rPr>
              <a:t>Agent is watching</a:t>
            </a:r>
            <a:endParaRPr lang="en-US" sz="672" dirty="0"/>
          </a:p>
        </p:txBody>
      </p:sp>
      <p:sp>
        <p:nvSpPr>
          <p:cNvPr id="139" name="Ellipse"/>
          <p:cNvSpPr/>
          <p:nvPr/>
        </p:nvSpPr>
        <p:spPr>
          <a:xfrm>
            <a:off x="10475357" y="5613479"/>
            <a:ext cx="48736" cy="487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40" name="Rounded Rectangle"/>
          <p:cNvSpPr/>
          <p:nvPr/>
        </p:nvSpPr>
        <p:spPr>
          <a:xfrm>
            <a:off x="2633980" y="2331958"/>
            <a:ext cx="5948680" cy="3346133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sp>
        <p:nvSpPr>
          <p:cNvPr id="141" name="Rectangle"/>
          <p:cNvSpPr/>
          <p:nvPr/>
        </p:nvSpPr>
        <p:spPr>
          <a:xfrm>
            <a:off x="2633980" y="2331958"/>
            <a:ext cx="5948680" cy="334613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2" name="Text: COVER"/>
          <p:cNvSpPr txBox="1"/>
          <p:nvPr/>
        </p:nvSpPr>
        <p:spPr>
          <a:xfrm>
            <a:off x="3129703" y="2812190"/>
            <a:ext cx="315007" cy="12083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4" spc="11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634" dirty="0"/>
          </a:p>
        </p:txBody>
      </p:sp>
      <p:sp>
        <p:nvSpPr>
          <p:cNvPr id="143" name="Text: What we're shipping, why it matters."/>
          <p:cNvSpPr txBox="1"/>
          <p:nvPr/>
        </p:nvSpPr>
        <p:spPr>
          <a:xfrm>
            <a:off x="3129703" y="4273335"/>
            <a:ext cx="2223252" cy="1840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3" spc="-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1073" dirty="0"/>
          </a:p>
        </p:txBody>
      </p:sp>
      <p:sp>
        <p:nvSpPr>
          <p:cNvPr id="144" name="Text: Q2 Launch"/>
          <p:cNvSpPr txBox="1"/>
          <p:nvPr/>
        </p:nvSpPr>
        <p:spPr>
          <a:xfrm>
            <a:off x="3129703" y="3713787"/>
            <a:ext cx="2629319" cy="5452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2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4" b="1" spc="-15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4294" dirty="0"/>
          </a:p>
        </p:txBody>
      </p:sp>
      <p:sp>
        <p:nvSpPr>
          <p:cNvPr id="145" name="Rectangle"/>
          <p:cNvSpPr/>
          <p:nvPr/>
        </p:nvSpPr>
        <p:spPr>
          <a:xfrm>
            <a:off x="3132802" y="3636331"/>
            <a:ext cx="2623123" cy="539099"/>
          </a:xfrm>
          <a:prstGeom prst="rect">
            <a:avLst/>
          </a:prstGeom>
          <a:noFill/>
          <a:ln w="6197" cap="flat" cmpd="sng" algn="ctr">
            <a:solidFill>
              <a:srgbClr val="3B82F6"/>
            </a:solidFill>
            <a:miter lim="800000"/>
          </a:ln>
        </p:spPr>
      </p:sp>
      <p:sp>
        <p:nvSpPr>
          <p:cNvPr id="146" name="Rectangle"/>
          <p:cNvSpPr/>
          <p:nvPr/>
        </p:nvSpPr>
        <p:spPr>
          <a:xfrm>
            <a:off x="4444339" y="3444383"/>
            <a:ext cx="8085" cy="195046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7" name="Ellipse"/>
          <p:cNvSpPr/>
          <p:nvPr/>
        </p:nvSpPr>
        <p:spPr>
          <a:xfrm>
            <a:off x="4398688" y="3366200"/>
            <a:ext cx="91302" cy="91302"/>
          </a:xfrm>
          <a:prstGeom prst="ellipse">
            <a:avLst/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48" name="Rounded Rectangle"/>
          <p:cNvSpPr/>
          <p:nvPr/>
        </p:nvSpPr>
        <p:spPr>
          <a:xfrm>
            <a:off x="3090249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49" name="Rounded Rectangle"/>
          <p:cNvSpPr/>
          <p:nvPr/>
        </p:nvSpPr>
        <p:spPr>
          <a:xfrm>
            <a:off x="4398688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0" name="Rounded Rectangle"/>
          <p:cNvSpPr/>
          <p:nvPr/>
        </p:nvSpPr>
        <p:spPr>
          <a:xfrm>
            <a:off x="5707175" y="3593778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1" name="Rounded Rectangle"/>
          <p:cNvSpPr/>
          <p:nvPr/>
        </p:nvSpPr>
        <p:spPr>
          <a:xfrm>
            <a:off x="5707175" y="3860229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2" name="Rounded Rectangle"/>
          <p:cNvSpPr/>
          <p:nvPr/>
        </p:nvSpPr>
        <p:spPr>
          <a:xfrm>
            <a:off x="5707175" y="4126680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3" name="Rounded Rectangle"/>
          <p:cNvSpPr/>
          <p:nvPr/>
        </p:nvSpPr>
        <p:spPr>
          <a:xfrm>
            <a:off x="4398688" y="4126680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4" name="Rounded Rectangle"/>
          <p:cNvSpPr/>
          <p:nvPr/>
        </p:nvSpPr>
        <p:spPr>
          <a:xfrm>
            <a:off x="3090249" y="4126680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5" name="Rounded Rectangle"/>
          <p:cNvSpPr/>
          <p:nvPr/>
        </p:nvSpPr>
        <p:spPr>
          <a:xfrm>
            <a:off x="3090249" y="3860229"/>
            <a:ext cx="91302" cy="91302"/>
          </a:xfrm>
          <a:prstGeom prst="roundRect">
            <a:avLst>
              <a:gd name="adj" fmla="val 14411"/>
            </a:avLst>
          </a:prstGeom>
          <a:solidFill>
            <a:srgbClr val="FFFFFF"/>
          </a:solidFill>
          <a:ln w="6197" cap="flat" cmpd="sng" algn="ctr">
            <a:solidFill>
              <a:srgbClr val="3B82F6"/>
            </a:solidFill>
            <a:miter lim="800000"/>
          </a:ln>
          <a:effectLst>
            <a:outerShdw blurRad="33317" dist="16659" dir="5400000" sx="100000" sy="100000" algn="ctr" rotWithShape="0">
              <a:srgbClr val="000000">
                <a:alpha val="8000"/>
              </a:srgbClr>
            </a:outerShdw>
          </a:effectLst>
        </p:spPr>
      </p:sp>
      <p:sp>
        <p:nvSpPr>
          <p:cNvPr id="156" name="Text: ACME · PRODUCT"/>
          <p:cNvSpPr txBox="1"/>
          <p:nvPr/>
        </p:nvSpPr>
        <p:spPr>
          <a:xfrm>
            <a:off x="3129703" y="5120403"/>
            <a:ext cx="710037" cy="1115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6" spc="4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586" dirty="0"/>
          </a:p>
        </p:txBody>
      </p:sp>
      <p:sp>
        <p:nvSpPr>
          <p:cNvPr id="157" name="Text: 01 / 06"/>
          <p:cNvSpPr txBox="1"/>
          <p:nvPr/>
        </p:nvSpPr>
        <p:spPr>
          <a:xfrm>
            <a:off x="7731847" y="5120403"/>
            <a:ext cx="355091" cy="1115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6" spc="4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586" dirty="0"/>
          </a:p>
        </p:txBody>
      </p:sp>
      <p:sp>
        <p:nvSpPr>
          <p:cNvPr id="158" name="Rounded Rectangle"/>
          <p:cNvSpPr/>
          <p:nvPr/>
        </p:nvSpPr>
        <p:spPr>
          <a:xfrm>
            <a:off x="6100604" y="4387929"/>
            <a:ext cx="2595880" cy="970042"/>
          </a:xfrm>
          <a:prstGeom prst="roundRect">
            <a:avLst>
              <a:gd name="adj" fmla="val 6441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  <a:effectLst>
            <a:outerShdw blurRad="0" dist="0" dir="0" sx="100489" sy="101309" algn="ctr" rotWithShape="0">
              <a:srgbClr val="000000">
                <a:alpha val="8000"/>
              </a:srgbClr>
            </a:outerShdw>
          </a:effectLst>
        </p:spPr>
      </p:sp>
      <p:sp>
        <p:nvSpPr>
          <p:cNvPr id="159" name="Border"/>
          <p:cNvSpPr/>
          <p:nvPr/>
        </p:nvSpPr>
        <p:spPr>
          <a:xfrm>
            <a:off x="6103144" y="4666774"/>
            <a:ext cx="2590800" cy="508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60" name="Text: 1 comment"/>
          <p:cNvSpPr txBox="1"/>
          <p:nvPr/>
        </p:nvSpPr>
        <p:spPr>
          <a:xfrm>
            <a:off x="6200616" y="4441254"/>
            <a:ext cx="49871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b="1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 comment</a:t>
            </a:r>
            <a:endParaRPr lang="en-US" sz="768" dirty="0"/>
          </a:p>
        </p:txBody>
      </p:sp>
      <p:pic>
        <p:nvPicPr>
          <p:cNvPr id="161" name="Graphi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5825" y="4492625"/>
            <a:ext cx="69850" cy="69850"/>
          </a:xfrm>
          <a:prstGeom prst="rect">
            <a:avLst/>
          </a:prstGeom>
          <a:ln>
            <a:noFill/>
          </a:ln>
        </p:spPr>
      </p:pic>
      <p:sp>
        <p:nvSpPr>
          <p:cNvPr id="162" name="Text: line 12"/>
          <p:cNvSpPr txBox="1"/>
          <p:nvPr/>
        </p:nvSpPr>
        <p:spPr>
          <a:xfrm>
            <a:off x="6200616" y="4721622"/>
            <a:ext cx="339725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" spc="-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line 12</a:t>
            </a:r>
            <a:endParaRPr lang="en-US" sz="640" dirty="0"/>
          </a:p>
        </p:txBody>
      </p:sp>
      <p:sp>
        <p:nvSpPr>
          <p:cNvPr id="163" name="Text: Use the accent color on this title"/>
          <p:cNvSpPr txBox="1"/>
          <p:nvPr/>
        </p:nvSpPr>
        <p:spPr>
          <a:xfrm>
            <a:off x="6200616" y="4860750"/>
            <a:ext cx="1429861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Use the accent color on this title</a:t>
            </a:r>
            <a:endParaRPr lang="en-US" sz="768" dirty="0"/>
          </a:p>
        </p:txBody>
      </p:sp>
      <p:pic>
        <p:nvPicPr>
          <p:cNvPr id="164" name="Graphic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5025" y="4775200"/>
            <a:ext cx="98425" cy="104775"/>
          </a:xfrm>
          <a:prstGeom prst="rect">
            <a:avLst/>
          </a:prstGeom>
          <a:ln>
            <a:noFill/>
          </a:ln>
        </p:spPr>
      </p:pic>
      <p:sp>
        <p:nvSpPr>
          <p:cNvPr id="165" name="Border"/>
          <p:cNvSpPr/>
          <p:nvPr/>
        </p:nvSpPr>
        <p:spPr>
          <a:xfrm>
            <a:off x="6103144" y="5086271"/>
            <a:ext cx="2590800" cy="508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66" name="Rounded Rectangle"/>
          <p:cNvSpPr/>
          <p:nvPr/>
        </p:nvSpPr>
        <p:spPr>
          <a:xfrm>
            <a:off x="6383893" y="5155406"/>
            <a:ext cx="865981" cy="133985"/>
          </a:xfrm>
          <a:prstGeom prst="roundRect">
            <a:avLst>
              <a:gd name="adj" fmla="val 18199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167" name="Text: Run  /apply-comments  in your agent to a"/>
          <p:cNvSpPr txBox="1"/>
          <p:nvPr/>
        </p:nvSpPr>
        <p:spPr>
          <a:xfrm>
            <a:off x="6200616" y="5144167"/>
            <a:ext cx="2216150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Run </a:t>
            </a: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/apply-comments</a:t>
            </a: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 in your agent to apply these.</a:t>
            </a:r>
            <a:endParaRPr lang="en-US" sz="704" dirty="0"/>
          </a:p>
        </p:txBody>
      </p:sp>
      <p:sp>
        <p:nvSpPr>
          <p:cNvPr id="168" name="Rounded Rectangle"/>
          <p:cNvSpPr/>
          <p:nvPr/>
        </p:nvSpPr>
        <p:spPr>
          <a:xfrm>
            <a:off x="8236188" y="5428059"/>
            <a:ext cx="460296" cy="281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pic>
        <p:nvPicPr>
          <p:cNvPr id="169" name="Graphic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0725" y="5511800"/>
            <a:ext cx="120650" cy="114300"/>
          </a:xfrm>
          <a:prstGeom prst="rect">
            <a:avLst/>
          </a:prstGeom>
          <a:ln>
            <a:noFill/>
          </a:ln>
        </p:spPr>
      </p:pic>
      <p:sp>
        <p:nvSpPr>
          <p:cNvPr id="170" name="Text: 0"/>
          <p:cNvSpPr txBox="1"/>
          <p:nvPr/>
        </p:nvSpPr>
        <p:spPr>
          <a:xfrm>
            <a:off x="8531225" y="5424202"/>
            <a:ext cx="65246" cy="975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0</a:t>
            </a:r>
            <a:endParaRPr lang="en-US" sz="768" dirty="0"/>
          </a:p>
        </p:txBody>
      </p:sp>
      <p:sp>
        <p:nvSpPr>
          <p:cNvPr id="171" name="Text: 1"/>
          <p:cNvSpPr txBox="1"/>
          <p:nvPr/>
        </p:nvSpPr>
        <p:spPr>
          <a:xfrm>
            <a:off x="8531225" y="5521674"/>
            <a:ext cx="39211" cy="975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</a:t>
            </a:r>
            <a:endParaRPr lang="en-US" sz="768" dirty="0"/>
          </a:p>
        </p:txBody>
      </p:sp>
      <p:pic>
        <p:nvPicPr>
          <p:cNvPr id="172" name="Graphi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2000" y="4949825"/>
            <a:ext cx="155575" cy="155575"/>
          </a:xfrm>
          <a:prstGeom prst="rect">
            <a:avLst/>
          </a:prstGeom>
          <a:ln>
            <a:noFill/>
          </a:ln>
        </p:spPr>
      </p:pic>
      <p:pic>
        <p:nvPicPr>
          <p:cNvPr id="173" name="Graphic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0" y="1936750"/>
            <a:ext cx="44450" cy="76200"/>
          </a:xfrm>
          <a:prstGeom prst="rect">
            <a:avLst/>
          </a:prstGeom>
          <a:ln>
            <a:noFill/>
          </a:ln>
        </p:spPr>
      </p:pic>
      <p:sp>
        <p:nvSpPr>
          <p:cNvPr id="174" name="Rectangle"/>
          <p:cNvSpPr/>
          <p:nvPr/>
        </p:nvSpPr>
        <p:spPr>
          <a:xfrm>
            <a:off x="1168241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75" name="Rounded Rectangle"/>
          <p:cNvSpPr/>
          <p:nvPr/>
        </p:nvSpPr>
        <p:spPr>
          <a:xfrm>
            <a:off x="1254522" y="1859280"/>
            <a:ext cx="944959" cy="227568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76" name="Rounded Rectangle"/>
          <p:cNvSpPr/>
          <p:nvPr/>
        </p:nvSpPr>
        <p:spPr>
          <a:xfrm>
            <a:off x="1270714" y="1875472"/>
            <a:ext cx="440373" cy="189944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884" sy="106686" algn="ctr" rotWithShape="0">
              <a:srgbClr val="000000">
                <a:alpha val="6000"/>
              </a:srgbClr>
            </a:outerShdw>
          </a:effectLst>
        </p:spPr>
      </p:sp>
      <p:sp>
        <p:nvSpPr>
          <p:cNvPr id="177" name="Text: Slides"/>
          <p:cNvSpPr txBox="1"/>
          <p:nvPr/>
        </p:nvSpPr>
        <p:spPr>
          <a:xfrm>
            <a:off x="1351994" y="1883077"/>
            <a:ext cx="27781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768" dirty="0"/>
          </a:p>
        </p:txBody>
      </p:sp>
      <p:sp>
        <p:nvSpPr>
          <p:cNvPr id="178" name="Text: Assets"/>
          <p:cNvSpPr txBox="1"/>
          <p:nvPr/>
        </p:nvSpPr>
        <p:spPr>
          <a:xfrm>
            <a:off x="1792367" y="1883077"/>
            <a:ext cx="309642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768" dirty="0"/>
          </a:p>
        </p:txBody>
      </p:sp>
      <p:sp>
        <p:nvSpPr>
          <p:cNvPr id="179" name="Rounded Rectangle"/>
          <p:cNvSpPr/>
          <p:nvPr/>
        </p:nvSpPr>
        <p:spPr>
          <a:xfrm>
            <a:off x="2267029" y="1894284"/>
            <a:ext cx="857726" cy="157480"/>
          </a:xfrm>
          <a:prstGeom prst="roundRect">
            <a:avLst>
              <a:gd name="adj" fmla="val 13871"/>
            </a:avLst>
          </a:prstGeom>
          <a:solidFill>
            <a:srgbClr val="FFFFFF"/>
          </a:solidFill>
          <a:ln w="5080" cap="flat" cmpd="sng" algn="ctr">
            <a:solidFill>
              <a:srgbClr val="ECECEC"/>
            </a:solidFill>
            <a:miter lim="800000"/>
          </a:ln>
        </p:spPr>
      </p:sp>
      <p:sp>
        <p:nvSpPr>
          <p:cNvPr id="180" name="Text: Agent connected"/>
          <p:cNvSpPr txBox="1"/>
          <p:nvPr/>
        </p:nvSpPr>
        <p:spPr>
          <a:xfrm>
            <a:off x="2415778" y="1897872"/>
            <a:ext cx="657701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-3" dirty="0">
                <a:solidFill>
                  <a:srgbClr val="0A0A0A">
                    <a:alpha val="85000"/>
                  </a:srgbClr>
                </a:solidFill>
                <a:latin typeface="Geist Variable"/>
                <a:ea typeface="Geist Variable"/>
                <a:cs typeface="Geist Variable"/>
              </a:rPr>
              <a:t>Agent connected</a:t>
            </a:r>
            <a:endParaRPr lang="en-US" sz="672" dirty="0"/>
          </a:p>
        </p:txBody>
      </p:sp>
      <p:sp>
        <p:nvSpPr>
          <p:cNvPr id="181" name="Ellipse"/>
          <p:cNvSpPr/>
          <p:nvPr/>
        </p:nvSpPr>
        <p:spPr>
          <a:xfrm>
            <a:off x="2318306" y="1948656"/>
            <a:ext cx="48736" cy="487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82" name="Text: Q2 Launch"/>
          <p:cNvSpPr txBox="1"/>
          <p:nvPr/>
        </p:nvSpPr>
        <p:spPr>
          <a:xfrm>
            <a:off x="5819140" y="1878600"/>
            <a:ext cx="553641" cy="1645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4" b="1" spc="-9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864" dirty="0"/>
          </a:p>
        </p:txBody>
      </p:sp>
      <p:sp>
        <p:nvSpPr>
          <p:cNvPr id="183" name="Rectangle"/>
          <p:cNvSpPr/>
          <p:nvPr/>
        </p:nvSpPr>
        <p:spPr>
          <a:xfrm>
            <a:off x="8224996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184" name="Graphic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1200" y="1939925"/>
            <a:ext cx="120650" cy="69850"/>
          </a:xfrm>
          <a:prstGeom prst="rect">
            <a:avLst/>
          </a:prstGeom>
          <a:ln>
            <a:noFill/>
          </a:ln>
        </p:spPr>
      </p:pic>
      <p:pic>
        <p:nvPicPr>
          <p:cNvPr id="185" name="Graphi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94725" y="1920875"/>
            <a:ext cx="111125" cy="111125"/>
          </a:xfrm>
          <a:prstGeom prst="rect">
            <a:avLst/>
          </a:prstGeom>
          <a:ln>
            <a:noFill/>
          </a:ln>
        </p:spPr>
      </p:pic>
      <p:sp>
        <p:nvSpPr>
          <p:cNvPr id="186" name="Text: Design"/>
          <p:cNvSpPr txBox="1"/>
          <p:nvPr/>
        </p:nvSpPr>
        <p:spPr>
          <a:xfrm>
            <a:off x="9042559" y="1885617"/>
            <a:ext cx="314325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75000"/>
                  </a:srgbClr>
                </a:solidFill>
                <a:latin typeface="Geist Variable"/>
                <a:ea typeface="Geist Variable"/>
                <a:cs typeface="Geist Variable"/>
              </a:rPr>
              <a:t>Design</a:t>
            </a:r>
            <a:endParaRPr lang="en-US" sz="768" dirty="0"/>
          </a:p>
        </p:txBody>
      </p:sp>
      <p:pic>
        <p:nvPicPr>
          <p:cNvPr id="187" name="Graphic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868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88" name="Rounded Rectangle"/>
          <p:cNvSpPr/>
          <p:nvPr/>
        </p:nvSpPr>
        <p:spPr>
          <a:xfrm>
            <a:off x="9438084" y="1916033"/>
            <a:ext cx="114538" cy="113824"/>
          </a:xfrm>
          <a:prstGeom prst="roundRect">
            <a:avLst>
              <a:gd name="adj" fmla="val 21423"/>
            </a:avLst>
          </a:prstGeom>
          <a:solidFill>
            <a:srgbClr val="0A0A0A">
              <a:alpha val="10000"/>
            </a:srgbClr>
          </a:solidFill>
          <a:ln>
            <a:noFill/>
          </a:ln>
        </p:spPr>
      </p:sp>
      <p:sp>
        <p:nvSpPr>
          <p:cNvPr id="189" name="Text: D"/>
          <p:cNvSpPr txBox="1"/>
          <p:nvPr/>
        </p:nvSpPr>
        <p:spPr>
          <a:xfrm>
            <a:off x="9470549" y="1903841"/>
            <a:ext cx="49609" cy="113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24" dirty="0">
                <a:solidFill>
                  <a:srgbClr val="0A0A0A">
                    <a:alpha val="75000"/>
                  </a:srgbClr>
                </a:solidFill>
                <a:latin typeface="Courier New"/>
                <a:ea typeface="Courier New"/>
                <a:cs typeface="Courier New"/>
              </a:rPr>
              <a:t>D</a:t>
            </a:r>
            <a:endParaRPr lang="en-US" sz="608" dirty="0"/>
          </a:p>
        </p:txBody>
      </p:sp>
      <p:sp>
        <p:nvSpPr>
          <p:cNvPr id="190" name="Rounded Rectangle"/>
          <p:cNvSpPr/>
          <p:nvPr/>
        </p:nvSpPr>
        <p:spPr>
          <a:xfrm>
            <a:off x="9666367" y="1859201"/>
            <a:ext cx="644684" cy="227568"/>
          </a:xfrm>
          <a:prstGeom prst="roundRect">
            <a:avLst>
              <a:gd name="adj" fmla="val 17858"/>
            </a:avLst>
          </a:prstGeom>
          <a:solidFill>
            <a:srgbClr val="F4F4F4"/>
          </a:solidFill>
          <a:ln>
            <a:noFill/>
          </a:ln>
        </p:spPr>
      </p:sp>
      <p:sp>
        <p:nvSpPr>
          <p:cNvPr id="191" name="Text: Format"/>
          <p:cNvSpPr txBox="1"/>
          <p:nvPr/>
        </p:nvSpPr>
        <p:spPr>
          <a:xfrm>
            <a:off x="9910128" y="1885617"/>
            <a:ext cx="31964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Format</a:t>
            </a:r>
            <a:endParaRPr lang="en-US" sz="768" dirty="0"/>
          </a:p>
        </p:txBody>
      </p:sp>
      <p:pic>
        <p:nvPicPr>
          <p:cNvPr id="192" name="Graphic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56775" y="1924050"/>
            <a:ext cx="98425" cy="95250"/>
          </a:xfrm>
          <a:prstGeom prst="rect">
            <a:avLst/>
          </a:prstGeom>
          <a:ln>
            <a:noFill/>
          </a:ln>
        </p:spPr>
      </p:pic>
      <p:sp>
        <p:nvSpPr>
          <p:cNvPr id="193" name="Rectangle"/>
          <p:cNvSpPr/>
          <p:nvPr/>
        </p:nvSpPr>
        <p:spPr>
          <a:xfrm>
            <a:off x="10359708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94" name="Rounded Rectangle"/>
          <p:cNvSpPr/>
          <p:nvPr/>
        </p:nvSpPr>
        <p:spPr>
          <a:xfrm>
            <a:off x="10413444" y="1859201"/>
            <a:ext cx="707866" cy="227568"/>
          </a:xfrm>
          <a:custGeom>
            <a:avLst/>
            <a:gdLst/>
            <a:ahLst/>
            <a:cxnLst/>
            <a:rect l="0" t="0" r="r" b="b"/>
            <a:pathLst>
              <a:path w="707866" h="227568">
                <a:moveTo>
                  <a:pt x="50800" y="0"/>
                </a:moveTo>
                <a:lnTo>
                  <a:pt x="707866" y="0"/>
                </a:lnTo>
                <a:lnTo>
                  <a:pt x="707866" y="227568"/>
                </a:lnTo>
                <a:lnTo>
                  <a:pt x="50800" y="227568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sp>
        <p:nvSpPr>
          <p:cNvPr id="195" name="Text: Present"/>
          <p:cNvSpPr txBox="1"/>
          <p:nvPr/>
        </p:nvSpPr>
        <p:spPr>
          <a:xfrm>
            <a:off x="10673398" y="1885617"/>
            <a:ext cx="350441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FFFFFF"/>
                </a:solidFill>
                <a:latin typeface="Geist Variable"/>
                <a:ea typeface="Geist Variable"/>
                <a:cs typeface="Geist Variable"/>
              </a:rPr>
              <a:t>Present</a:t>
            </a:r>
            <a:endParaRPr lang="en-US" sz="768" dirty="0"/>
          </a:p>
        </p:txBody>
      </p:sp>
      <p:pic>
        <p:nvPicPr>
          <p:cNvPr id="196" name="Graphic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31475" y="1924050"/>
            <a:ext cx="88900" cy="95250"/>
          </a:xfrm>
          <a:prstGeom prst="rect">
            <a:avLst/>
          </a:prstGeom>
          <a:ln>
            <a:noFill/>
          </a:ln>
        </p:spPr>
      </p:pic>
      <p:sp>
        <p:nvSpPr>
          <p:cNvPr id="197" name="Rounded Rectangle"/>
          <p:cNvSpPr/>
          <p:nvPr/>
        </p:nvSpPr>
        <p:spPr>
          <a:xfrm>
            <a:off x="11121311" y="1859201"/>
            <a:ext cx="211217" cy="227568"/>
          </a:xfrm>
          <a:custGeom>
            <a:avLst/>
            <a:gdLst/>
            <a:ahLst/>
            <a:cxnLst/>
            <a:rect l="0" t="0" r="r" b="b"/>
            <a:pathLst>
              <a:path w="211217" h="227568">
                <a:moveTo>
                  <a:pt x="0" y="0"/>
                </a:moveTo>
                <a:lnTo>
                  <a:pt x="160417" y="0"/>
                </a:lnTo>
                <a:arcTo wR="50800" hR="50800" stAng="16200000" swAng="5400000"/>
                <a:lnTo>
                  <a:pt x="211217" y="176768"/>
                </a:lnTo>
                <a:arcTo wR="50800" hR="50800" stAng="0" swAng="5400000"/>
                <a:lnTo>
                  <a:pt x="0" y="227568"/>
                </a:lnTo>
                <a:lnTo>
                  <a:pt x="0" y="0"/>
                </a:lnTo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98" name="Graphic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91875" y="1952625"/>
            <a:ext cx="69850" cy="41275"/>
          </a:xfrm>
          <a:prstGeom prst="rect">
            <a:avLst/>
          </a:prstGeom>
          <a:ln>
            <a:noFill/>
          </a:ln>
        </p:spPr>
      </p:pic>
      <p:sp>
        <p:nvSpPr>
          <p:cNvPr id="199" name="Rounded Rectangle"/>
          <p:cNvSpPr/>
          <p:nvPr/>
        </p:nvSpPr>
        <p:spPr>
          <a:xfrm>
            <a:off x="7616269" y="1845548"/>
            <a:ext cx="557530" cy="254953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508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200" name="Rounded Rectangle"/>
          <p:cNvSpPr/>
          <p:nvPr/>
        </p:nvSpPr>
        <p:spPr>
          <a:xfrm>
            <a:off x="7895114" y="1864281"/>
            <a:ext cx="260033" cy="217408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4884" sy="105842" algn="ctr" rotWithShape="0">
              <a:srgbClr val="000000">
                <a:alpha val="6000"/>
              </a:srgbClr>
            </a:outerShdw>
          </a:effectLst>
        </p:spPr>
      </p:sp>
      <p:pic>
        <p:nvPicPr>
          <p:cNvPr id="201" name="Graphic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08900" y="1933575"/>
            <a:ext cx="107950" cy="76200"/>
          </a:xfrm>
          <a:prstGeom prst="rect">
            <a:avLst/>
          </a:prstGeom>
          <a:ln>
            <a:noFill/>
          </a:ln>
        </p:spPr>
      </p:pic>
      <p:pic>
        <p:nvPicPr>
          <p:cNvPr id="202" name="Graphic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724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203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204" name="Text: 07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4 · Apply"/>
          <p:cNvSpPr txBox="1"/>
          <p:nvPr/>
        </p:nvSpPr>
        <p:spPr>
          <a:xfrm>
            <a:off x="939800" y="615950"/>
            <a:ext cx="642541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04 · Apply</a:t>
            </a:r>
            <a:endParaRPr lang="en-US" sz="1100" dirty="0"/>
          </a:p>
        </p:txBody>
      </p:sp>
      <p:sp>
        <p:nvSpPr>
          <p:cNvPr id="4" name="Text: The agent applies it."/>
          <p:cNvSpPr txBox="1"/>
          <p:nvPr/>
        </p:nvSpPr>
        <p:spPr>
          <a:xfrm>
            <a:off x="762000" y="921766"/>
            <a:ext cx="3549948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agent applies it.</a:t>
            </a:r>
            <a:endParaRPr lang="en-US" sz="3200" dirty="0"/>
          </a:p>
        </p:txBody>
      </p:sp>
      <p:sp>
        <p:nvSpPr>
          <p:cNvPr id="5" name="Text: Run /apply-comments. The agent reads eac"/>
          <p:cNvSpPr txBox="1"/>
          <p:nvPr/>
        </p:nvSpPr>
        <p:spPr>
          <a:xfrm>
            <a:off x="762000" y="1405334"/>
            <a:ext cx="7550745" cy="4786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Run /apply-comments. The agent reads each marker, edits exactly what you flagged, and removes the</a:t>
            </a:r>
            <a:br>
              <a:rPr lang="en-US" sz="1300"/>
            </a:b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marker.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4826000" cy="38354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263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762000" y="2330450"/>
            <a:ext cx="4826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889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009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1130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claude · ~/my-deck"/>
          <p:cNvSpPr txBox="1"/>
          <p:nvPr/>
        </p:nvSpPr>
        <p:spPr>
          <a:xfrm>
            <a:off x="2580283" y="2065338"/>
            <a:ext cx="1189335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claude · ~/my-deck</a:t>
            </a:r>
            <a:endParaRPr lang="en-US" sz="850" dirty="0"/>
          </a:p>
        </p:txBody>
      </p:sp>
      <p:sp>
        <p:nvSpPr>
          <p:cNvPr id="12" name="Text: ›"/>
          <p:cNvSpPr txBox="1"/>
          <p:nvPr/>
        </p:nvSpPr>
        <p:spPr>
          <a:xfrm>
            <a:off x="990600" y="2482215"/>
            <a:ext cx="166191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› </a:t>
            </a:r>
            <a:endParaRPr lang="en-US" sz="1100" dirty="0"/>
          </a:p>
        </p:txBody>
      </p:sp>
      <p:sp>
        <p:nvSpPr>
          <p:cNvPr id="13" name="Text: /apply-comments"/>
          <p:cNvSpPr txBox="1"/>
          <p:nvPr/>
        </p:nvSpPr>
        <p:spPr>
          <a:xfrm>
            <a:off x="1156791" y="2482215"/>
            <a:ext cx="1246386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/apply-comments</a:t>
            </a:r>
            <a:endParaRPr lang="en-US" sz="1100" dirty="0"/>
          </a:p>
        </p:txBody>
      </p:sp>
      <p:sp>
        <p:nvSpPr>
          <p:cNvPr id="14" name="Text"/>
          <p:cNvSpPr txBox="1"/>
          <p:nvPr/>
        </p:nvSpPr>
        <p:spPr>
          <a:xfrm>
            <a:off x="990600" y="2705656"/>
            <a:ext cx="83145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00" dirty="0"/>
          </a:p>
        </p:txBody>
      </p:sp>
      <p:sp>
        <p:nvSpPr>
          <p:cNvPr id="15" name="Text: 1 comment found. Applying…"/>
          <p:cNvSpPr txBox="1"/>
          <p:nvPr/>
        </p:nvSpPr>
        <p:spPr>
          <a:xfrm>
            <a:off x="990600" y="2929096"/>
            <a:ext cx="2160389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1 comment found. Applying…</a:t>
            </a:r>
            <a:endParaRPr lang="en-US" sz="1100" dirty="0"/>
          </a:p>
        </p:txBody>
      </p:sp>
      <p:sp>
        <p:nvSpPr>
          <p:cNvPr id="16" name="Rounded Rectangle"/>
          <p:cNvSpPr/>
          <p:nvPr/>
        </p:nvSpPr>
        <p:spPr>
          <a:xfrm>
            <a:off x="990600" y="3273822"/>
            <a:ext cx="4368800" cy="975122"/>
          </a:xfrm>
          <a:prstGeom prst="roundRect">
            <a:avLst>
              <a:gd name="adj" fmla="val 5210"/>
            </a:avLst>
          </a:prstGeom>
          <a:solidFill>
            <a:srgbClr val="F7F7F7"/>
          </a:solidFill>
          <a:ln>
            <a:noFill/>
          </a:ln>
        </p:spPr>
      </p:sp>
      <p:sp>
        <p:nvSpPr>
          <p:cNvPr id="17" name="Text: 11    &lt; section &gt;"/>
          <p:cNvSpPr txBox="1"/>
          <p:nvPr/>
        </p:nvSpPr>
        <p:spPr>
          <a:xfrm>
            <a:off x="1117600" y="3347482"/>
            <a:ext cx="931168" cy="193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11 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lang="en-US" sz="9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section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endParaRPr lang="en-US" sz="950" dirty="0"/>
          </a:p>
        </p:txBody>
      </p:sp>
      <p:sp>
        <p:nvSpPr>
          <p:cNvPr id="18" name="Text: 13      &lt; h1  style ={{  color :   ''   "/>
          <p:cNvSpPr txBox="1"/>
          <p:nvPr/>
        </p:nvSpPr>
        <p:spPr>
          <a:xfrm>
            <a:off x="1117600" y="3733443"/>
            <a:ext cx="3796506" cy="193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13 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  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</a:t>
            </a:r>
            <a:r>
              <a:rPr lang="en-US" sz="9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h1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style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={{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color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9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''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}}&gt;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Q2 Launch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&lt;/</a:t>
            </a:r>
            <a:r>
              <a:rPr lang="en-US" sz="9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h1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endParaRPr lang="en-US" sz="950" dirty="0"/>
          </a:p>
        </p:txBody>
      </p:sp>
      <p:sp>
        <p:nvSpPr>
          <p:cNvPr id="19" name="Text: #0a0a0a"/>
          <p:cNvSpPr txBox="1"/>
          <p:nvPr/>
        </p:nvSpPr>
        <p:spPr>
          <a:xfrm>
            <a:off x="3051770" y="3675757"/>
            <a:ext cx="501352" cy="120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#0a0a0a</a:t>
            </a:r>
            <a:endParaRPr lang="en-US" sz="950" dirty="0"/>
          </a:p>
        </p:txBody>
      </p:sp>
      <p:sp>
        <p:nvSpPr>
          <p:cNvPr id="20" name="Text: #de3b3d"/>
          <p:cNvSpPr txBox="1"/>
          <p:nvPr/>
        </p:nvSpPr>
        <p:spPr>
          <a:xfrm>
            <a:off x="3051770" y="3796407"/>
            <a:ext cx="501352" cy="120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#de3b3d</a:t>
            </a:r>
            <a:endParaRPr lang="en-US" sz="950" dirty="0"/>
          </a:p>
        </p:txBody>
      </p:sp>
      <p:sp>
        <p:nvSpPr>
          <p:cNvPr id="21" name="Text: 14    &lt;/ section &gt;"/>
          <p:cNvSpPr txBox="1"/>
          <p:nvPr/>
        </p:nvSpPr>
        <p:spPr>
          <a:xfrm>
            <a:off x="1117600" y="3926423"/>
            <a:ext cx="1002804" cy="193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14 </a:t>
            </a:r>
            <a:r>
              <a:rPr lang="en-US" sz="9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&lt;/</a:t>
            </a:r>
            <a:r>
              <a:rPr lang="en-US" sz="9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section</a:t>
            </a:r>
            <a:r>
              <a:rPr lang="en-US" sz="9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&gt;</a:t>
            </a:r>
            <a:endParaRPr lang="en-US" sz="950" dirty="0"/>
          </a:p>
        </p:txBody>
      </p:sp>
      <p:sp>
        <p:nvSpPr>
          <p:cNvPr id="22" name="Text: 12  {/*  @slide-comment  id= &quot;c-a1b2c3d4"/>
          <p:cNvSpPr txBox="1"/>
          <p:nvPr/>
        </p:nvSpPr>
        <p:spPr>
          <a:xfrm>
            <a:off x="1117600" y="3540462"/>
            <a:ext cx="5944989" cy="1930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trike="sngStrike" spc="-8" dirty="0">
                <a:solidFill>
                  <a:srgbClr val="A3A3A3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12 </a:t>
            </a:r>
            <a:r>
              <a:rPr lang="en-US" sz="950" strike="sngStrike" spc="-8" dirty="0">
                <a:solidFill>
                  <a:srgbClr val="404040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{/* </a:t>
            </a:r>
            <a:r>
              <a:rPr lang="en-US" sz="950" strike="sngStrike" spc="-8" dirty="0">
                <a:solidFill>
                  <a:srgbClr val="B3383A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@slide-comment</a:t>
            </a:r>
            <a:r>
              <a:rPr lang="en-US" sz="950" strike="sngStrike" spc="-8" dirty="0">
                <a:solidFill>
                  <a:srgbClr val="404040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 id=</a:t>
            </a:r>
            <a:r>
              <a:rPr lang="en-US" sz="950" strike="sngStrike" spc="-8" dirty="0">
                <a:solidFill>
                  <a:srgbClr val="8A6A24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"c-a1b2c3d4"</a:t>
            </a:r>
            <a:r>
              <a:rPr lang="en-US" sz="950" strike="sngStrike" spc="-8" dirty="0">
                <a:solidFill>
                  <a:srgbClr val="404040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 text=</a:t>
            </a:r>
            <a:r>
              <a:rPr lang="en-US" sz="950" strike="sngStrike" spc="-8" dirty="0">
                <a:solidFill>
                  <a:srgbClr val="8A6A24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"Use the accent color on this title"</a:t>
            </a:r>
            <a:r>
              <a:rPr lang="en-US" sz="950" strike="sngStrike" spc="-8" dirty="0">
                <a:solidFill>
                  <a:srgbClr val="404040">
                    <a:alpha val="40000"/>
                  </a:srgbClr>
                </a:solidFill>
                <a:latin typeface="Courier New"/>
                <a:ea typeface="Courier New"/>
                <a:cs typeface="Courier New"/>
              </a:rPr>
              <a:t> */}</a:t>
            </a:r>
            <a:endParaRPr lang="en-US" sz="950" dirty="0"/>
          </a:p>
        </p:txBody>
      </p:sp>
      <p:sp>
        <p:nvSpPr>
          <p:cNvPr id="23" name="Text: edit   slides/q2-launch/index.tsx"/>
          <p:cNvSpPr txBox="1"/>
          <p:nvPr/>
        </p:nvSpPr>
        <p:spPr>
          <a:xfrm>
            <a:off x="990600" y="4330859"/>
            <a:ext cx="2575917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edit</a:t>
            </a:r>
            <a:r>
              <a:rPr lang="en-US" sz="110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slides/q2-launch/index.tsx</a:t>
            </a:r>
            <a:endParaRPr lang="en-US" sz="1100" dirty="0"/>
          </a:p>
        </p:txBody>
      </p:sp>
      <p:sp>
        <p:nvSpPr>
          <p:cNvPr id="24" name="Text: ✓  1 comment applied"/>
          <p:cNvSpPr txBox="1"/>
          <p:nvPr/>
        </p:nvSpPr>
        <p:spPr>
          <a:xfrm>
            <a:off x="990600" y="4554299"/>
            <a:ext cx="1578769" cy="2165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1F9E6E"/>
                </a:solidFill>
                <a:latin typeface="Courier New"/>
                <a:ea typeface="Courier New"/>
                <a:cs typeface="Courier New"/>
              </a:rPr>
              <a:t>✓ </a:t>
            </a: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 comment applied</a:t>
            </a:r>
            <a:endParaRPr lang="en-US" sz="1100" dirty="0"/>
          </a:p>
        </p:txBody>
      </p:sp>
      <p:sp>
        <p:nvSpPr>
          <p:cNvPr id="25" name="Rounded Rectangle"/>
          <p:cNvSpPr/>
          <p:nvPr/>
        </p:nvSpPr>
        <p:spPr>
          <a:xfrm>
            <a:off x="5791200" y="2006600"/>
            <a:ext cx="5638800" cy="3835400"/>
          </a:xfrm>
          <a:prstGeom prst="roundRect">
            <a:avLst>
              <a:gd name="adj" fmla="val 1987"/>
            </a:avLst>
          </a:prstGeom>
          <a:noFill/>
          <a:ln>
            <a:noFill/>
          </a:ln>
          <a:effectLst>
            <a:outerShdw blurRad="0" dist="0" dir="0" sx="100225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26" name="Rectangle"/>
          <p:cNvSpPr/>
          <p:nvPr/>
        </p:nvSpPr>
        <p:spPr>
          <a:xfrm>
            <a:off x="5791200" y="2006600"/>
            <a:ext cx="5638800" cy="38354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27" name="Text: PAGES"/>
          <p:cNvSpPr txBox="1"/>
          <p:nvPr/>
        </p:nvSpPr>
        <p:spPr>
          <a:xfrm>
            <a:off x="5953621" y="2600861"/>
            <a:ext cx="403820" cy="167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spc="7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PAGES</a:t>
            </a:r>
            <a:endParaRPr lang="en-US" sz="880" dirty="0"/>
          </a:p>
        </p:txBody>
      </p:sp>
      <p:sp>
        <p:nvSpPr>
          <p:cNvPr id="28" name="Text: 06"/>
          <p:cNvSpPr txBox="1"/>
          <p:nvPr/>
        </p:nvSpPr>
        <p:spPr>
          <a:xfrm>
            <a:off x="7312223" y="2599551"/>
            <a:ext cx="14545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840" dirty="0"/>
          </a:p>
        </p:txBody>
      </p:sp>
      <p:pic>
        <p:nvPicPr>
          <p:cNvPr id="29" name="Graph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8400" y="2622550"/>
            <a:ext cx="146050" cy="152400"/>
          </a:xfrm>
          <a:prstGeom prst="rect">
            <a:avLst/>
          </a:prstGeom>
          <a:ln>
            <a:noFill/>
          </a:ln>
        </p:spPr>
      </p:pic>
      <p:sp>
        <p:nvSpPr>
          <p:cNvPr id="30" name="Rounded Rectangle"/>
          <p:cNvSpPr/>
          <p:nvPr/>
        </p:nvSpPr>
        <p:spPr>
          <a:xfrm>
            <a:off x="5913041" y="2844602"/>
            <a:ext cx="1788319" cy="807641"/>
          </a:xfrm>
          <a:prstGeom prst="roundRect">
            <a:avLst>
              <a:gd name="adj" fmla="val 7548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31" name="Text: 01"/>
          <p:cNvSpPr txBox="1"/>
          <p:nvPr/>
        </p:nvSpPr>
        <p:spPr>
          <a:xfrm>
            <a:off x="6123880" y="2947392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800" dirty="0"/>
          </a:p>
        </p:txBody>
      </p:sp>
      <p:sp>
        <p:nvSpPr>
          <p:cNvPr id="32" name="Rounded Rectangle"/>
          <p:cNvSpPr/>
          <p:nvPr/>
        </p:nvSpPr>
        <p:spPr>
          <a:xfrm>
            <a:off x="6360021" y="2905522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083" sy="103704" algn="ctr" rotWithShape="0">
              <a:srgbClr val="DE3B3D"/>
            </a:outerShdw>
          </a:effectLst>
        </p:spPr>
      </p:sp>
      <p:sp>
        <p:nvSpPr>
          <p:cNvPr id="33" name="Rectangle"/>
          <p:cNvSpPr/>
          <p:nvPr/>
        </p:nvSpPr>
        <p:spPr>
          <a:xfrm>
            <a:off x="6360021" y="2905522"/>
            <a:ext cx="121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Text: COVER"/>
          <p:cNvSpPr txBox="1"/>
          <p:nvPr/>
        </p:nvSpPr>
        <p:spPr>
          <a:xfrm>
            <a:off x="6461621" y="3003947"/>
            <a:ext cx="64562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130" dirty="0"/>
          </a:p>
        </p:txBody>
      </p:sp>
      <p:sp>
        <p:nvSpPr>
          <p:cNvPr id="35" name="Text: What we're shipping, why it matters."/>
          <p:cNvSpPr txBox="1"/>
          <p:nvPr/>
        </p:nvSpPr>
        <p:spPr>
          <a:xfrm>
            <a:off x="6461621" y="3303413"/>
            <a:ext cx="455662" cy="3771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220" dirty="0"/>
          </a:p>
        </p:txBody>
      </p:sp>
      <p:sp>
        <p:nvSpPr>
          <p:cNvPr id="36" name="Text: Q2 Launch"/>
          <p:cNvSpPr txBox="1"/>
          <p:nvPr/>
        </p:nvSpPr>
        <p:spPr>
          <a:xfrm>
            <a:off x="6461621" y="3188732"/>
            <a:ext cx="538887" cy="111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spc="-3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880" dirty="0"/>
          </a:p>
        </p:txBody>
      </p:sp>
      <p:sp>
        <p:nvSpPr>
          <p:cNvPr id="37" name="Text: ACME · PRODUCT"/>
          <p:cNvSpPr txBox="1"/>
          <p:nvPr/>
        </p:nvSpPr>
        <p:spPr>
          <a:xfrm>
            <a:off x="6461621" y="3477022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38" name="Text: 01 / 06"/>
          <p:cNvSpPr txBox="1"/>
          <p:nvPr/>
        </p:nvSpPr>
        <p:spPr>
          <a:xfrm>
            <a:off x="7404844" y="3477022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120" dirty="0"/>
          </a:p>
        </p:txBody>
      </p:sp>
      <p:sp>
        <p:nvSpPr>
          <p:cNvPr id="39" name="Text: 02"/>
          <p:cNvSpPr txBox="1"/>
          <p:nvPr/>
        </p:nvSpPr>
        <p:spPr>
          <a:xfrm>
            <a:off x="6123880" y="3836293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800" dirty="0"/>
          </a:p>
        </p:txBody>
      </p:sp>
      <p:sp>
        <p:nvSpPr>
          <p:cNvPr id="40" name="Rounded Rectangle"/>
          <p:cNvSpPr/>
          <p:nvPr/>
        </p:nvSpPr>
        <p:spPr>
          <a:xfrm>
            <a:off x="6360021" y="3794423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41" name="Rectangle"/>
          <p:cNvSpPr/>
          <p:nvPr/>
        </p:nvSpPr>
        <p:spPr>
          <a:xfrm>
            <a:off x="6360021" y="3794423"/>
            <a:ext cx="121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" name="Text: AGENDA"/>
          <p:cNvSpPr txBox="1"/>
          <p:nvPr/>
        </p:nvSpPr>
        <p:spPr>
          <a:xfrm>
            <a:off x="6461621" y="3892848"/>
            <a:ext cx="77470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AGENDA</a:t>
            </a:r>
            <a:endParaRPr lang="en-US" sz="130" dirty="0"/>
          </a:p>
        </p:txBody>
      </p:sp>
      <p:sp>
        <p:nvSpPr>
          <p:cNvPr id="43" name="Text: What's inside"/>
          <p:cNvSpPr txBox="1"/>
          <p:nvPr/>
        </p:nvSpPr>
        <p:spPr>
          <a:xfrm>
            <a:off x="6461621" y="3996353"/>
            <a:ext cx="449739" cy="76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inside</a:t>
            </a:r>
            <a:endParaRPr lang="en-US" sz="600" dirty="0"/>
          </a:p>
        </p:txBody>
      </p:sp>
      <p:sp>
        <p:nvSpPr>
          <p:cNvPr id="44" name="Border"/>
          <p:cNvSpPr/>
          <p:nvPr/>
        </p:nvSpPr>
        <p:spPr>
          <a:xfrm>
            <a:off x="6461621" y="4111923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45" name="Text: 01"/>
          <p:cNvSpPr txBox="1"/>
          <p:nvPr/>
        </p:nvSpPr>
        <p:spPr>
          <a:xfrm>
            <a:off x="6461621" y="4136053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140" dirty="0"/>
          </a:p>
        </p:txBody>
      </p:sp>
      <p:sp>
        <p:nvSpPr>
          <p:cNvPr id="46" name="Text: The problem"/>
          <p:cNvSpPr txBox="1"/>
          <p:nvPr/>
        </p:nvSpPr>
        <p:spPr>
          <a:xfrm>
            <a:off x="6508333" y="4124623"/>
            <a:ext cx="15780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problem</a:t>
            </a:r>
            <a:endParaRPr lang="en-US" sz="220" dirty="0"/>
          </a:p>
        </p:txBody>
      </p:sp>
      <p:sp>
        <p:nvSpPr>
          <p:cNvPr id="47" name="Border"/>
          <p:cNvSpPr/>
          <p:nvPr/>
        </p:nvSpPr>
        <p:spPr>
          <a:xfrm>
            <a:off x="6461621" y="4184948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48" name="Text: 02"/>
          <p:cNvSpPr txBox="1"/>
          <p:nvPr/>
        </p:nvSpPr>
        <p:spPr>
          <a:xfrm>
            <a:off x="6461621" y="4209078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140" dirty="0"/>
          </a:p>
        </p:txBody>
      </p:sp>
      <p:sp>
        <p:nvSpPr>
          <p:cNvPr id="49" name="Text: Our solution"/>
          <p:cNvSpPr txBox="1"/>
          <p:nvPr/>
        </p:nvSpPr>
        <p:spPr>
          <a:xfrm>
            <a:off x="6508333" y="4197648"/>
            <a:ext cx="15527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Our solution</a:t>
            </a:r>
            <a:endParaRPr lang="en-US" sz="220" dirty="0"/>
          </a:p>
        </p:txBody>
      </p:sp>
      <p:sp>
        <p:nvSpPr>
          <p:cNvPr id="50" name="Border"/>
          <p:cNvSpPr/>
          <p:nvPr/>
        </p:nvSpPr>
        <p:spPr>
          <a:xfrm>
            <a:off x="6461621" y="4257973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51" name="Text: 03"/>
          <p:cNvSpPr txBox="1"/>
          <p:nvPr/>
        </p:nvSpPr>
        <p:spPr>
          <a:xfrm>
            <a:off x="6461621" y="4282103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140" dirty="0"/>
          </a:p>
        </p:txBody>
      </p:sp>
      <p:sp>
        <p:nvSpPr>
          <p:cNvPr id="52" name="Text: Metrics"/>
          <p:cNvSpPr txBox="1"/>
          <p:nvPr/>
        </p:nvSpPr>
        <p:spPr>
          <a:xfrm>
            <a:off x="6508333" y="4270673"/>
            <a:ext cx="9559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Metrics</a:t>
            </a:r>
            <a:endParaRPr lang="en-US" sz="220" dirty="0"/>
          </a:p>
        </p:txBody>
      </p:sp>
      <p:sp>
        <p:nvSpPr>
          <p:cNvPr id="53" name="Border"/>
          <p:cNvSpPr/>
          <p:nvPr/>
        </p:nvSpPr>
        <p:spPr>
          <a:xfrm>
            <a:off x="6461621" y="4330998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54" name="Text: 04"/>
          <p:cNvSpPr txBox="1"/>
          <p:nvPr/>
        </p:nvSpPr>
        <p:spPr>
          <a:xfrm>
            <a:off x="6461621" y="4355128"/>
            <a:ext cx="21312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140" dirty="0"/>
          </a:p>
        </p:txBody>
      </p:sp>
      <p:sp>
        <p:nvSpPr>
          <p:cNvPr id="55" name="Text: What's next"/>
          <p:cNvSpPr txBox="1"/>
          <p:nvPr/>
        </p:nvSpPr>
        <p:spPr>
          <a:xfrm>
            <a:off x="6508333" y="4343698"/>
            <a:ext cx="148342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220" dirty="0"/>
          </a:p>
        </p:txBody>
      </p:sp>
      <p:sp>
        <p:nvSpPr>
          <p:cNvPr id="56" name="Text: ACME · PRODUCT"/>
          <p:cNvSpPr txBox="1"/>
          <p:nvPr/>
        </p:nvSpPr>
        <p:spPr>
          <a:xfrm>
            <a:off x="6461621" y="4365923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57" name="Text: 02 / 06"/>
          <p:cNvSpPr txBox="1"/>
          <p:nvPr/>
        </p:nvSpPr>
        <p:spPr>
          <a:xfrm>
            <a:off x="7404844" y="4365923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02 / 06</a:t>
            </a:r>
            <a:endParaRPr lang="en-US" sz="120" dirty="0"/>
          </a:p>
        </p:txBody>
      </p:sp>
      <p:sp>
        <p:nvSpPr>
          <p:cNvPr id="58" name="Text: 03"/>
          <p:cNvSpPr txBox="1"/>
          <p:nvPr/>
        </p:nvSpPr>
        <p:spPr>
          <a:xfrm>
            <a:off x="6123880" y="4725194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800" dirty="0"/>
          </a:p>
        </p:txBody>
      </p:sp>
      <p:sp>
        <p:nvSpPr>
          <p:cNvPr id="59" name="Rounded Rectangle"/>
          <p:cNvSpPr/>
          <p:nvPr/>
        </p:nvSpPr>
        <p:spPr>
          <a:xfrm>
            <a:off x="6360021" y="4683323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60" name="Rectangle"/>
          <p:cNvSpPr/>
          <p:nvPr/>
        </p:nvSpPr>
        <p:spPr>
          <a:xfrm>
            <a:off x="6360021" y="4683323"/>
            <a:ext cx="121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" name="Text: PROBLEM"/>
          <p:cNvSpPr txBox="1"/>
          <p:nvPr/>
        </p:nvSpPr>
        <p:spPr>
          <a:xfrm>
            <a:off x="6461621" y="4781748"/>
            <a:ext cx="90388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PROBLEM</a:t>
            </a:r>
            <a:endParaRPr lang="en-US" sz="130" dirty="0"/>
          </a:p>
        </p:txBody>
      </p:sp>
      <p:sp>
        <p:nvSpPr>
          <p:cNvPr id="62" name="Text: 3×"/>
          <p:cNvSpPr txBox="1"/>
          <p:nvPr/>
        </p:nvSpPr>
        <p:spPr>
          <a:xfrm>
            <a:off x="6461621" y="4929703"/>
            <a:ext cx="216416" cy="203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spc="-80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3×</a:t>
            </a:r>
            <a:endParaRPr lang="en-US" sz="1600" dirty="0"/>
          </a:p>
        </p:txBody>
      </p:sp>
      <p:sp>
        <p:nvSpPr>
          <p:cNvPr id="63" name="Text: slower onboarding than our fastest compe"/>
          <p:cNvSpPr txBox="1"/>
          <p:nvPr/>
        </p:nvSpPr>
        <p:spPr>
          <a:xfrm>
            <a:off x="6461621" y="5137348"/>
            <a:ext cx="649426" cy="457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slower onboarding than our fastest competitor.</a:t>
            </a:r>
            <a:endParaRPr lang="en-US" sz="240" dirty="0"/>
          </a:p>
        </p:txBody>
      </p:sp>
      <p:sp>
        <p:nvSpPr>
          <p:cNvPr id="64" name="Text: ACME · PRODUCT"/>
          <p:cNvSpPr txBox="1"/>
          <p:nvPr/>
        </p:nvSpPr>
        <p:spPr>
          <a:xfrm>
            <a:off x="6461621" y="5254823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65" name="Text: 03 / 06"/>
          <p:cNvSpPr txBox="1"/>
          <p:nvPr/>
        </p:nvSpPr>
        <p:spPr>
          <a:xfrm>
            <a:off x="7404844" y="5254823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03 / 06</a:t>
            </a:r>
            <a:endParaRPr lang="en-US" sz="120" dirty="0"/>
          </a:p>
        </p:txBody>
      </p:sp>
      <p:sp>
        <p:nvSpPr>
          <p:cNvPr id="66" name="Text: 04"/>
          <p:cNvSpPr txBox="1"/>
          <p:nvPr/>
        </p:nvSpPr>
        <p:spPr>
          <a:xfrm>
            <a:off x="6123880" y="5614095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800" dirty="0"/>
          </a:p>
        </p:txBody>
      </p:sp>
      <p:sp>
        <p:nvSpPr>
          <p:cNvPr id="67" name="Rounded Rectangle"/>
          <p:cNvSpPr/>
          <p:nvPr/>
        </p:nvSpPr>
        <p:spPr>
          <a:xfrm>
            <a:off x="6360021" y="5572224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68" name="Rectangle"/>
          <p:cNvSpPr/>
          <p:nvPr/>
        </p:nvSpPr>
        <p:spPr>
          <a:xfrm>
            <a:off x="6360021" y="5572224"/>
            <a:ext cx="1219200" cy="269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" name="Text: SOLUTION"/>
          <p:cNvSpPr txBox="1"/>
          <p:nvPr/>
        </p:nvSpPr>
        <p:spPr>
          <a:xfrm>
            <a:off x="6461621" y="5670649"/>
            <a:ext cx="103297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SOLUTION</a:t>
            </a:r>
            <a:endParaRPr lang="en-US" sz="130" dirty="0"/>
          </a:p>
        </p:txBody>
      </p:sp>
      <p:sp>
        <p:nvSpPr>
          <p:cNvPr id="70" name="Text: One flow, three clicks."/>
          <p:cNvSpPr txBox="1"/>
          <p:nvPr/>
        </p:nvSpPr>
        <p:spPr>
          <a:xfrm>
            <a:off x="6461621" y="5863054"/>
            <a:ext cx="40811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One flow,</a:t>
            </a:r>
            <a:br>
              <a:rPr lang="en-US" sz="600"/>
            </a:b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three clicks.</a:t>
            </a:r>
            <a:endParaRPr lang="en-US" sz="600" dirty="0"/>
          </a:p>
        </p:txBody>
      </p:sp>
      <p:sp>
        <p:nvSpPr>
          <p:cNvPr id="71" name="Rounded Rectangle"/>
          <p:cNvSpPr/>
          <p:nvPr/>
        </p:nvSpPr>
        <p:spPr>
          <a:xfrm>
            <a:off x="7045821" y="5737324"/>
            <a:ext cx="431800" cy="355600"/>
          </a:xfrm>
          <a:prstGeom prst="roundRect">
            <a:avLst>
              <a:gd name="adj" fmla="val 4286"/>
            </a:avLst>
          </a:prstGeom>
          <a:solidFill>
            <a:srgbClr val="F7F7F7"/>
          </a:solidFill>
          <a:ln>
            <a:noFill/>
          </a:ln>
        </p:spPr>
      </p:sp>
      <p:sp>
        <p:nvSpPr>
          <p:cNvPr id="72" name="Text: ACME · PRODUCT"/>
          <p:cNvSpPr txBox="1"/>
          <p:nvPr/>
        </p:nvSpPr>
        <p:spPr>
          <a:xfrm>
            <a:off x="6461621" y="6143724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73" name="Text: 04 / 06"/>
          <p:cNvSpPr txBox="1"/>
          <p:nvPr/>
        </p:nvSpPr>
        <p:spPr>
          <a:xfrm>
            <a:off x="7404844" y="6143724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04 / 06</a:t>
            </a:r>
            <a:endParaRPr lang="en-US" sz="120" dirty="0"/>
          </a:p>
        </p:txBody>
      </p:sp>
      <p:sp>
        <p:nvSpPr>
          <p:cNvPr id="74" name="Text: 05"/>
          <p:cNvSpPr txBox="1"/>
          <p:nvPr/>
        </p:nvSpPr>
        <p:spPr>
          <a:xfrm>
            <a:off x="6123880" y="6502995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05</a:t>
            </a:r>
            <a:endParaRPr lang="en-US" sz="800" dirty="0"/>
          </a:p>
        </p:txBody>
      </p:sp>
      <p:sp>
        <p:nvSpPr>
          <p:cNvPr id="75" name="Rounded Rectangle"/>
          <p:cNvSpPr/>
          <p:nvPr/>
        </p:nvSpPr>
        <p:spPr>
          <a:xfrm>
            <a:off x="6360021" y="6461125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76" name="Text: METRICS"/>
          <p:cNvSpPr txBox="1"/>
          <p:nvPr/>
        </p:nvSpPr>
        <p:spPr>
          <a:xfrm>
            <a:off x="6461621" y="6559550"/>
            <a:ext cx="90388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METRICS</a:t>
            </a:r>
            <a:endParaRPr lang="en-US" sz="130" dirty="0"/>
          </a:p>
        </p:txBody>
      </p:sp>
      <p:sp>
        <p:nvSpPr>
          <p:cNvPr id="77" name="Text: +38%"/>
          <p:cNvSpPr txBox="1"/>
          <p:nvPr/>
        </p:nvSpPr>
        <p:spPr>
          <a:xfrm>
            <a:off x="6461621" y="6730365"/>
            <a:ext cx="254516" cy="101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+38%</a:t>
            </a:r>
            <a:endParaRPr lang="en-US" sz="800" dirty="0"/>
          </a:p>
        </p:txBody>
      </p:sp>
      <p:sp>
        <p:nvSpPr>
          <p:cNvPr id="78" name="Text: activation"/>
          <p:cNvSpPr txBox="1"/>
          <p:nvPr/>
        </p:nvSpPr>
        <p:spPr>
          <a:xfrm>
            <a:off x="6461621" y="6826885"/>
            <a:ext cx="100995" cy="342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activation</a:t>
            </a:r>
            <a:endParaRPr lang="en-US" sz="180" dirty="0"/>
          </a:p>
        </p:txBody>
      </p:sp>
      <p:sp>
        <p:nvSpPr>
          <p:cNvPr id="79" name="Text: 12k"/>
          <p:cNvSpPr txBox="1"/>
          <p:nvPr/>
        </p:nvSpPr>
        <p:spPr>
          <a:xfrm>
            <a:off x="6808748" y="6730365"/>
            <a:ext cx="159216" cy="101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12k</a:t>
            </a:r>
            <a:endParaRPr lang="en-US" sz="800" dirty="0"/>
          </a:p>
        </p:txBody>
      </p:sp>
      <p:sp>
        <p:nvSpPr>
          <p:cNvPr id="80" name="Text: weekly actives"/>
          <p:cNvSpPr txBox="1"/>
          <p:nvPr/>
        </p:nvSpPr>
        <p:spPr>
          <a:xfrm>
            <a:off x="6808748" y="6826885"/>
            <a:ext cx="153184" cy="342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weekly actives</a:t>
            </a:r>
            <a:endParaRPr lang="en-US" sz="180" dirty="0"/>
          </a:p>
        </p:txBody>
      </p:sp>
      <p:sp>
        <p:nvSpPr>
          <p:cNvPr id="81" name="Text: 4.9"/>
          <p:cNvSpPr txBox="1"/>
          <p:nvPr/>
        </p:nvSpPr>
        <p:spPr>
          <a:xfrm>
            <a:off x="7155884" y="6730365"/>
            <a:ext cx="138787" cy="101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4.9</a:t>
            </a:r>
            <a:endParaRPr lang="en-US" sz="800" dirty="0"/>
          </a:p>
        </p:txBody>
      </p:sp>
      <p:sp>
        <p:nvSpPr>
          <p:cNvPr id="82" name="Text: app rating"/>
          <p:cNvSpPr txBox="1"/>
          <p:nvPr/>
        </p:nvSpPr>
        <p:spPr>
          <a:xfrm>
            <a:off x="7155884" y="6826885"/>
            <a:ext cx="104795" cy="3429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app rating</a:t>
            </a:r>
            <a:endParaRPr lang="en-US" sz="180" dirty="0"/>
          </a:p>
        </p:txBody>
      </p:sp>
      <p:sp>
        <p:nvSpPr>
          <p:cNvPr id="83" name="Text: ACME · PRODUCT"/>
          <p:cNvSpPr txBox="1"/>
          <p:nvPr/>
        </p:nvSpPr>
        <p:spPr>
          <a:xfrm>
            <a:off x="6461621" y="7032625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84" name="Text: 05 / 06"/>
          <p:cNvSpPr txBox="1"/>
          <p:nvPr/>
        </p:nvSpPr>
        <p:spPr>
          <a:xfrm>
            <a:off x="7404844" y="7032625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05 / 06</a:t>
            </a:r>
            <a:endParaRPr lang="en-US" sz="120" dirty="0"/>
          </a:p>
        </p:txBody>
      </p:sp>
      <p:sp>
        <p:nvSpPr>
          <p:cNvPr id="85" name="Text: 06"/>
          <p:cNvSpPr txBox="1"/>
          <p:nvPr/>
        </p:nvSpPr>
        <p:spPr>
          <a:xfrm>
            <a:off x="6123880" y="7391896"/>
            <a:ext cx="1345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spc="48" dirty="0">
                <a:solidFill>
                  <a:srgbClr val="6B6B6B">
                    <a:alpha val="70000"/>
                  </a:srgbClr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800" dirty="0"/>
          </a:p>
        </p:txBody>
      </p:sp>
      <p:sp>
        <p:nvSpPr>
          <p:cNvPr id="86" name="Rounded Rectangle"/>
          <p:cNvSpPr/>
          <p:nvPr/>
        </p:nvSpPr>
        <p:spPr>
          <a:xfrm>
            <a:off x="6360021" y="7350026"/>
            <a:ext cx="1219200" cy="6858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042" sy="101852" algn="ctr" rotWithShape="0">
              <a:srgbClr val="ECECEC"/>
            </a:outerShdw>
          </a:effectLst>
        </p:spPr>
      </p:sp>
      <p:sp>
        <p:nvSpPr>
          <p:cNvPr id="87" name="Text: NEXT"/>
          <p:cNvSpPr txBox="1"/>
          <p:nvPr/>
        </p:nvSpPr>
        <p:spPr>
          <a:xfrm>
            <a:off x="6461621" y="7448451"/>
            <a:ext cx="51653" cy="247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" spc="2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NEXT</a:t>
            </a:r>
            <a:endParaRPr lang="en-US" sz="130" dirty="0"/>
          </a:p>
        </p:txBody>
      </p:sp>
      <p:sp>
        <p:nvSpPr>
          <p:cNvPr id="88" name="Text: What's next"/>
          <p:cNvSpPr txBox="1"/>
          <p:nvPr/>
        </p:nvSpPr>
        <p:spPr>
          <a:xfrm>
            <a:off x="6461621" y="7551956"/>
            <a:ext cx="398591" cy="76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spc="-2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600" dirty="0"/>
          </a:p>
        </p:txBody>
      </p:sp>
      <p:sp>
        <p:nvSpPr>
          <p:cNvPr id="89" name="Border"/>
          <p:cNvSpPr/>
          <p:nvPr/>
        </p:nvSpPr>
        <p:spPr>
          <a:xfrm>
            <a:off x="6461621" y="7667526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0" name="Text: →"/>
          <p:cNvSpPr txBox="1"/>
          <p:nvPr/>
        </p:nvSpPr>
        <p:spPr>
          <a:xfrm>
            <a:off x="6461621" y="7691656"/>
            <a:ext cx="10656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40" dirty="0"/>
          </a:p>
        </p:txBody>
      </p:sp>
      <p:sp>
        <p:nvSpPr>
          <p:cNvPr id="91" name="Text: Ship the beta in May"/>
          <p:cNvSpPr txBox="1"/>
          <p:nvPr/>
        </p:nvSpPr>
        <p:spPr>
          <a:xfrm>
            <a:off x="6497677" y="7680226"/>
            <a:ext cx="261312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Ship the beta in May</a:t>
            </a:r>
            <a:endParaRPr lang="en-US" sz="220" dirty="0"/>
          </a:p>
        </p:txBody>
      </p:sp>
      <p:sp>
        <p:nvSpPr>
          <p:cNvPr id="92" name="Border"/>
          <p:cNvSpPr/>
          <p:nvPr/>
        </p:nvSpPr>
        <p:spPr>
          <a:xfrm>
            <a:off x="6461621" y="7740551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3" name="Text: →"/>
          <p:cNvSpPr txBox="1"/>
          <p:nvPr/>
        </p:nvSpPr>
        <p:spPr>
          <a:xfrm>
            <a:off x="6461621" y="7764681"/>
            <a:ext cx="10656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40" dirty="0"/>
          </a:p>
        </p:txBody>
      </p:sp>
      <p:sp>
        <p:nvSpPr>
          <p:cNvPr id="94" name="Text: Open the waitlist"/>
          <p:cNvSpPr txBox="1"/>
          <p:nvPr/>
        </p:nvSpPr>
        <p:spPr>
          <a:xfrm>
            <a:off x="6497677" y="7753251"/>
            <a:ext cx="216317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Open the waitlist</a:t>
            </a:r>
            <a:endParaRPr lang="en-US" sz="220" dirty="0"/>
          </a:p>
        </p:txBody>
      </p:sp>
      <p:sp>
        <p:nvSpPr>
          <p:cNvPr id="95" name="Border"/>
          <p:cNvSpPr/>
          <p:nvPr/>
        </p:nvSpPr>
        <p:spPr>
          <a:xfrm>
            <a:off x="6461621" y="7813576"/>
            <a:ext cx="1016000" cy="635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6" name="Text: →"/>
          <p:cNvSpPr txBox="1"/>
          <p:nvPr/>
        </p:nvSpPr>
        <p:spPr>
          <a:xfrm>
            <a:off x="6461621" y="7837706"/>
            <a:ext cx="10656" cy="266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→</a:t>
            </a:r>
            <a:endParaRPr lang="en-US" sz="140" dirty="0"/>
          </a:p>
        </p:txBody>
      </p:sp>
      <p:sp>
        <p:nvSpPr>
          <p:cNvPr id="97" name="Text: Measure, then scale"/>
          <p:cNvSpPr txBox="1"/>
          <p:nvPr/>
        </p:nvSpPr>
        <p:spPr>
          <a:xfrm>
            <a:off x="6497677" y="7826276"/>
            <a:ext cx="255052" cy="419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Measure, then scale</a:t>
            </a:r>
            <a:endParaRPr lang="en-US" sz="220" dirty="0"/>
          </a:p>
        </p:txBody>
      </p:sp>
      <p:sp>
        <p:nvSpPr>
          <p:cNvPr id="98" name="Text: ACME · PRODUCT"/>
          <p:cNvSpPr txBox="1"/>
          <p:nvPr/>
        </p:nvSpPr>
        <p:spPr>
          <a:xfrm>
            <a:off x="6461621" y="7921526"/>
            <a:ext cx="145524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120" dirty="0"/>
          </a:p>
        </p:txBody>
      </p:sp>
      <p:sp>
        <p:nvSpPr>
          <p:cNvPr id="99" name="Text: 06 / 06"/>
          <p:cNvSpPr txBox="1"/>
          <p:nvPr/>
        </p:nvSpPr>
        <p:spPr>
          <a:xfrm>
            <a:off x="7404844" y="7921526"/>
            <a:ext cx="72777" cy="228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" spc="10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06 / 06</a:t>
            </a:r>
            <a:endParaRPr lang="en-US" sz="120" dirty="0"/>
          </a:p>
        </p:txBody>
      </p:sp>
      <p:sp>
        <p:nvSpPr>
          <p:cNvPr id="100" name="Rounded Rectangle"/>
          <p:cNvSpPr/>
          <p:nvPr/>
        </p:nvSpPr>
        <p:spPr>
          <a:xfrm>
            <a:off x="8026400" y="3267968"/>
            <a:ext cx="3200400" cy="1800225"/>
          </a:xfrm>
          <a:prstGeom prst="roundRect">
            <a:avLst>
              <a:gd name="adj" fmla="val 3386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sp>
        <p:nvSpPr>
          <p:cNvPr id="101" name="Rectangle"/>
          <p:cNvSpPr/>
          <p:nvPr/>
        </p:nvSpPr>
        <p:spPr>
          <a:xfrm>
            <a:off x="8026400" y="3267968"/>
            <a:ext cx="3200400" cy="18002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2" name="Text: COVER"/>
          <p:cNvSpPr txBox="1"/>
          <p:nvPr/>
        </p:nvSpPr>
        <p:spPr>
          <a:xfrm>
            <a:off x="8293100" y="3526334"/>
            <a:ext cx="169474" cy="650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1" spc="61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341" dirty="0"/>
          </a:p>
        </p:txBody>
      </p:sp>
      <p:sp>
        <p:nvSpPr>
          <p:cNvPr id="103" name="Text: What we're shipping, why it matters."/>
          <p:cNvSpPr txBox="1"/>
          <p:nvPr/>
        </p:nvSpPr>
        <p:spPr>
          <a:xfrm>
            <a:off x="8293100" y="4312432"/>
            <a:ext cx="1196113" cy="990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8" spc="-1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578" dirty="0"/>
          </a:p>
        </p:txBody>
      </p:sp>
      <p:sp>
        <p:nvSpPr>
          <p:cNvPr id="104" name="Text: Q2 Launch"/>
          <p:cNvSpPr txBox="1"/>
          <p:nvPr/>
        </p:nvSpPr>
        <p:spPr>
          <a:xfrm>
            <a:off x="8293100" y="4011394"/>
            <a:ext cx="1414578" cy="2933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0" b="1" spc="-81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2310" dirty="0"/>
          </a:p>
        </p:txBody>
      </p:sp>
      <p:sp>
        <p:nvSpPr>
          <p:cNvPr id="105" name="Text: ACME · PRODUCT"/>
          <p:cNvSpPr txBox="1"/>
          <p:nvPr/>
        </p:nvSpPr>
        <p:spPr>
          <a:xfrm>
            <a:off x="8293100" y="4768155"/>
            <a:ext cx="382001" cy="600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" spc="25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315" dirty="0"/>
          </a:p>
        </p:txBody>
      </p:sp>
      <p:sp>
        <p:nvSpPr>
          <p:cNvPr id="106" name="Text: 01 / 06"/>
          <p:cNvSpPr txBox="1"/>
          <p:nvPr/>
        </p:nvSpPr>
        <p:spPr>
          <a:xfrm>
            <a:off x="10769060" y="4768155"/>
            <a:ext cx="191040" cy="600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" spc="25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315" dirty="0"/>
          </a:p>
        </p:txBody>
      </p:sp>
      <p:sp>
        <p:nvSpPr>
          <p:cNvPr id="107" name="Rounded Rectangle"/>
          <p:cNvSpPr/>
          <p:nvPr/>
        </p:nvSpPr>
        <p:spPr>
          <a:xfrm>
            <a:off x="10688935" y="5324574"/>
            <a:ext cx="575370" cy="3517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pic>
        <p:nvPicPr>
          <p:cNvPr id="108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7700" y="5416550"/>
            <a:ext cx="171450" cy="165100"/>
          </a:xfrm>
          <a:prstGeom prst="rect">
            <a:avLst/>
          </a:prstGeom>
          <a:ln>
            <a:noFill/>
          </a:ln>
        </p:spPr>
      </p:pic>
      <p:sp>
        <p:nvSpPr>
          <p:cNvPr id="109" name="Text: 1"/>
          <p:cNvSpPr txBox="1"/>
          <p:nvPr/>
        </p:nvSpPr>
        <p:spPr>
          <a:xfrm>
            <a:off x="11057731" y="5319752"/>
            <a:ext cx="49014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1</a:t>
            </a:r>
            <a:endParaRPr lang="en-US" sz="960" dirty="0"/>
          </a:p>
        </p:txBody>
      </p:sp>
      <p:sp>
        <p:nvSpPr>
          <p:cNvPr id="110" name="Text: 0"/>
          <p:cNvSpPr txBox="1"/>
          <p:nvPr/>
        </p:nvSpPr>
        <p:spPr>
          <a:xfrm>
            <a:off x="11057731" y="5441593"/>
            <a:ext cx="81558" cy="12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0</a:t>
            </a:r>
            <a:endParaRPr lang="en-US" sz="960" dirty="0"/>
          </a:p>
        </p:txBody>
      </p:sp>
      <p:pic>
        <p:nvPicPr>
          <p:cNvPr id="111" name="Graphic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9000" y="2165350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112" name="Rectangle"/>
          <p:cNvSpPr/>
          <p:nvPr/>
        </p:nvSpPr>
        <p:spPr>
          <a:xfrm>
            <a:off x="6299002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13" name="Rounded Rectangle"/>
          <p:cNvSpPr/>
          <p:nvPr/>
        </p:nvSpPr>
        <p:spPr>
          <a:xfrm>
            <a:off x="6406852" y="2108200"/>
            <a:ext cx="1181199" cy="284460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14" name="Rounded Rectangle"/>
          <p:cNvSpPr/>
          <p:nvPr/>
        </p:nvSpPr>
        <p:spPr>
          <a:xfrm>
            <a:off x="6427093" y="2128441"/>
            <a:ext cx="550466" cy="237430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307" sy="105349" algn="ctr" rotWithShape="0">
              <a:srgbClr val="000000">
                <a:alpha val="6000"/>
              </a:srgbClr>
            </a:outerShdw>
          </a:effectLst>
        </p:spPr>
      </p:sp>
      <p:sp>
        <p:nvSpPr>
          <p:cNvPr id="115" name="Text: Slides"/>
          <p:cNvSpPr txBox="1"/>
          <p:nvPr/>
        </p:nvSpPr>
        <p:spPr>
          <a:xfrm>
            <a:off x="6528693" y="2137946"/>
            <a:ext cx="347266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960" dirty="0"/>
          </a:p>
        </p:txBody>
      </p:sp>
      <p:sp>
        <p:nvSpPr>
          <p:cNvPr id="116" name="Text: Assets"/>
          <p:cNvSpPr txBox="1"/>
          <p:nvPr/>
        </p:nvSpPr>
        <p:spPr>
          <a:xfrm>
            <a:off x="7079159" y="2137946"/>
            <a:ext cx="387052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960" dirty="0"/>
          </a:p>
        </p:txBody>
      </p:sp>
      <p:sp>
        <p:nvSpPr>
          <p:cNvPr id="117" name="Rectangle"/>
          <p:cNvSpPr/>
          <p:nvPr/>
        </p:nvSpPr>
        <p:spPr>
          <a:xfrm>
            <a:off x="9731772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118" name="Graphic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99650" y="2178050"/>
            <a:ext cx="146050" cy="146050"/>
          </a:xfrm>
          <a:prstGeom prst="rect">
            <a:avLst/>
          </a:prstGeom>
          <a:ln>
            <a:noFill/>
          </a:ln>
        </p:spPr>
      </p:pic>
      <p:pic>
        <p:nvPicPr>
          <p:cNvPr id="119" name="Graphic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8065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120" name="Rectangle"/>
          <p:cNvSpPr/>
          <p:nvPr/>
        </p:nvSpPr>
        <p:spPr>
          <a:xfrm>
            <a:off x="10591105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21" name="Rounded Rectangle"/>
          <p:cNvSpPr/>
          <p:nvPr/>
        </p:nvSpPr>
        <p:spPr>
          <a:xfrm>
            <a:off x="10658277" y="2108101"/>
            <a:ext cx="385862" cy="284460"/>
          </a:xfrm>
          <a:custGeom>
            <a:avLst/>
            <a:gdLst/>
            <a:ahLst/>
            <a:cxnLst/>
            <a:rect l="0" t="0" r="r" b="b"/>
            <a:pathLst>
              <a:path w="385862" h="284460">
                <a:moveTo>
                  <a:pt x="50800" y="0"/>
                </a:moveTo>
                <a:lnTo>
                  <a:pt x="385862" y="0"/>
                </a:lnTo>
                <a:lnTo>
                  <a:pt x="385862" y="284460"/>
                </a:lnTo>
                <a:lnTo>
                  <a:pt x="50800" y="2844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22" name="Graphic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7595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123" name="Rounded Rectangle"/>
          <p:cNvSpPr/>
          <p:nvPr/>
        </p:nvSpPr>
        <p:spPr>
          <a:xfrm>
            <a:off x="11044138" y="2108101"/>
            <a:ext cx="264021" cy="284460"/>
          </a:xfrm>
          <a:custGeom>
            <a:avLst/>
            <a:gdLst/>
            <a:ahLst/>
            <a:cxnLst/>
            <a:rect l="0" t="0" r="r" b="b"/>
            <a:pathLst>
              <a:path w="264021" h="284460">
                <a:moveTo>
                  <a:pt x="0" y="0"/>
                </a:moveTo>
                <a:lnTo>
                  <a:pt x="213221" y="0"/>
                </a:lnTo>
                <a:arcTo wR="50800" hR="50800" stAng="16200000" swAng="5400000"/>
                <a:lnTo>
                  <a:pt x="264021" y="233660"/>
                </a:lnTo>
                <a:arcTo wR="50800" hR="50800" stAng="0" swAng="5400000"/>
                <a:lnTo>
                  <a:pt x="0" y="284460"/>
                </a:lnTo>
                <a:lnTo>
                  <a:pt x="0" y="0"/>
                </a:lnTo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24" name="Graphic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9980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125" name="Rounded Rectangle"/>
          <p:cNvSpPr/>
          <p:nvPr/>
        </p:nvSpPr>
        <p:spPr>
          <a:xfrm>
            <a:off x="8970863" y="2091035"/>
            <a:ext cx="696913" cy="318691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635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126" name="Rounded Rectangle"/>
          <p:cNvSpPr/>
          <p:nvPr/>
        </p:nvSpPr>
        <p:spPr>
          <a:xfrm>
            <a:off x="8994279" y="2114451"/>
            <a:ext cx="325041" cy="271760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3907" sy="104673" algn="ctr" rotWithShape="0">
              <a:srgbClr val="000000">
                <a:alpha val="6000"/>
              </a:srgbClr>
            </a:outerShdw>
          </a:effectLst>
        </p:spPr>
      </p:sp>
      <p:pic>
        <p:nvPicPr>
          <p:cNvPr id="127" name="Graphic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80500" y="2178050"/>
            <a:ext cx="152400" cy="146050"/>
          </a:xfrm>
          <a:prstGeom prst="rect">
            <a:avLst/>
          </a:prstGeom>
          <a:ln>
            <a:noFill/>
          </a:ln>
        </p:spPr>
      </p:pic>
      <p:pic>
        <p:nvPicPr>
          <p:cNvPr id="128" name="Graphic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10700" y="217805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129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130" name="Text: 08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Toolbox"/>
          <p:cNvSpPr txBox="1"/>
          <p:nvPr/>
        </p:nvSpPr>
        <p:spPr>
          <a:xfrm>
            <a:off x="939800" y="615950"/>
            <a:ext cx="504428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Toolbox</a:t>
            </a:r>
            <a:endParaRPr lang="en-US" sz="1100" dirty="0"/>
          </a:p>
        </p:txBody>
      </p:sp>
      <p:sp>
        <p:nvSpPr>
          <p:cNvPr id="4" name="Text: Assets, in one place."/>
          <p:cNvSpPr txBox="1"/>
          <p:nvPr/>
        </p:nvSpPr>
        <p:spPr>
          <a:xfrm>
            <a:off x="762000" y="921766"/>
            <a:ext cx="3610173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Assets, in one place.</a:t>
            </a:r>
            <a:endParaRPr lang="en-US" sz="3200" dirty="0"/>
          </a:p>
        </p:txBody>
      </p:sp>
      <p:sp>
        <p:nvSpPr>
          <p:cNvPr id="5" name="Text: Drop files, search logos on svgl, pull G"/>
          <p:cNvSpPr txBox="1"/>
          <p:nvPr/>
        </p:nvSpPr>
        <p:spPr>
          <a:xfrm>
            <a:off x="762000" y="1405334"/>
            <a:ext cx="7341493" cy="4786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Drop files, search logos on svgl, pull Google Fonts. Everything lands in slides/&lt;id&gt;/assets/, ready to</a:t>
            </a:r>
            <a:br>
              <a:rPr lang="en-US" sz="1300"/>
            </a:b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import.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10668000" cy="3835400"/>
          </a:xfrm>
          <a:prstGeom prst="roundRect">
            <a:avLst>
              <a:gd name="adj" fmla="val 1987"/>
            </a:avLst>
          </a:prstGeom>
          <a:noFill/>
          <a:ln>
            <a:noFill/>
          </a:ln>
          <a:effectLst>
            <a:outerShdw blurRad="0" dist="0" dir="0" sx="100119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Rectangle"/>
          <p:cNvSpPr/>
          <p:nvPr/>
        </p:nvSpPr>
        <p:spPr>
          <a:xfrm>
            <a:off x="762000" y="2006600"/>
            <a:ext cx="10668000" cy="38354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8" name="Rectangle"/>
          <p:cNvSpPr/>
          <p:nvPr/>
        </p:nvSpPr>
        <p:spPr>
          <a:xfrm>
            <a:off x="762000" y="2494260"/>
            <a:ext cx="10668000" cy="33477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Rectangle"/>
          <p:cNvSpPr/>
          <p:nvPr/>
        </p:nvSpPr>
        <p:spPr>
          <a:xfrm>
            <a:off x="762000" y="2494260"/>
            <a:ext cx="10668000" cy="575072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0" name="Border"/>
          <p:cNvSpPr/>
          <p:nvPr/>
        </p:nvSpPr>
        <p:spPr>
          <a:xfrm>
            <a:off x="762000" y="3062982"/>
            <a:ext cx="10668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1" name="Rounded Rectangle"/>
          <p:cNvSpPr/>
          <p:nvPr/>
        </p:nvSpPr>
        <p:spPr>
          <a:xfrm>
            <a:off x="1005780" y="2636341"/>
            <a:ext cx="1339354" cy="284460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2" name="Rounded Rectangle"/>
          <p:cNvSpPr/>
          <p:nvPr/>
        </p:nvSpPr>
        <p:spPr>
          <a:xfrm>
            <a:off x="1026021" y="2656582"/>
            <a:ext cx="731738" cy="237430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736" sy="105349" algn="ctr" rotWithShape="0">
              <a:srgbClr val="000000">
                <a:alpha val="6000"/>
              </a:srgbClr>
            </a:outerShdw>
          </a:effectLst>
        </p:spPr>
      </p:sp>
      <p:sp>
        <p:nvSpPr>
          <p:cNvPr id="13" name="Text: This slide"/>
          <p:cNvSpPr txBox="1"/>
          <p:nvPr/>
        </p:nvSpPr>
        <p:spPr>
          <a:xfrm>
            <a:off x="1127621" y="2666087"/>
            <a:ext cx="528538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This slide</a:t>
            </a:r>
            <a:endParaRPr lang="en-US" sz="960" dirty="0"/>
          </a:p>
        </p:txBody>
      </p:sp>
      <p:sp>
        <p:nvSpPr>
          <p:cNvPr id="14" name="Text: Global"/>
          <p:cNvSpPr txBox="1"/>
          <p:nvPr/>
        </p:nvSpPr>
        <p:spPr>
          <a:xfrm>
            <a:off x="1859359" y="2666087"/>
            <a:ext cx="363934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Global</a:t>
            </a:r>
            <a:endParaRPr lang="en-US" sz="960" dirty="0"/>
          </a:p>
        </p:txBody>
      </p:sp>
      <p:sp>
        <p:nvSpPr>
          <p:cNvPr id="15" name="Text: slides/q2-launch/assets/"/>
          <p:cNvSpPr txBox="1"/>
          <p:nvPr/>
        </p:nvSpPr>
        <p:spPr>
          <a:xfrm>
            <a:off x="2466975" y="2668052"/>
            <a:ext cx="1675209" cy="1752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slides/q2-launch/assets/</a:t>
            </a:r>
            <a:endParaRPr lang="en-US" sz="920" dirty="0"/>
          </a:p>
        </p:txBody>
      </p:sp>
      <p:sp>
        <p:nvSpPr>
          <p:cNvPr id="16" name="Text: 06 files"/>
          <p:cNvSpPr txBox="1"/>
          <p:nvPr/>
        </p:nvSpPr>
        <p:spPr>
          <a:xfrm>
            <a:off x="4328716" y="2615664"/>
            <a:ext cx="581521" cy="106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06 files</a:t>
            </a:r>
            <a:endParaRPr lang="en-US" sz="840" dirty="0"/>
          </a:p>
        </p:txBody>
      </p:sp>
      <p:sp>
        <p:nvSpPr>
          <p:cNvPr id="17" name="Text: 07 files"/>
          <p:cNvSpPr txBox="1"/>
          <p:nvPr/>
        </p:nvSpPr>
        <p:spPr>
          <a:xfrm>
            <a:off x="4328716" y="2722324"/>
            <a:ext cx="581521" cy="106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07 files</a:t>
            </a:r>
            <a:endParaRPr lang="en-US" sz="840" dirty="0"/>
          </a:p>
        </p:txBody>
      </p:sp>
      <p:sp>
        <p:nvSpPr>
          <p:cNvPr id="18" name="Text: ·"/>
          <p:cNvSpPr txBox="1"/>
          <p:nvPr/>
        </p:nvSpPr>
        <p:spPr>
          <a:xfrm>
            <a:off x="4223445" y="2669361"/>
            <a:ext cx="24011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6B6B6B">
                    <a:alpha val="5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960" dirty="0"/>
          </a:p>
        </p:txBody>
      </p:sp>
      <p:sp>
        <p:nvSpPr>
          <p:cNvPr id="19" name="Rounded Rectangle"/>
          <p:cNvSpPr/>
          <p:nvPr/>
        </p:nvSpPr>
        <p:spPr>
          <a:xfrm>
            <a:off x="7759105" y="2619276"/>
            <a:ext cx="1223169" cy="318691"/>
          </a:xfrm>
          <a:prstGeom prst="roundRect">
            <a:avLst>
              <a:gd name="adj" fmla="val 14944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20" name="Text: Search logos"/>
          <p:cNvSpPr txBox="1"/>
          <p:nvPr/>
        </p:nvSpPr>
        <p:spPr>
          <a:xfrm>
            <a:off x="8087221" y="2670671"/>
            <a:ext cx="77003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Search logos</a:t>
            </a:r>
            <a:endParaRPr lang="en-US" sz="1000" dirty="0"/>
          </a:p>
        </p:txBody>
      </p:sp>
      <p:pic>
        <p:nvPicPr>
          <p:cNvPr id="21" name="Graph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0350" y="270510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22" name="Rounded Rectangle"/>
          <p:cNvSpPr/>
          <p:nvPr/>
        </p:nvSpPr>
        <p:spPr>
          <a:xfrm>
            <a:off x="9049544" y="2619276"/>
            <a:ext cx="1206302" cy="318691"/>
          </a:xfrm>
          <a:prstGeom prst="roundRect">
            <a:avLst>
              <a:gd name="adj" fmla="val 14944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23" name="Text: Search fonts"/>
          <p:cNvSpPr txBox="1"/>
          <p:nvPr/>
        </p:nvSpPr>
        <p:spPr>
          <a:xfrm>
            <a:off x="9377660" y="2670671"/>
            <a:ext cx="75317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Search fonts</a:t>
            </a:r>
            <a:endParaRPr lang="en-US" sz="1000" dirty="0"/>
          </a:p>
        </p:txBody>
      </p:sp>
      <p:pic>
        <p:nvPicPr>
          <p:cNvPr id="24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9400" y="270510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25" name="Rounded Rectangle"/>
          <p:cNvSpPr/>
          <p:nvPr/>
        </p:nvSpPr>
        <p:spPr>
          <a:xfrm>
            <a:off x="10319941" y="2616101"/>
            <a:ext cx="866279" cy="325041"/>
          </a:xfrm>
          <a:prstGeom prst="roundRect">
            <a:avLst>
              <a:gd name="adj" fmla="val 15629"/>
            </a:avLst>
          </a:prstGeom>
          <a:solidFill>
            <a:srgbClr val="0A0A0A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26" name="Text: Upload"/>
          <p:cNvSpPr txBox="1"/>
          <p:nvPr/>
        </p:nvSpPr>
        <p:spPr>
          <a:xfrm>
            <a:off x="10644882" y="2670671"/>
            <a:ext cx="41949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FFFFFF"/>
                </a:solidFill>
                <a:latin typeface="Geist Variable"/>
                <a:ea typeface="Geist Variable"/>
                <a:cs typeface="Geist Variable"/>
              </a:rPr>
              <a:t>Upload</a:t>
            </a:r>
            <a:endParaRPr lang="en-US" sz="1000" dirty="0"/>
          </a:p>
        </p:txBody>
      </p:sp>
      <p:pic>
        <p:nvPicPr>
          <p:cNvPr id="27" name="Graphic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39400" y="270510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28" name="Border"/>
          <p:cNvSpPr/>
          <p:nvPr/>
        </p:nvSpPr>
        <p:spPr>
          <a:xfrm>
            <a:off x="762000" y="3597573"/>
            <a:ext cx="10668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29" name="Rounded Rectangle"/>
          <p:cNvSpPr/>
          <p:nvPr/>
        </p:nvSpPr>
        <p:spPr>
          <a:xfrm>
            <a:off x="1008955" y="3174107"/>
            <a:ext cx="2838450" cy="318691"/>
          </a:xfrm>
          <a:prstGeom prst="roundRect">
            <a:avLst>
              <a:gd name="adj" fmla="val 18132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30" name="Text: Search assets…"/>
          <p:cNvSpPr txBox="1"/>
          <p:nvPr/>
        </p:nvSpPr>
        <p:spPr>
          <a:xfrm>
            <a:off x="1337171" y="3225502"/>
            <a:ext cx="88642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6B6B6B">
                    <a:alpha val="70000"/>
                  </a:srgbClr>
                </a:solidFill>
                <a:latin typeface="Geist Variable"/>
                <a:ea typeface="Geist Variable"/>
                <a:cs typeface="Geist Variable"/>
              </a:rPr>
              <a:t>Search assets…</a:t>
            </a:r>
            <a:endParaRPr lang="en-US" sz="1000" dirty="0"/>
          </a:p>
        </p:txBody>
      </p:sp>
      <p:pic>
        <p:nvPicPr>
          <p:cNvPr id="31" name="Graphic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250" y="3257550"/>
            <a:ext cx="146050" cy="152400"/>
          </a:xfrm>
          <a:prstGeom prst="rect">
            <a:avLst/>
          </a:prstGeom>
          <a:ln>
            <a:noFill/>
          </a:ln>
        </p:spPr>
      </p:pic>
      <p:sp>
        <p:nvSpPr>
          <p:cNvPr id="32" name="Rounded Rectangle"/>
          <p:cNvSpPr/>
          <p:nvPr/>
        </p:nvSpPr>
        <p:spPr>
          <a:xfrm>
            <a:off x="3935016" y="3174107"/>
            <a:ext cx="1131491" cy="318691"/>
          </a:xfrm>
          <a:prstGeom prst="roundRect">
            <a:avLst>
              <a:gd name="adj" fmla="val 14944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33" name="Text: All usage"/>
          <p:cNvSpPr txBox="1"/>
          <p:nvPr/>
        </p:nvSpPr>
        <p:spPr>
          <a:xfrm>
            <a:off x="4039791" y="3224193"/>
            <a:ext cx="507305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All usage</a:t>
            </a:r>
            <a:endParaRPr lang="en-US" sz="960" dirty="0"/>
          </a:p>
        </p:txBody>
      </p:sp>
      <p:pic>
        <p:nvPicPr>
          <p:cNvPr id="34" name="Graph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8225" y="3308350"/>
            <a:ext cx="85725" cy="50800"/>
          </a:xfrm>
          <a:prstGeom prst="rect">
            <a:avLst/>
          </a:prstGeom>
          <a:ln>
            <a:noFill/>
          </a:ln>
        </p:spPr>
      </p:pic>
      <p:sp>
        <p:nvSpPr>
          <p:cNvPr id="35" name="Rounded Rectangle"/>
          <p:cNvSpPr/>
          <p:nvPr/>
        </p:nvSpPr>
        <p:spPr>
          <a:xfrm>
            <a:off x="5154116" y="3174107"/>
            <a:ext cx="1090910" cy="318691"/>
          </a:xfrm>
          <a:prstGeom prst="roundRect">
            <a:avLst>
              <a:gd name="adj" fmla="val 14944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36" name="Text: All types"/>
          <p:cNvSpPr txBox="1"/>
          <p:nvPr/>
        </p:nvSpPr>
        <p:spPr>
          <a:xfrm>
            <a:off x="5258891" y="3224193"/>
            <a:ext cx="479524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All types</a:t>
            </a:r>
            <a:endParaRPr lang="en-US" sz="960" dirty="0"/>
          </a:p>
        </p:txBody>
      </p:sp>
      <p:pic>
        <p:nvPicPr>
          <p:cNvPr id="37" name="Graphi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9325" y="3308350"/>
            <a:ext cx="85725" cy="50800"/>
          </a:xfrm>
          <a:prstGeom prst="rect">
            <a:avLst/>
          </a:prstGeom>
          <a:ln>
            <a:noFill/>
          </a:ln>
        </p:spPr>
      </p:pic>
      <p:sp>
        <p:nvSpPr>
          <p:cNvPr id="38" name="Rounded Rectangle"/>
          <p:cNvSpPr/>
          <p:nvPr/>
        </p:nvSpPr>
        <p:spPr>
          <a:xfrm>
            <a:off x="6332637" y="3174107"/>
            <a:ext cx="962223" cy="318691"/>
          </a:xfrm>
          <a:prstGeom prst="roundRect">
            <a:avLst>
              <a:gd name="adj" fmla="val 14944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39" name="Text: Name"/>
          <p:cNvSpPr txBox="1"/>
          <p:nvPr/>
        </p:nvSpPr>
        <p:spPr>
          <a:xfrm>
            <a:off x="6660654" y="3225502"/>
            <a:ext cx="34677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Name</a:t>
            </a:r>
            <a:endParaRPr lang="en-US" sz="1000" dirty="0"/>
          </a:p>
        </p:txBody>
      </p:sp>
      <p:pic>
        <p:nvPicPr>
          <p:cNvPr id="40" name="Graphic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51600" y="3257550"/>
            <a:ext cx="152400" cy="152400"/>
          </a:xfrm>
          <a:prstGeom prst="rect">
            <a:avLst/>
          </a:prstGeom>
          <a:ln>
            <a:noFill/>
          </a:ln>
        </p:spPr>
      </p:pic>
      <p:pic>
        <p:nvPicPr>
          <p:cNvPr id="41" name="Graphic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2150" y="3270250"/>
            <a:ext cx="133350" cy="127000"/>
          </a:xfrm>
          <a:prstGeom prst="rect">
            <a:avLst/>
          </a:prstGeom>
          <a:ln>
            <a:noFill/>
          </a:ln>
        </p:spPr>
      </p:pic>
      <p:sp>
        <p:nvSpPr>
          <p:cNvPr id="42" name="Rounded Rectangle"/>
          <p:cNvSpPr/>
          <p:nvPr/>
        </p:nvSpPr>
        <p:spPr>
          <a:xfrm>
            <a:off x="9937948" y="3174107"/>
            <a:ext cx="520105" cy="318691"/>
          </a:xfrm>
          <a:prstGeom prst="roundRect">
            <a:avLst>
              <a:gd name="adj" fmla="val 14944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sp>
        <p:nvSpPr>
          <p:cNvPr id="43" name="Text: 7"/>
          <p:cNvSpPr txBox="1"/>
          <p:nvPr/>
        </p:nvSpPr>
        <p:spPr>
          <a:xfrm>
            <a:off x="10266065" y="3225502"/>
            <a:ext cx="6697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7</a:t>
            </a:r>
            <a:endParaRPr lang="en-US" sz="1000" dirty="0"/>
          </a:p>
        </p:txBody>
      </p:sp>
      <p:pic>
        <p:nvPicPr>
          <p:cNvPr id="44" name="Graphic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58400" y="3257550"/>
            <a:ext cx="152400" cy="152400"/>
          </a:xfrm>
          <a:prstGeom prst="rect">
            <a:avLst/>
          </a:prstGeom>
          <a:ln>
            <a:noFill/>
          </a:ln>
        </p:spPr>
      </p:pic>
      <p:sp>
        <p:nvSpPr>
          <p:cNvPr id="45" name="Rounded Rectangle"/>
          <p:cNvSpPr/>
          <p:nvPr/>
        </p:nvSpPr>
        <p:spPr>
          <a:xfrm>
            <a:off x="10864354" y="3174107"/>
            <a:ext cx="318691" cy="318691"/>
          </a:xfrm>
          <a:custGeom>
            <a:avLst/>
            <a:gdLst/>
            <a:ahLst/>
            <a:cxnLst/>
            <a:rect l="0" t="0" r="r" b="b"/>
            <a:pathLst>
              <a:path w="318691" h="318691">
                <a:moveTo>
                  <a:pt x="0" y="0"/>
                </a:moveTo>
                <a:lnTo>
                  <a:pt x="271066" y="0"/>
                </a:lnTo>
                <a:arcTo wR="47625" hR="47625" stAng="16200000" swAng="5400000"/>
                <a:lnTo>
                  <a:pt x="318691" y="271066"/>
                </a:lnTo>
                <a:arcTo wR="47625" hR="47625" stAng="0" swAng="5400000"/>
                <a:lnTo>
                  <a:pt x="0" y="3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</p:spPr>
      </p:sp>
      <p:pic>
        <p:nvPicPr>
          <p:cNvPr id="46" name="Graphic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47400" y="3257550"/>
            <a:ext cx="152400" cy="152400"/>
          </a:xfrm>
          <a:prstGeom prst="rect">
            <a:avLst/>
          </a:prstGeom>
          <a:ln>
            <a:noFill/>
          </a:ln>
        </p:spPr>
      </p:pic>
      <p:sp>
        <p:nvSpPr>
          <p:cNvPr id="47" name="Rounded Rectangle"/>
          <p:cNvSpPr/>
          <p:nvPr/>
        </p:nvSpPr>
        <p:spPr>
          <a:xfrm>
            <a:off x="10545663" y="3174107"/>
            <a:ext cx="318691" cy="318691"/>
          </a:xfrm>
          <a:custGeom>
            <a:avLst/>
            <a:gdLst/>
            <a:ahLst/>
            <a:cxnLst/>
            <a:rect l="0" t="0" r="r" b="b"/>
            <a:pathLst>
              <a:path w="318691" h="318691">
                <a:moveTo>
                  <a:pt x="47625" y="0"/>
                </a:moveTo>
                <a:lnTo>
                  <a:pt x="318691" y="0"/>
                </a:lnTo>
                <a:lnTo>
                  <a:pt x="318691" y="318691"/>
                </a:lnTo>
                <a:lnTo>
                  <a:pt x="47625" y="318691"/>
                </a:lnTo>
                <a:arcTo wR="47625" hR="47625" stAng="5400000" swAng="5400000"/>
                <a:lnTo>
                  <a:pt x="0" y="47625"/>
                </a:lnTo>
                <a:arcTo wR="47625" hR="47625" stAng="10800000" swAng="5400000"/>
                <a:close/>
              </a:path>
            </a:pathLst>
          </a:custGeom>
          <a:solidFill>
            <a:srgbClr val="0A0A0A"/>
          </a:solidFill>
          <a:ln w="6350" cap="flat" cmpd="sng" algn="ctr">
            <a:solidFill>
              <a:srgbClr val="0A0A0A"/>
            </a:solidFill>
            <a:miter lim="800000"/>
          </a:ln>
        </p:spPr>
      </p:sp>
      <p:pic>
        <p:nvPicPr>
          <p:cNvPr id="48" name="Graphic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29900" y="3257550"/>
            <a:ext cx="152400" cy="152400"/>
          </a:xfrm>
          <a:prstGeom prst="rect">
            <a:avLst/>
          </a:prstGeom>
          <a:ln>
            <a:noFill/>
          </a:ln>
        </p:spPr>
      </p:pic>
      <p:sp>
        <p:nvSpPr>
          <p:cNvPr id="49" name="Rounded Rectangle"/>
          <p:cNvSpPr/>
          <p:nvPr/>
        </p:nvSpPr>
        <p:spPr>
          <a:xfrm>
            <a:off x="1008955" y="3850878"/>
            <a:ext cx="1308695" cy="174416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970" sy="100728" algn="ctr" rotWithShape="0">
              <a:srgbClr val="000000">
                <a:alpha val="6000"/>
              </a:srgbClr>
            </a:outerShdw>
          </a:effectLst>
        </p:spPr>
      </p:sp>
      <p:pic>
        <p:nvPicPr>
          <p:cNvPr id="50" name="Rendered imag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2130" y="3854053"/>
            <a:ext cx="1298575" cy="1301750"/>
          </a:xfrm>
          <a:prstGeom prst="rect">
            <a:avLst/>
          </a:prstGeom>
          <a:ln>
            <a:noFill/>
          </a:ln>
        </p:spPr>
      </p:pic>
      <p:sp>
        <p:nvSpPr>
          <p:cNvPr id="51" name="Rounded Rectangle"/>
          <p:cNvSpPr/>
          <p:nvPr/>
        </p:nvSpPr>
        <p:spPr>
          <a:xfrm>
            <a:off x="1428849" y="4267597"/>
            <a:ext cx="468809" cy="468809"/>
          </a:xfrm>
          <a:prstGeom prst="roundRect">
            <a:avLst>
              <a:gd name="adj" fmla="val 17338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52" name="Text: 0.2 KB"/>
          <p:cNvSpPr txBox="1"/>
          <p:nvPr/>
        </p:nvSpPr>
        <p:spPr>
          <a:xfrm>
            <a:off x="1113730" y="5415459"/>
            <a:ext cx="43616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0.2 KB</a:t>
            </a:r>
            <a:endParaRPr lang="en-US" sz="840" dirty="0"/>
          </a:p>
        </p:txBody>
      </p:sp>
      <p:sp>
        <p:nvSpPr>
          <p:cNvPr id="53" name="Text: mark.svg"/>
          <p:cNvSpPr txBox="1"/>
          <p:nvPr/>
        </p:nvSpPr>
        <p:spPr>
          <a:xfrm>
            <a:off x="1113730" y="5224959"/>
            <a:ext cx="53637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mark.svg</a:t>
            </a:r>
            <a:endParaRPr lang="en-US" sz="1000" dirty="0"/>
          </a:p>
        </p:txBody>
      </p:sp>
      <p:sp>
        <p:nvSpPr>
          <p:cNvPr id="54" name="Text: Modified"/>
          <p:cNvSpPr txBox="1"/>
          <p:nvPr/>
        </p:nvSpPr>
        <p:spPr>
          <a:xfrm>
            <a:off x="1113730" y="5594370"/>
            <a:ext cx="415528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Modified</a:t>
            </a:r>
            <a:endParaRPr lang="en-US" sz="840" dirty="0"/>
          </a:p>
        </p:txBody>
      </p:sp>
      <p:sp>
        <p:nvSpPr>
          <p:cNvPr id="55" name="Text: Sep 24"/>
          <p:cNvSpPr txBox="1"/>
          <p:nvPr/>
        </p:nvSpPr>
        <p:spPr>
          <a:xfrm>
            <a:off x="1631355" y="5588020"/>
            <a:ext cx="381893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Sep 24</a:t>
            </a:r>
            <a:endParaRPr lang="en-US" sz="840" dirty="0"/>
          </a:p>
        </p:txBody>
      </p:sp>
      <p:sp>
        <p:nvSpPr>
          <p:cNvPr id="56" name="Text: ·"/>
          <p:cNvSpPr txBox="1"/>
          <p:nvPr/>
        </p:nvSpPr>
        <p:spPr>
          <a:xfrm>
            <a:off x="1569839" y="5594370"/>
            <a:ext cx="2093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>
                    <a:alpha val="4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840" dirty="0"/>
          </a:p>
        </p:txBody>
      </p:sp>
      <p:pic>
        <p:nvPicPr>
          <p:cNvPr id="57" name="Graphic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57400" y="542925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58" name="Rounded Rectangle"/>
          <p:cNvSpPr/>
          <p:nvPr/>
        </p:nvSpPr>
        <p:spPr>
          <a:xfrm>
            <a:off x="2486521" y="3850878"/>
            <a:ext cx="1308695" cy="174416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970" sy="100728" algn="ctr" rotWithShape="0">
              <a:srgbClr val="000000">
                <a:alpha val="6000"/>
              </a:srgbClr>
            </a:outerShdw>
          </a:effectLst>
        </p:spPr>
      </p:sp>
      <p:pic>
        <p:nvPicPr>
          <p:cNvPr id="59" name="Rendered imag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89696" y="3854053"/>
            <a:ext cx="1301750" cy="1301750"/>
          </a:xfrm>
          <a:prstGeom prst="rect">
            <a:avLst/>
          </a:prstGeom>
          <a:ln>
            <a:noFill/>
          </a:ln>
        </p:spPr>
      </p:pic>
      <p:sp>
        <p:nvSpPr>
          <p:cNvPr id="60" name="Text: Aa"/>
          <p:cNvSpPr txBox="1"/>
          <p:nvPr/>
        </p:nvSpPr>
        <p:spPr>
          <a:xfrm>
            <a:off x="2894112" y="4152801"/>
            <a:ext cx="493415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6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Aa</a:t>
            </a:r>
            <a:endParaRPr lang="en-US" sz="3200" dirty="0"/>
          </a:p>
        </p:txBody>
      </p:sp>
      <p:sp>
        <p:nvSpPr>
          <p:cNvPr id="61" name="Text: 68 KB"/>
          <p:cNvSpPr txBox="1"/>
          <p:nvPr/>
        </p:nvSpPr>
        <p:spPr>
          <a:xfrm>
            <a:off x="2591296" y="5415459"/>
            <a:ext cx="363538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68 KB</a:t>
            </a:r>
            <a:endParaRPr lang="en-US" sz="840" dirty="0"/>
          </a:p>
        </p:txBody>
      </p:sp>
      <p:sp>
        <p:nvSpPr>
          <p:cNvPr id="62" name="Text: Geist.woff2"/>
          <p:cNvSpPr txBox="1"/>
          <p:nvPr/>
        </p:nvSpPr>
        <p:spPr>
          <a:xfrm>
            <a:off x="2591296" y="5224959"/>
            <a:ext cx="68203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Geist.woff2</a:t>
            </a:r>
            <a:endParaRPr lang="en-US" sz="1000" dirty="0"/>
          </a:p>
        </p:txBody>
      </p:sp>
      <p:sp>
        <p:nvSpPr>
          <p:cNvPr id="63" name="Text: Modified"/>
          <p:cNvSpPr txBox="1"/>
          <p:nvPr/>
        </p:nvSpPr>
        <p:spPr>
          <a:xfrm>
            <a:off x="2591296" y="5594370"/>
            <a:ext cx="415528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Modified</a:t>
            </a:r>
            <a:endParaRPr lang="en-US" sz="840" dirty="0"/>
          </a:p>
        </p:txBody>
      </p:sp>
      <p:sp>
        <p:nvSpPr>
          <p:cNvPr id="64" name="Text: Sep 24"/>
          <p:cNvSpPr txBox="1"/>
          <p:nvPr/>
        </p:nvSpPr>
        <p:spPr>
          <a:xfrm>
            <a:off x="3108920" y="5588020"/>
            <a:ext cx="381893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Sep 24</a:t>
            </a:r>
            <a:endParaRPr lang="en-US" sz="840" dirty="0"/>
          </a:p>
        </p:txBody>
      </p:sp>
      <p:sp>
        <p:nvSpPr>
          <p:cNvPr id="65" name="Text: ·"/>
          <p:cNvSpPr txBox="1"/>
          <p:nvPr/>
        </p:nvSpPr>
        <p:spPr>
          <a:xfrm>
            <a:off x="3047405" y="5594370"/>
            <a:ext cx="2093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>
                    <a:alpha val="4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840" dirty="0"/>
          </a:p>
        </p:txBody>
      </p:sp>
      <p:pic>
        <p:nvPicPr>
          <p:cNvPr id="66" name="Graphic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536950" y="542925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67" name="Rounded Rectangle"/>
          <p:cNvSpPr/>
          <p:nvPr/>
        </p:nvSpPr>
        <p:spPr>
          <a:xfrm>
            <a:off x="3964087" y="3850878"/>
            <a:ext cx="1308695" cy="174416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970" sy="100728" algn="ctr" rotWithShape="0">
              <a:srgbClr val="000000">
                <a:alpha val="6000"/>
              </a:srgbClr>
            </a:outerShdw>
          </a:effectLst>
        </p:spPr>
      </p:sp>
      <p:pic>
        <p:nvPicPr>
          <p:cNvPr id="68" name="Rendered image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67262" y="3854053"/>
            <a:ext cx="1301750" cy="1301750"/>
          </a:xfrm>
          <a:prstGeom prst="rect">
            <a:avLst/>
          </a:prstGeom>
          <a:ln>
            <a:noFill/>
          </a:ln>
        </p:spPr>
      </p:pic>
      <p:sp>
        <p:nvSpPr>
          <p:cNvPr id="69" name="Rounded Rectangle"/>
          <p:cNvSpPr/>
          <p:nvPr/>
        </p:nvSpPr>
        <p:spPr>
          <a:xfrm>
            <a:off x="4331891" y="4528046"/>
            <a:ext cx="150316" cy="233164"/>
          </a:xfrm>
          <a:prstGeom prst="roundRect">
            <a:avLst>
              <a:gd name="adj" fmla="val 13518"/>
            </a:avLst>
          </a:prstGeom>
          <a:solidFill>
            <a:srgbClr val="0A0A0A"/>
          </a:solidFill>
          <a:ln>
            <a:noFill/>
          </a:ln>
        </p:spPr>
      </p:sp>
      <p:sp>
        <p:nvSpPr>
          <p:cNvPr id="70" name="Rounded Rectangle"/>
          <p:cNvSpPr/>
          <p:nvPr/>
        </p:nvSpPr>
        <p:spPr>
          <a:xfrm>
            <a:off x="4543127" y="4372471"/>
            <a:ext cx="150416" cy="388739"/>
          </a:xfrm>
          <a:prstGeom prst="roundRect">
            <a:avLst>
              <a:gd name="adj" fmla="val 13509"/>
            </a:avLst>
          </a:prstGeom>
          <a:solidFill>
            <a:srgbClr val="0A0A0A"/>
          </a:solidFill>
          <a:ln>
            <a:noFill/>
          </a:ln>
        </p:spPr>
      </p:sp>
      <p:sp>
        <p:nvSpPr>
          <p:cNvPr id="71" name="Rounded Rectangle"/>
          <p:cNvSpPr/>
          <p:nvPr/>
        </p:nvSpPr>
        <p:spPr>
          <a:xfrm>
            <a:off x="4754463" y="4242891"/>
            <a:ext cx="150416" cy="518319"/>
          </a:xfrm>
          <a:prstGeom prst="roundRect">
            <a:avLst>
              <a:gd name="adj" fmla="val 13509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72" name="Text: 0.4 KB"/>
          <p:cNvSpPr txBox="1"/>
          <p:nvPr/>
        </p:nvSpPr>
        <p:spPr>
          <a:xfrm>
            <a:off x="4068862" y="5415459"/>
            <a:ext cx="43616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0.4 KB</a:t>
            </a:r>
            <a:endParaRPr lang="en-US" sz="840" dirty="0"/>
          </a:p>
        </p:txBody>
      </p:sp>
      <p:sp>
        <p:nvSpPr>
          <p:cNvPr id="73" name="Text: chart.svg"/>
          <p:cNvSpPr txBox="1"/>
          <p:nvPr/>
        </p:nvSpPr>
        <p:spPr>
          <a:xfrm>
            <a:off x="4068862" y="5224959"/>
            <a:ext cx="547489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chart.svg</a:t>
            </a:r>
            <a:endParaRPr lang="en-US" sz="1000" dirty="0"/>
          </a:p>
        </p:txBody>
      </p:sp>
      <p:sp>
        <p:nvSpPr>
          <p:cNvPr id="74" name="Text: Modified"/>
          <p:cNvSpPr txBox="1"/>
          <p:nvPr/>
        </p:nvSpPr>
        <p:spPr>
          <a:xfrm>
            <a:off x="4068862" y="5594370"/>
            <a:ext cx="415528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Modified</a:t>
            </a:r>
            <a:endParaRPr lang="en-US" sz="840" dirty="0"/>
          </a:p>
        </p:txBody>
      </p:sp>
      <p:sp>
        <p:nvSpPr>
          <p:cNvPr id="75" name="Text: Sep 24"/>
          <p:cNvSpPr txBox="1"/>
          <p:nvPr/>
        </p:nvSpPr>
        <p:spPr>
          <a:xfrm>
            <a:off x="4586486" y="5588020"/>
            <a:ext cx="381893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Sep 24</a:t>
            </a:r>
            <a:endParaRPr lang="en-US" sz="840" dirty="0"/>
          </a:p>
        </p:txBody>
      </p:sp>
      <p:sp>
        <p:nvSpPr>
          <p:cNvPr id="76" name="Text: ·"/>
          <p:cNvSpPr txBox="1"/>
          <p:nvPr/>
        </p:nvSpPr>
        <p:spPr>
          <a:xfrm>
            <a:off x="4524970" y="5594370"/>
            <a:ext cx="2093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>
                    <a:alpha val="4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840" dirty="0"/>
          </a:p>
        </p:txBody>
      </p:sp>
      <p:pic>
        <p:nvPicPr>
          <p:cNvPr id="77" name="Graphic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010150" y="54292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78" name="Rounded Rectangle"/>
          <p:cNvSpPr/>
          <p:nvPr/>
        </p:nvSpPr>
        <p:spPr>
          <a:xfrm>
            <a:off x="5441652" y="3850878"/>
            <a:ext cx="1308695" cy="174416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970" sy="100728" algn="ctr" rotWithShape="0">
              <a:srgbClr val="000000">
                <a:alpha val="6000"/>
              </a:srgbClr>
            </a:outerShdw>
          </a:effectLst>
        </p:spPr>
      </p:sp>
      <p:pic>
        <p:nvPicPr>
          <p:cNvPr id="79" name="Rendered image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44827" y="3854053"/>
            <a:ext cx="1301750" cy="1301750"/>
          </a:xfrm>
          <a:prstGeom prst="rect">
            <a:avLst/>
          </a:prstGeom>
          <a:ln>
            <a:noFill/>
          </a:ln>
        </p:spPr>
      </p:pic>
      <p:sp>
        <p:nvSpPr>
          <p:cNvPr id="80" name="Ellipse"/>
          <p:cNvSpPr/>
          <p:nvPr/>
        </p:nvSpPr>
        <p:spPr>
          <a:xfrm>
            <a:off x="5861546" y="4267597"/>
            <a:ext cx="468809" cy="468809"/>
          </a:xfrm>
          <a:prstGeom prst="ellipse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81" name="Text: 0.1 KB"/>
          <p:cNvSpPr txBox="1"/>
          <p:nvPr/>
        </p:nvSpPr>
        <p:spPr>
          <a:xfrm>
            <a:off x="5546427" y="5415459"/>
            <a:ext cx="43616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0.1 KB</a:t>
            </a:r>
            <a:endParaRPr lang="en-US" sz="840" dirty="0"/>
          </a:p>
        </p:txBody>
      </p:sp>
      <p:sp>
        <p:nvSpPr>
          <p:cNvPr id="82" name="Text: dot.svg"/>
          <p:cNvSpPr txBox="1"/>
          <p:nvPr/>
        </p:nvSpPr>
        <p:spPr>
          <a:xfrm>
            <a:off x="5546427" y="5224959"/>
            <a:ext cx="43567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dot.svg</a:t>
            </a:r>
            <a:endParaRPr lang="en-US" sz="1000" dirty="0"/>
          </a:p>
        </p:txBody>
      </p:sp>
      <p:sp>
        <p:nvSpPr>
          <p:cNvPr id="83" name="Text: Modified"/>
          <p:cNvSpPr txBox="1"/>
          <p:nvPr/>
        </p:nvSpPr>
        <p:spPr>
          <a:xfrm>
            <a:off x="5546427" y="5594370"/>
            <a:ext cx="415528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Modified</a:t>
            </a:r>
            <a:endParaRPr lang="en-US" sz="840" dirty="0"/>
          </a:p>
        </p:txBody>
      </p:sp>
      <p:sp>
        <p:nvSpPr>
          <p:cNvPr id="84" name="Text: Sep 24"/>
          <p:cNvSpPr txBox="1"/>
          <p:nvPr/>
        </p:nvSpPr>
        <p:spPr>
          <a:xfrm>
            <a:off x="6064052" y="5588020"/>
            <a:ext cx="381893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Sep 24</a:t>
            </a:r>
            <a:endParaRPr lang="en-US" sz="840" dirty="0"/>
          </a:p>
        </p:txBody>
      </p:sp>
      <p:sp>
        <p:nvSpPr>
          <p:cNvPr id="85" name="Text: ·"/>
          <p:cNvSpPr txBox="1"/>
          <p:nvPr/>
        </p:nvSpPr>
        <p:spPr>
          <a:xfrm>
            <a:off x="6002536" y="5594370"/>
            <a:ext cx="2093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>
                    <a:alpha val="4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840" dirty="0"/>
          </a:p>
        </p:txBody>
      </p:sp>
      <p:pic>
        <p:nvPicPr>
          <p:cNvPr id="86" name="Graphic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489700" y="542925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87" name="Rounded Rectangle"/>
          <p:cNvSpPr/>
          <p:nvPr/>
        </p:nvSpPr>
        <p:spPr>
          <a:xfrm>
            <a:off x="6919218" y="3850878"/>
            <a:ext cx="1308695" cy="174416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970" sy="100728" algn="ctr" rotWithShape="0">
              <a:srgbClr val="000000">
                <a:alpha val="6000"/>
              </a:srgbClr>
            </a:outerShdw>
          </a:effectLst>
        </p:spPr>
      </p:sp>
      <p:pic>
        <p:nvPicPr>
          <p:cNvPr id="88" name="Rendered image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22393" y="3854053"/>
            <a:ext cx="1301750" cy="1301750"/>
          </a:xfrm>
          <a:prstGeom prst="rect">
            <a:avLst/>
          </a:prstGeom>
          <a:ln>
            <a:noFill/>
          </a:ln>
        </p:spPr>
      </p:pic>
      <p:pic>
        <p:nvPicPr>
          <p:cNvPr id="89" name="Graphic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366000" y="4292600"/>
            <a:ext cx="412750" cy="412750"/>
          </a:xfrm>
          <a:prstGeom prst="rect">
            <a:avLst/>
          </a:prstGeom>
          <a:ln>
            <a:noFill/>
          </a:ln>
        </p:spPr>
      </p:pic>
      <p:sp>
        <p:nvSpPr>
          <p:cNvPr id="90" name="Text: 0.2 KB"/>
          <p:cNvSpPr txBox="1"/>
          <p:nvPr/>
        </p:nvSpPr>
        <p:spPr>
          <a:xfrm>
            <a:off x="7023993" y="5415459"/>
            <a:ext cx="43616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0.2 KB</a:t>
            </a:r>
            <a:endParaRPr lang="en-US" sz="840" dirty="0"/>
          </a:p>
        </p:txBody>
      </p:sp>
      <p:sp>
        <p:nvSpPr>
          <p:cNvPr id="91" name="Text: arrow.svg"/>
          <p:cNvSpPr txBox="1"/>
          <p:nvPr/>
        </p:nvSpPr>
        <p:spPr>
          <a:xfrm>
            <a:off x="7023993" y="5224959"/>
            <a:ext cx="563364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arrow.svg</a:t>
            </a:r>
            <a:endParaRPr lang="en-US" sz="1000" dirty="0"/>
          </a:p>
        </p:txBody>
      </p:sp>
      <p:sp>
        <p:nvSpPr>
          <p:cNvPr id="92" name="Text: Modified"/>
          <p:cNvSpPr txBox="1"/>
          <p:nvPr/>
        </p:nvSpPr>
        <p:spPr>
          <a:xfrm>
            <a:off x="7023993" y="5594370"/>
            <a:ext cx="415528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Modified</a:t>
            </a:r>
            <a:endParaRPr lang="en-US" sz="840" dirty="0"/>
          </a:p>
        </p:txBody>
      </p:sp>
      <p:sp>
        <p:nvSpPr>
          <p:cNvPr id="93" name="Text: Sep 24"/>
          <p:cNvSpPr txBox="1"/>
          <p:nvPr/>
        </p:nvSpPr>
        <p:spPr>
          <a:xfrm>
            <a:off x="7541617" y="5588020"/>
            <a:ext cx="381893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Sep 24</a:t>
            </a:r>
            <a:endParaRPr lang="en-US" sz="840" dirty="0"/>
          </a:p>
        </p:txBody>
      </p:sp>
      <p:sp>
        <p:nvSpPr>
          <p:cNvPr id="94" name="Text: ·"/>
          <p:cNvSpPr txBox="1"/>
          <p:nvPr/>
        </p:nvSpPr>
        <p:spPr>
          <a:xfrm>
            <a:off x="7480102" y="5594370"/>
            <a:ext cx="2093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>
                    <a:alpha val="4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840" dirty="0"/>
          </a:p>
        </p:txBody>
      </p:sp>
      <p:pic>
        <p:nvPicPr>
          <p:cNvPr id="95" name="Graphic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969250" y="542925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96" name="Rounded Rectangle"/>
          <p:cNvSpPr/>
          <p:nvPr/>
        </p:nvSpPr>
        <p:spPr>
          <a:xfrm>
            <a:off x="8396784" y="3850878"/>
            <a:ext cx="1308695" cy="174416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970" sy="100728" algn="ctr" rotWithShape="0">
              <a:srgbClr val="000000">
                <a:alpha val="6000"/>
              </a:srgbClr>
            </a:outerShdw>
          </a:effectLst>
        </p:spPr>
      </p:sp>
      <p:pic>
        <p:nvPicPr>
          <p:cNvPr id="97" name="Rendered image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99959" y="3854053"/>
            <a:ext cx="1301750" cy="1301750"/>
          </a:xfrm>
          <a:prstGeom prst="rect">
            <a:avLst/>
          </a:prstGeom>
          <a:ln>
            <a:noFill/>
          </a:ln>
        </p:spPr>
      </p:pic>
      <p:pic>
        <p:nvPicPr>
          <p:cNvPr id="98" name="Graphic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45550" y="4292600"/>
            <a:ext cx="412750" cy="412750"/>
          </a:xfrm>
          <a:prstGeom prst="rect">
            <a:avLst/>
          </a:prstGeom>
          <a:ln>
            <a:noFill/>
          </a:ln>
        </p:spPr>
      </p:pic>
      <p:sp>
        <p:nvSpPr>
          <p:cNvPr id="99" name="Text: 0.3 KB"/>
          <p:cNvSpPr txBox="1"/>
          <p:nvPr/>
        </p:nvSpPr>
        <p:spPr>
          <a:xfrm>
            <a:off x="8501559" y="5415459"/>
            <a:ext cx="43616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0.3 KB</a:t>
            </a:r>
            <a:endParaRPr lang="en-US" sz="840" dirty="0"/>
          </a:p>
        </p:txBody>
      </p:sp>
      <p:sp>
        <p:nvSpPr>
          <p:cNvPr id="100" name="Text: grid.svg"/>
          <p:cNvSpPr txBox="1"/>
          <p:nvPr/>
        </p:nvSpPr>
        <p:spPr>
          <a:xfrm>
            <a:off x="8501559" y="5224959"/>
            <a:ext cx="464741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grid.svg</a:t>
            </a:r>
            <a:endParaRPr lang="en-US" sz="1000" dirty="0"/>
          </a:p>
        </p:txBody>
      </p:sp>
      <p:sp>
        <p:nvSpPr>
          <p:cNvPr id="101" name="Text: Modified"/>
          <p:cNvSpPr txBox="1"/>
          <p:nvPr/>
        </p:nvSpPr>
        <p:spPr>
          <a:xfrm>
            <a:off x="8501559" y="5594370"/>
            <a:ext cx="415528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Modified</a:t>
            </a:r>
            <a:endParaRPr lang="en-US" sz="840" dirty="0"/>
          </a:p>
        </p:txBody>
      </p:sp>
      <p:sp>
        <p:nvSpPr>
          <p:cNvPr id="102" name="Text: Sep 24"/>
          <p:cNvSpPr txBox="1"/>
          <p:nvPr/>
        </p:nvSpPr>
        <p:spPr>
          <a:xfrm>
            <a:off x="9019183" y="5588020"/>
            <a:ext cx="381893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Sep 24</a:t>
            </a:r>
            <a:endParaRPr lang="en-US" sz="840" dirty="0"/>
          </a:p>
        </p:txBody>
      </p:sp>
      <p:sp>
        <p:nvSpPr>
          <p:cNvPr id="103" name="Text: ·"/>
          <p:cNvSpPr txBox="1"/>
          <p:nvPr/>
        </p:nvSpPr>
        <p:spPr>
          <a:xfrm>
            <a:off x="8957667" y="5594370"/>
            <a:ext cx="2093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>
                    <a:alpha val="4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840" dirty="0"/>
          </a:p>
        </p:txBody>
      </p:sp>
      <p:pic>
        <p:nvPicPr>
          <p:cNvPr id="104" name="Graphic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442450" y="54292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105" name="Rounded Rectangle"/>
          <p:cNvSpPr/>
          <p:nvPr/>
        </p:nvSpPr>
        <p:spPr>
          <a:xfrm>
            <a:off x="9874349" y="3850878"/>
            <a:ext cx="1308695" cy="174416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970" sy="100728" algn="ctr" rotWithShape="0">
              <a:srgbClr val="000000">
                <a:alpha val="6000"/>
              </a:srgbClr>
            </a:outerShdw>
          </a:effectLst>
        </p:spPr>
      </p:sp>
      <p:pic>
        <p:nvPicPr>
          <p:cNvPr id="106" name="Rendered image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880699" y="3854053"/>
            <a:ext cx="1298575" cy="1301750"/>
          </a:xfrm>
          <a:prstGeom prst="rect">
            <a:avLst/>
          </a:prstGeom>
          <a:ln>
            <a:noFill/>
          </a:ln>
        </p:spPr>
      </p:pic>
      <p:sp>
        <p:nvSpPr>
          <p:cNvPr id="107" name="Rounded Rectangle"/>
          <p:cNvSpPr/>
          <p:nvPr/>
        </p:nvSpPr>
        <p:spPr>
          <a:xfrm>
            <a:off x="10111978" y="4267597"/>
            <a:ext cx="833438" cy="468809"/>
          </a:xfrm>
          <a:prstGeom prst="roundRect">
            <a:avLst>
              <a:gd name="adj" fmla="val 650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1524" sy="102709" algn="ctr" rotWithShape="0">
              <a:srgbClr val="000000">
                <a:alpha val="6000"/>
              </a:srgbClr>
            </a:outerShdw>
          </a:effectLst>
        </p:spPr>
      </p:sp>
      <p:sp>
        <p:nvSpPr>
          <p:cNvPr id="108" name="Rounded Rectangle"/>
          <p:cNvSpPr/>
          <p:nvPr/>
        </p:nvSpPr>
        <p:spPr>
          <a:xfrm>
            <a:off x="10216158" y="4510385"/>
            <a:ext cx="437555" cy="5080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>
            <a:noFill/>
          </a:ln>
        </p:spPr>
      </p:sp>
      <p:sp>
        <p:nvSpPr>
          <p:cNvPr id="109" name="Rounded Rectangle"/>
          <p:cNvSpPr/>
          <p:nvPr/>
        </p:nvSpPr>
        <p:spPr>
          <a:xfrm>
            <a:off x="10216158" y="4601766"/>
            <a:ext cx="250031" cy="30460"/>
          </a:xfrm>
          <a:prstGeom prst="roundRect">
            <a:avLst>
              <a:gd name="adj" fmla="val 33355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110" name="Text: 24 KB"/>
          <p:cNvSpPr txBox="1"/>
          <p:nvPr/>
        </p:nvSpPr>
        <p:spPr>
          <a:xfrm>
            <a:off x="9979124" y="5415459"/>
            <a:ext cx="363538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67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24 KB</a:t>
            </a:r>
            <a:endParaRPr lang="en-US" sz="840" dirty="0"/>
          </a:p>
        </p:txBody>
      </p:sp>
      <p:sp>
        <p:nvSpPr>
          <p:cNvPr id="111" name="Text: cover.png"/>
          <p:cNvSpPr txBox="1"/>
          <p:nvPr/>
        </p:nvSpPr>
        <p:spPr>
          <a:xfrm>
            <a:off x="9979124" y="5224959"/>
            <a:ext cx="572889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cover.png</a:t>
            </a:r>
            <a:endParaRPr lang="en-US" sz="1000" dirty="0"/>
          </a:p>
        </p:txBody>
      </p:sp>
      <p:sp>
        <p:nvSpPr>
          <p:cNvPr id="112" name="Text: Modified"/>
          <p:cNvSpPr txBox="1"/>
          <p:nvPr/>
        </p:nvSpPr>
        <p:spPr>
          <a:xfrm>
            <a:off x="9979124" y="5594370"/>
            <a:ext cx="415528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Modified</a:t>
            </a:r>
            <a:endParaRPr lang="en-US" sz="840" dirty="0"/>
          </a:p>
        </p:txBody>
      </p:sp>
      <p:sp>
        <p:nvSpPr>
          <p:cNvPr id="113" name="Text: just now"/>
          <p:cNvSpPr txBox="1"/>
          <p:nvPr/>
        </p:nvSpPr>
        <p:spPr>
          <a:xfrm>
            <a:off x="10496748" y="5588020"/>
            <a:ext cx="509191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just now</a:t>
            </a:r>
            <a:endParaRPr lang="en-US" sz="840" dirty="0"/>
          </a:p>
        </p:txBody>
      </p:sp>
      <p:sp>
        <p:nvSpPr>
          <p:cNvPr id="114" name="Text: ·"/>
          <p:cNvSpPr txBox="1"/>
          <p:nvPr/>
        </p:nvSpPr>
        <p:spPr>
          <a:xfrm>
            <a:off x="10435233" y="5594370"/>
            <a:ext cx="20935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6B6B6B">
                    <a:alpha val="40000"/>
                  </a:srgbClr>
                </a:solidFill>
                <a:latin typeface="Geist Variable"/>
                <a:ea typeface="Geist Variable"/>
                <a:cs typeface="Geist Variable"/>
              </a:rPr>
              <a:t>·</a:t>
            </a:r>
            <a:endParaRPr lang="en-US" sz="840" dirty="0"/>
          </a:p>
        </p:txBody>
      </p:sp>
      <p:pic>
        <p:nvPicPr>
          <p:cNvPr id="115" name="Graphic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922000" y="5429250"/>
            <a:ext cx="152400" cy="146050"/>
          </a:xfrm>
          <a:prstGeom prst="rect">
            <a:avLst/>
          </a:prstGeom>
          <a:ln>
            <a:noFill/>
          </a:ln>
        </p:spPr>
      </p:pic>
      <p:pic>
        <p:nvPicPr>
          <p:cNvPr id="116" name="Graphic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255000" y="4394200"/>
            <a:ext cx="203200" cy="209550"/>
          </a:xfrm>
          <a:prstGeom prst="rect">
            <a:avLst/>
          </a:prstGeom>
          <a:ln>
            <a:noFill/>
          </a:ln>
        </p:spPr>
      </p:pic>
      <p:pic>
        <p:nvPicPr>
          <p:cNvPr id="117" name="Graphic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39800" y="2165350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118" name="Rectangle"/>
          <p:cNvSpPr/>
          <p:nvPr/>
        </p:nvSpPr>
        <p:spPr>
          <a:xfrm>
            <a:off x="1269802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19" name="Rounded Rectangle"/>
          <p:cNvSpPr/>
          <p:nvPr/>
        </p:nvSpPr>
        <p:spPr>
          <a:xfrm>
            <a:off x="1377652" y="2108200"/>
            <a:ext cx="1181199" cy="284460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20" name="Text: Slides"/>
          <p:cNvSpPr txBox="1"/>
          <p:nvPr/>
        </p:nvSpPr>
        <p:spPr>
          <a:xfrm>
            <a:off x="1499493" y="2137946"/>
            <a:ext cx="347266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960" dirty="0"/>
          </a:p>
        </p:txBody>
      </p:sp>
      <p:sp>
        <p:nvSpPr>
          <p:cNvPr id="121" name="Rounded Rectangle"/>
          <p:cNvSpPr/>
          <p:nvPr/>
        </p:nvSpPr>
        <p:spPr>
          <a:xfrm>
            <a:off x="1948359" y="2128441"/>
            <a:ext cx="590252" cy="237430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152" sy="105349" algn="ctr" rotWithShape="0">
              <a:srgbClr val="000000">
                <a:alpha val="6000"/>
              </a:srgbClr>
            </a:outerShdw>
          </a:effectLst>
        </p:spPr>
      </p:sp>
      <p:sp>
        <p:nvSpPr>
          <p:cNvPr id="122" name="Text: Assets"/>
          <p:cNvSpPr txBox="1"/>
          <p:nvPr/>
        </p:nvSpPr>
        <p:spPr>
          <a:xfrm>
            <a:off x="2049959" y="2137946"/>
            <a:ext cx="387052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960" dirty="0"/>
          </a:p>
        </p:txBody>
      </p:sp>
      <p:sp>
        <p:nvSpPr>
          <p:cNvPr id="123" name="Rounded Rectangle"/>
          <p:cNvSpPr/>
          <p:nvPr/>
        </p:nvSpPr>
        <p:spPr>
          <a:xfrm>
            <a:off x="2643287" y="2151955"/>
            <a:ext cx="1072158" cy="196850"/>
          </a:xfrm>
          <a:prstGeom prst="roundRect">
            <a:avLst>
              <a:gd name="adj" fmla="val 13871"/>
            </a:avLst>
          </a:prstGeom>
          <a:solidFill>
            <a:srgbClr val="FFFFFF"/>
          </a:solidFill>
          <a:ln w="6350" cap="flat" cmpd="sng" algn="ctr">
            <a:solidFill>
              <a:srgbClr val="ECECEC"/>
            </a:solidFill>
            <a:miter lim="800000"/>
          </a:ln>
        </p:spPr>
      </p:sp>
      <p:sp>
        <p:nvSpPr>
          <p:cNvPr id="124" name="Text: Agent connected"/>
          <p:cNvSpPr txBox="1"/>
          <p:nvPr/>
        </p:nvSpPr>
        <p:spPr>
          <a:xfrm>
            <a:off x="2829223" y="2156440"/>
            <a:ext cx="822127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-4" dirty="0">
                <a:solidFill>
                  <a:srgbClr val="0A0A0A">
                    <a:alpha val="85000"/>
                  </a:srgbClr>
                </a:solidFill>
                <a:latin typeface="Geist Variable"/>
                <a:ea typeface="Geist Variable"/>
                <a:cs typeface="Geist Variable"/>
              </a:rPr>
              <a:t>Agent connected</a:t>
            </a:r>
            <a:endParaRPr lang="en-US" sz="840" dirty="0"/>
          </a:p>
        </p:txBody>
      </p:sp>
      <p:sp>
        <p:nvSpPr>
          <p:cNvPr id="125" name="Ellipse"/>
          <p:cNvSpPr/>
          <p:nvPr/>
        </p:nvSpPr>
        <p:spPr>
          <a:xfrm>
            <a:off x="2707382" y="2219920"/>
            <a:ext cx="60920" cy="60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6" name="Text: Q2 Launch"/>
          <p:cNvSpPr txBox="1"/>
          <p:nvPr/>
        </p:nvSpPr>
        <p:spPr>
          <a:xfrm>
            <a:off x="5749925" y="2132350"/>
            <a:ext cx="692051" cy="2057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1" spc="-1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1080" dirty="0"/>
          </a:p>
        </p:txBody>
      </p:sp>
      <p:sp>
        <p:nvSpPr>
          <p:cNvPr id="127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128" name="Text: 09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09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Toolbox"/>
          <p:cNvSpPr txBox="1"/>
          <p:nvPr/>
        </p:nvSpPr>
        <p:spPr>
          <a:xfrm>
            <a:off x="939800" y="615950"/>
            <a:ext cx="504428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Toolbox</a:t>
            </a:r>
            <a:endParaRPr lang="en-US" sz="1100" dirty="0"/>
          </a:p>
        </p:txBody>
      </p:sp>
      <p:sp>
        <p:nvSpPr>
          <p:cNvPr id="4" name="Text: Design tokens, live."/>
          <p:cNvSpPr txBox="1"/>
          <p:nvPr/>
        </p:nvSpPr>
        <p:spPr>
          <a:xfrm>
            <a:off x="762000" y="921766"/>
            <a:ext cx="3412629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Design tokens, live.</a:t>
            </a:r>
            <a:endParaRPr lang="en-US" sz="3200" dirty="0"/>
          </a:p>
        </p:txBody>
      </p:sp>
      <p:sp>
        <p:nvSpPr>
          <p:cNvPr id="5" name="Rounded Rectangle"/>
          <p:cNvSpPr/>
          <p:nvPr/>
        </p:nvSpPr>
        <p:spPr>
          <a:xfrm>
            <a:off x="762000" y="1778000"/>
            <a:ext cx="3556000" cy="406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357" sy="100313" algn="ctr" rotWithShape="0">
              <a:srgbClr val="000000">
                <a:alpha val="7000"/>
              </a:srgbClr>
            </a:outerShdw>
          </a:effectLst>
        </p:spPr>
      </p:sp>
      <p:sp>
        <p:nvSpPr>
          <p:cNvPr id="6" name="Border"/>
          <p:cNvSpPr/>
          <p:nvPr/>
        </p:nvSpPr>
        <p:spPr>
          <a:xfrm>
            <a:off x="762000" y="2101850"/>
            <a:ext cx="3556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7" name="Ellipse"/>
          <p:cNvSpPr/>
          <p:nvPr/>
        </p:nvSpPr>
        <p:spPr>
          <a:xfrm>
            <a:off x="889000" y="19050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1009650" y="19050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130300" y="19050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Text: slides/q2-launch/index.tsx"/>
          <p:cNvSpPr txBox="1"/>
          <p:nvPr/>
        </p:nvSpPr>
        <p:spPr>
          <a:xfrm>
            <a:off x="1654671" y="1836738"/>
            <a:ext cx="1717873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slides/q2-launch/index.tsx</a:t>
            </a:r>
            <a:endParaRPr lang="en-US" sz="850" dirty="0"/>
          </a:p>
        </p:txBody>
      </p:sp>
      <p:sp>
        <p:nvSpPr>
          <p:cNvPr id="11" name="Text: DESIGN"/>
          <p:cNvSpPr txBox="1"/>
          <p:nvPr/>
        </p:nvSpPr>
        <p:spPr>
          <a:xfrm>
            <a:off x="3827165" y="1854200"/>
            <a:ext cx="363835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spc="56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DESIGN</a:t>
            </a:r>
            <a:endParaRPr lang="en-US" sz="700" dirty="0"/>
          </a:p>
        </p:txBody>
      </p:sp>
      <p:sp>
        <p:nvSpPr>
          <p:cNvPr id="12" name="Text: export const  design :   DesignSystem   "/>
          <p:cNvSpPr txBox="1"/>
          <p:nvPr/>
        </p:nvSpPr>
        <p:spPr>
          <a:xfrm>
            <a:off x="990600" y="2250440"/>
            <a:ext cx="29332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export const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design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DesignSystem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 {</a:t>
            </a:r>
            <a:endParaRPr lang="en-US" sz="1050" dirty="0"/>
          </a:p>
        </p:txBody>
      </p:sp>
      <p:sp>
        <p:nvSpPr>
          <p:cNvPr id="13" name="Text: palette : {"/>
          <p:cNvSpPr txBox="1"/>
          <p:nvPr/>
        </p:nvSpPr>
        <p:spPr>
          <a:xfrm>
            <a:off x="990600" y="2463760"/>
            <a:ext cx="951309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palette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 {</a:t>
            </a:r>
            <a:endParaRPr lang="en-US" sz="1050" dirty="0"/>
          </a:p>
        </p:txBody>
      </p:sp>
      <p:sp>
        <p:nvSpPr>
          <p:cNvPr id="14" name="Text: bg :   '#ffffff' ,"/>
          <p:cNvSpPr txBox="1"/>
          <p:nvPr/>
        </p:nvSpPr>
        <p:spPr>
          <a:xfrm>
            <a:off x="990600" y="2677081"/>
            <a:ext cx="142696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bg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'#ffffff'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5" name="Text: text :   '#0a0a0a' ,"/>
          <p:cNvSpPr txBox="1"/>
          <p:nvPr/>
        </p:nvSpPr>
        <p:spPr>
          <a:xfrm>
            <a:off x="990600" y="2890401"/>
            <a:ext cx="1585516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text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'#0a0a0a'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6" name="Text: accent :   '#de3b3d' ,"/>
          <p:cNvSpPr txBox="1"/>
          <p:nvPr/>
        </p:nvSpPr>
        <p:spPr>
          <a:xfrm>
            <a:off x="990600" y="3103721"/>
            <a:ext cx="1744067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accent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'#de3b3d'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7" name="Text: },"/>
          <p:cNvSpPr txBox="1"/>
          <p:nvPr/>
        </p:nvSpPr>
        <p:spPr>
          <a:xfrm>
            <a:off x="990600" y="3317042"/>
            <a:ext cx="317103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},</a:t>
            </a:r>
            <a:endParaRPr lang="en-US" sz="1050" dirty="0"/>
          </a:p>
        </p:txBody>
      </p:sp>
      <p:sp>
        <p:nvSpPr>
          <p:cNvPr id="18" name="Text: fonts : {"/>
          <p:cNvSpPr txBox="1"/>
          <p:nvPr/>
        </p:nvSpPr>
        <p:spPr>
          <a:xfrm>
            <a:off x="990600" y="3530362"/>
            <a:ext cx="792758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fonts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 {</a:t>
            </a:r>
            <a:endParaRPr lang="en-US" sz="1050" dirty="0"/>
          </a:p>
        </p:txBody>
      </p:sp>
      <p:sp>
        <p:nvSpPr>
          <p:cNvPr id="19" name="Text: display :   'Geist, sans-serif' ,"/>
          <p:cNvSpPr txBox="1"/>
          <p:nvPr/>
        </p:nvSpPr>
        <p:spPr>
          <a:xfrm>
            <a:off x="990600" y="3743682"/>
            <a:ext cx="2616002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display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'Geist, sans-serif'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20" name="Text: body :   'Geist, sans-serif' ,"/>
          <p:cNvSpPr txBox="1"/>
          <p:nvPr/>
        </p:nvSpPr>
        <p:spPr>
          <a:xfrm>
            <a:off x="990600" y="3957003"/>
            <a:ext cx="237817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  body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'Geist, sans-serif'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21" name="Text: },"/>
          <p:cNvSpPr txBox="1"/>
          <p:nvPr/>
        </p:nvSpPr>
        <p:spPr>
          <a:xfrm>
            <a:off x="990600" y="4170323"/>
            <a:ext cx="317103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},</a:t>
            </a:r>
            <a:endParaRPr lang="en-US" sz="1050" dirty="0"/>
          </a:p>
        </p:txBody>
      </p:sp>
      <p:sp>
        <p:nvSpPr>
          <p:cNvPr id="22" name="Text: typeScale : {  hero :   ,  body :   32  "/>
          <p:cNvSpPr txBox="1"/>
          <p:nvPr/>
        </p:nvSpPr>
        <p:spPr>
          <a:xfrm>
            <a:off x="990600" y="4383643"/>
            <a:ext cx="293320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typeScale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 {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hero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body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32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},</a:t>
            </a:r>
            <a:endParaRPr lang="en-US" sz="1050" dirty="0"/>
          </a:p>
        </p:txBody>
      </p:sp>
      <p:sp>
        <p:nvSpPr>
          <p:cNvPr id="23" name="Text: 176"/>
          <p:cNvSpPr txBox="1"/>
          <p:nvPr/>
        </p:nvSpPr>
        <p:spPr>
          <a:xfrm>
            <a:off x="2655391" y="4315520"/>
            <a:ext cx="237827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176</a:t>
            </a:r>
            <a:endParaRPr lang="en-US" sz="1050" dirty="0"/>
          </a:p>
        </p:txBody>
      </p:sp>
      <p:sp>
        <p:nvSpPr>
          <p:cNvPr id="24" name="Text: 200"/>
          <p:cNvSpPr txBox="1"/>
          <p:nvPr/>
        </p:nvSpPr>
        <p:spPr>
          <a:xfrm>
            <a:off x="2655391" y="4448870"/>
            <a:ext cx="237827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200</a:t>
            </a:r>
            <a:endParaRPr lang="en-US" sz="1050" dirty="0"/>
          </a:p>
        </p:txBody>
      </p:sp>
      <p:sp>
        <p:nvSpPr>
          <p:cNvPr id="25" name="Text: radius :   12 ,"/>
          <p:cNvSpPr txBox="1"/>
          <p:nvPr/>
        </p:nvSpPr>
        <p:spPr>
          <a:xfrm>
            <a:off x="990600" y="4596963"/>
            <a:ext cx="1030585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radius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0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12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26" name="Text: };"/>
          <p:cNvSpPr txBox="1"/>
          <p:nvPr/>
        </p:nvSpPr>
        <p:spPr>
          <a:xfrm>
            <a:off x="990600" y="4810284"/>
            <a:ext cx="158552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};</a:t>
            </a:r>
            <a:endParaRPr lang="en-US" sz="1050" dirty="0"/>
          </a:p>
        </p:txBody>
      </p:sp>
      <p:sp>
        <p:nvSpPr>
          <p:cNvPr id="27" name="Text"/>
          <p:cNvSpPr txBox="1"/>
          <p:nvPr/>
        </p:nvSpPr>
        <p:spPr>
          <a:xfrm>
            <a:off x="990600" y="5023604"/>
            <a:ext cx="79276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050" dirty="0"/>
          </a:p>
        </p:txBody>
      </p:sp>
      <p:sp>
        <p:nvSpPr>
          <p:cNvPr id="28" name="Text: // read as var(--osd-size-hero)"/>
          <p:cNvSpPr txBox="1"/>
          <p:nvPr/>
        </p:nvSpPr>
        <p:spPr>
          <a:xfrm>
            <a:off x="990600" y="5236924"/>
            <a:ext cx="2457351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// read as var(--osd-size-hero)</a:t>
            </a:r>
            <a:endParaRPr lang="en-US" sz="1050" dirty="0"/>
          </a:p>
        </p:txBody>
      </p:sp>
      <p:sp>
        <p:nvSpPr>
          <p:cNvPr id="29" name="Rounded Rectangle"/>
          <p:cNvSpPr/>
          <p:nvPr/>
        </p:nvSpPr>
        <p:spPr>
          <a:xfrm>
            <a:off x="4521200" y="1778000"/>
            <a:ext cx="6908800" cy="4064000"/>
          </a:xfrm>
          <a:prstGeom prst="roundRect">
            <a:avLst>
              <a:gd name="adj" fmla="val 1875"/>
            </a:avLst>
          </a:prstGeom>
          <a:noFill/>
          <a:ln>
            <a:noFill/>
          </a:ln>
          <a:effectLst>
            <a:outerShdw blurRad="0" dist="0" dir="0" sx="100184" sy="100313" algn="ctr" rotWithShape="0">
              <a:srgbClr val="000000">
                <a:alpha val="7000"/>
              </a:srgbClr>
            </a:outerShdw>
          </a:effectLst>
        </p:spPr>
      </p:sp>
      <p:sp>
        <p:nvSpPr>
          <p:cNvPr id="30" name="Rectangle"/>
          <p:cNvSpPr/>
          <p:nvPr/>
        </p:nvSpPr>
        <p:spPr>
          <a:xfrm>
            <a:off x="4521200" y="1778000"/>
            <a:ext cx="6908800" cy="4064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31" name="Rectangle"/>
          <p:cNvSpPr/>
          <p:nvPr/>
        </p:nvSpPr>
        <p:spPr>
          <a:xfrm>
            <a:off x="8829040" y="2168128"/>
            <a:ext cx="2600960" cy="3673872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32" name="Border"/>
          <p:cNvSpPr/>
          <p:nvPr/>
        </p:nvSpPr>
        <p:spPr>
          <a:xfrm>
            <a:off x="8829040" y="2168128"/>
            <a:ext cx="5080" cy="3673872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33" name="Border"/>
          <p:cNvSpPr/>
          <p:nvPr/>
        </p:nvSpPr>
        <p:spPr>
          <a:xfrm>
            <a:off x="8834120" y="2455624"/>
            <a:ext cx="2595880" cy="508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34" name="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2260600"/>
            <a:ext cx="107950" cy="104775"/>
          </a:xfrm>
          <a:prstGeom prst="rect">
            <a:avLst/>
          </a:prstGeom>
          <a:ln>
            <a:noFill/>
          </a:ln>
        </p:spPr>
      </p:pic>
      <p:sp>
        <p:nvSpPr>
          <p:cNvPr id="35" name="Text: Design tokens"/>
          <p:cNvSpPr txBox="1"/>
          <p:nvPr/>
        </p:nvSpPr>
        <p:spPr>
          <a:xfrm>
            <a:off x="9110345" y="2224469"/>
            <a:ext cx="65492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b="1" spc="-8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Design tokens</a:t>
            </a:r>
            <a:endParaRPr lang="en-US" sz="768" dirty="0"/>
          </a:p>
        </p:txBody>
      </p:sp>
      <p:pic>
        <p:nvPicPr>
          <p:cNvPr id="36" name="Graph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350" y="2276475"/>
            <a:ext cx="69850" cy="69850"/>
          </a:xfrm>
          <a:prstGeom prst="rect">
            <a:avLst/>
          </a:prstGeom>
          <a:ln>
            <a:noFill/>
          </a:ln>
        </p:spPr>
      </p:pic>
      <p:sp>
        <p:nvSpPr>
          <p:cNvPr id="37" name="Text: COLORS"/>
          <p:cNvSpPr txBox="1"/>
          <p:nvPr/>
        </p:nvSpPr>
        <p:spPr>
          <a:xfrm>
            <a:off x="8947864" y="2578529"/>
            <a:ext cx="40655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COLORS</a:t>
            </a:r>
            <a:endParaRPr lang="en-US" sz="704" dirty="0"/>
          </a:p>
        </p:txBody>
      </p:sp>
      <p:sp>
        <p:nvSpPr>
          <p:cNvPr id="38" name="Text: Background"/>
          <p:cNvSpPr txBox="1"/>
          <p:nvPr/>
        </p:nvSpPr>
        <p:spPr>
          <a:xfrm>
            <a:off x="8947864" y="2840625"/>
            <a:ext cx="490061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Background</a:t>
            </a:r>
            <a:endParaRPr lang="en-US" sz="704" dirty="0"/>
          </a:p>
        </p:txBody>
      </p:sp>
      <p:sp>
        <p:nvSpPr>
          <p:cNvPr id="39" name="Rounded Rectangle"/>
          <p:cNvSpPr/>
          <p:nvPr/>
        </p:nvSpPr>
        <p:spPr>
          <a:xfrm>
            <a:off x="9600565" y="2808605"/>
            <a:ext cx="22248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40" name="Rounded Rectangle"/>
          <p:cNvSpPr/>
          <p:nvPr/>
        </p:nvSpPr>
        <p:spPr>
          <a:xfrm>
            <a:off x="9646761" y="2854801"/>
            <a:ext cx="130016" cy="130016"/>
          </a:xfrm>
          <a:prstGeom prst="roundRect">
            <a:avLst>
              <a:gd name="adj" fmla="val 1875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Rounded Rectangle"/>
          <p:cNvSpPr/>
          <p:nvPr/>
        </p:nvSpPr>
        <p:spPr>
          <a:xfrm>
            <a:off x="9876869" y="2808605"/>
            <a:ext cx="143684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42" name="Text: #FFFFFF"/>
          <p:cNvSpPr txBox="1"/>
          <p:nvPr/>
        </p:nvSpPr>
        <p:spPr>
          <a:xfrm>
            <a:off x="9944418" y="2835545"/>
            <a:ext cx="3738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#FFFFFF</a:t>
            </a:r>
            <a:endParaRPr lang="en-US" sz="704" dirty="0"/>
          </a:p>
        </p:txBody>
      </p:sp>
      <p:sp>
        <p:nvSpPr>
          <p:cNvPr id="43" name="Text: Text"/>
          <p:cNvSpPr txBox="1"/>
          <p:nvPr/>
        </p:nvSpPr>
        <p:spPr>
          <a:xfrm>
            <a:off x="8947864" y="3149473"/>
            <a:ext cx="168831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Text</a:t>
            </a:r>
            <a:endParaRPr lang="en-US" sz="704" dirty="0"/>
          </a:p>
        </p:txBody>
      </p:sp>
      <p:sp>
        <p:nvSpPr>
          <p:cNvPr id="44" name="Rounded Rectangle"/>
          <p:cNvSpPr/>
          <p:nvPr/>
        </p:nvSpPr>
        <p:spPr>
          <a:xfrm>
            <a:off x="9600565" y="3117453"/>
            <a:ext cx="22248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45" name="Rounded Rectangle"/>
          <p:cNvSpPr/>
          <p:nvPr/>
        </p:nvSpPr>
        <p:spPr>
          <a:xfrm>
            <a:off x="9646761" y="3163649"/>
            <a:ext cx="130016" cy="130016"/>
          </a:xfrm>
          <a:prstGeom prst="roundRect">
            <a:avLst>
              <a:gd name="adj" fmla="val 18755"/>
            </a:avLst>
          </a:prstGeom>
          <a:solidFill>
            <a:srgbClr val="0A0A0A"/>
          </a:solidFill>
          <a:ln>
            <a:noFill/>
          </a:ln>
        </p:spPr>
      </p:sp>
      <p:sp>
        <p:nvSpPr>
          <p:cNvPr id="46" name="Rounded Rectangle"/>
          <p:cNvSpPr/>
          <p:nvPr/>
        </p:nvSpPr>
        <p:spPr>
          <a:xfrm>
            <a:off x="9876869" y="3117453"/>
            <a:ext cx="143684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47" name="Text: #0A0A0A"/>
          <p:cNvSpPr txBox="1"/>
          <p:nvPr/>
        </p:nvSpPr>
        <p:spPr>
          <a:xfrm>
            <a:off x="9944418" y="3144393"/>
            <a:ext cx="3738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#0A0A0A</a:t>
            </a:r>
            <a:endParaRPr lang="en-US" sz="704" dirty="0"/>
          </a:p>
        </p:txBody>
      </p:sp>
      <p:sp>
        <p:nvSpPr>
          <p:cNvPr id="48" name="Text: Accent"/>
          <p:cNvSpPr txBox="1"/>
          <p:nvPr/>
        </p:nvSpPr>
        <p:spPr>
          <a:xfrm>
            <a:off x="8947864" y="3458321"/>
            <a:ext cx="284163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Accent</a:t>
            </a:r>
            <a:endParaRPr lang="en-US" sz="704" dirty="0"/>
          </a:p>
        </p:txBody>
      </p:sp>
      <p:sp>
        <p:nvSpPr>
          <p:cNvPr id="49" name="Rounded Rectangle"/>
          <p:cNvSpPr/>
          <p:nvPr/>
        </p:nvSpPr>
        <p:spPr>
          <a:xfrm>
            <a:off x="9600565" y="3426301"/>
            <a:ext cx="222488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50" name="Rounded Rectangle"/>
          <p:cNvSpPr/>
          <p:nvPr/>
        </p:nvSpPr>
        <p:spPr>
          <a:xfrm>
            <a:off x="9646761" y="3472498"/>
            <a:ext cx="130016" cy="130016"/>
          </a:xfrm>
          <a:prstGeom prst="roundRect">
            <a:avLst>
              <a:gd name="adj" fmla="val 18755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51" name="Rounded Rectangle"/>
          <p:cNvSpPr/>
          <p:nvPr/>
        </p:nvSpPr>
        <p:spPr>
          <a:xfrm>
            <a:off x="9876869" y="3426301"/>
            <a:ext cx="1436846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52" name="Text: #DE3B3D"/>
          <p:cNvSpPr txBox="1"/>
          <p:nvPr/>
        </p:nvSpPr>
        <p:spPr>
          <a:xfrm>
            <a:off x="9944418" y="3453241"/>
            <a:ext cx="37385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#DE3B3D</a:t>
            </a:r>
            <a:endParaRPr lang="en-US" sz="704" dirty="0"/>
          </a:p>
        </p:txBody>
      </p:sp>
      <p:sp>
        <p:nvSpPr>
          <p:cNvPr id="53" name="Text: TYPOGRAPHY"/>
          <p:cNvSpPr txBox="1"/>
          <p:nvPr/>
        </p:nvSpPr>
        <p:spPr>
          <a:xfrm>
            <a:off x="8947864" y="3899170"/>
            <a:ext cx="654606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TYPOGRAPHY</a:t>
            </a:r>
            <a:endParaRPr lang="en-US" sz="704" dirty="0"/>
          </a:p>
        </p:txBody>
      </p:sp>
      <p:sp>
        <p:nvSpPr>
          <p:cNvPr id="54" name="Text: Display"/>
          <p:cNvSpPr txBox="1"/>
          <p:nvPr/>
        </p:nvSpPr>
        <p:spPr>
          <a:xfrm>
            <a:off x="8947864" y="4161266"/>
            <a:ext cx="298450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Display</a:t>
            </a:r>
            <a:endParaRPr lang="en-US" sz="704" dirty="0"/>
          </a:p>
        </p:txBody>
      </p:sp>
      <p:sp>
        <p:nvSpPr>
          <p:cNvPr id="55" name="Rounded Rectangle"/>
          <p:cNvSpPr/>
          <p:nvPr/>
        </p:nvSpPr>
        <p:spPr>
          <a:xfrm>
            <a:off x="9600565" y="4129246"/>
            <a:ext cx="1713151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56" name="Text: Custom…"/>
          <p:cNvSpPr txBox="1"/>
          <p:nvPr/>
        </p:nvSpPr>
        <p:spPr>
          <a:xfrm>
            <a:off x="9684385" y="4153122"/>
            <a:ext cx="400209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Custom…</a:t>
            </a:r>
            <a:endParaRPr lang="en-US" sz="768" dirty="0"/>
          </a:p>
        </p:txBody>
      </p:sp>
      <p:pic>
        <p:nvPicPr>
          <p:cNvPr id="57" name="Graph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900" y="4222750"/>
            <a:ext cx="69850" cy="41275"/>
          </a:xfrm>
          <a:prstGeom prst="rect">
            <a:avLst/>
          </a:prstGeom>
          <a:ln>
            <a:noFill/>
          </a:ln>
        </p:spPr>
      </p:pic>
      <p:sp>
        <p:nvSpPr>
          <p:cNvPr id="58" name="Text: Body"/>
          <p:cNvSpPr txBox="1"/>
          <p:nvPr/>
        </p:nvSpPr>
        <p:spPr>
          <a:xfrm>
            <a:off x="8947864" y="4470114"/>
            <a:ext cx="20962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Body</a:t>
            </a:r>
            <a:endParaRPr lang="en-US" sz="704" dirty="0"/>
          </a:p>
        </p:txBody>
      </p:sp>
      <p:sp>
        <p:nvSpPr>
          <p:cNvPr id="59" name="Rounded Rectangle"/>
          <p:cNvSpPr/>
          <p:nvPr/>
        </p:nvSpPr>
        <p:spPr>
          <a:xfrm>
            <a:off x="9600565" y="4438094"/>
            <a:ext cx="1713151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60" name="Text: Custom…"/>
          <p:cNvSpPr txBox="1"/>
          <p:nvPr/>
        </p:nvSpPr>
        <p:spPr>
          <a:xfrm>
            <a:off x="9684385" y="4461970"/>
            <a:ext cx="400209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Custom…</a:t>
            </a:r>
            <a:endParaRPr lang="en-US" sz="768" dirty="0"/>
          </a:p>
        </p:txBody>
      </p:sp>
      <p:pic>
        <p:nvPicPr>
          <p:cNvPr id="61" name="Graph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900" y="4527550"/>
            <a:ext cx="69850" cy="41275"/>
          </a:xfrm>
          <a:prstGeom prst="rect">
            <a:avLst/>
          </a:prstGeom>
          <a:ln>
            <a:noFill/>
          </a:ln>
        </p:spPr>
      </p:pic>
      <p:sp>
        <p:nvSpPr>
          <p:cNvPr id="62" name="Text: Hero"/>
          <p:cNvSpPr txBox="1"/>
          <p:nvPr/>
        </p:nvSpPr>
        <p:spPr>
          <a:xfrm>
            <a:off x="8947864" y="4778962"/>
            <a:ext cx="19200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Hero</a:t>
            </a:r>
            <a:endParaRPr lang="en-US" sz="704" dirty="0"/>
          </a:p>
        </p:txBody>
      </p:sp>
      <p:sp>
        <p:nvSpPr>
          <p:cNvPr id="63" name="Rounded Rectangle"/>
          <p:cNvSpPr/>
          <p:nvPr/>
        </p:nvSpPr>
        <p:spPr>
          <a:xfrm>
            <a:off x="10733643" y="4746943"/>
            <a:ext cx="580073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64" name="Text: 176"/>
          <p:cNvSpPr txBox="1"/>
          <p:nvPr/>
        </p:nvSpPr>
        <p:spPr>
          <a:xfrm>
            <a:off x="10934938" y="4718066"/>
            <a:ext cx="160258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176</a:t>
            </a:r>
            <a:endParaRPr lang="en-US" sz="704" dirty="0"/>
          </a:p>
        </p:txBody>
      </p:sp>
      <p:sp>
        <p:nvSpPr>
          <p:cNvPr id="65" name="Text: 200"/>
          <p:cNvSpPr txBox="1"/>
          <p:nvPr/>
        </p:nvSpPr>
        <p:spPr>
          <a:xfrm>
            <a:off x="10934938" y="4807442"/>
            <a:ext cx="160258" cy="8940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200</a:t>
            </a:r>
            <a:endParaRPr lang="en-US" sz="704" dirty="0"/>
          </a:p>
        </p:txBody>
      </p:sp>
      <p:sp>
        <p:nvSpPr>
          <p:cNvPr id="66" name="Text: PX"/>
          <p:cNvSpPr txBox="1"/>
          <p:nvPr/>
        </p:nvSpPr>
        <p:spPr>
          <a:xfrm>
            <a:off x="11160204" y="4786059"/>
            <a:ext cx="102235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PX</a:t>
            </a:r>
            <a:endParaRPr lang="en-US" sz="608" dirty="0"/>
          </a:p>
        </p:txBody>
      </p:sp>
      <p:sp>
        <p:nvSpPr>
          <p:cNvPr id="67" name="Rounded Rectangle"/>
          <p:cNvSpPr/>
          <p:nvPr/>
        </p:nvSpPr>
        <p:spPr>
          <a:xfrm>
            <a:off x="9598025" y="4846003"/>
            <a:ext cx="1084342" cy="24368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68" name="Rectangle"/>
          <p:cNvSpPr/>
          <p:nvPr/>
        </p:nvSpPr>
        <p:spPr>
          <a:xfrm>
            <a:off x="9598025" y="4846003"/>
            <a:ext cx="858758" cy="24368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69" name="Ellipse"/>
          <p:cNvSpPr/>
          <p:nvPr/>
        </p:nvSpPr>
        <p:spPr>
          <a:xfrm>
            <a:off x="10402491" y="4803854"/>
            <a:ext cx="108664" cy="108664"/>
          </a:xfrm>
          <a:prstGeom prst="ellipse">
            <a:avLst/>
          </a:prstGeom>
          <a:solidFill>
            <a:srgbClr val="FFFFFF"/>
          </a:solidFill>
          <a:ln w="5080" cap="flat" cmpd="sng" algn="ctr">
            <a:solidFill>
              <a:srgbClr val="0A0A0A"/>
            </a:solidFill>
            <a:miter lim="800000"/>
          </a:ln>
          <a:effectLst>
            <a:outerShdw blurRad="0" dist="0" dir="0" sx="111687" sy="111687" algn="ctr" rotWithShape="0">
              <a:srgbClr val="000000">
                <a:alpha val="6000"/>
              </a:srgbClr>
            </a:outerShdw>
          </a:effectLst>
        </p:spPr>
      </p:sp>
      <p:sp>
        <p:nvSpPr>
          <p:cNvPr id="70" name="Text: Body"/>
          <p:cNvSpPr txBox="1"/>
          <p:nvPr/>
        </p:nvSpPr>
        <p:spPr>
          <a:xfrm>
            <a:off x="8947864" y="5087811"/>
            <a:ext cx="20962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Body</a:t>
            </a:r>
            <a:endParaRPr lang="en-US" sz="704" dirty="0"/>
          </a:p>
        </p:txBody>
      </p:sp>
      <p:sp>
        <p:nvSpPr>
          <p:cNvPr id="71" name="Rounded Rectangle"/>
          <p:cNvSpPr/>
          <p:nvPr/>
        </p:nvSpPr>
        <p:spPr>
          <a:xfrm>
            <a:off x="10733643" y="5055791"/>
            <a:ext cx="580073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72" name="Text: 32"/>
          <p:cNvSpPr txBox="1"/>
          <p:nvPr/>
        </p:nvSpPr>
        <p:spPr>
          <a:xfrm>
            <a:off x="10988358" y="5082731"/>
            <a:ext cx="10683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32</a:t>
            </a:r>
            <a:endParaRPr lang="en-US" sz="704" dirty="0"/>
          </a:p>
        </p:txBody>
      </p:sp>
      <p:sp>
        <p:nvSpPr>
          <p:cNvPr id="73" name="Text: PX"/>
          <p:cNvSpPr txBox="1"/>
          <p:nvPr/>
        </p:nvSpPr>
        <p:spPr>
          <a:xfrm>
            <a:off x="11160204" y="5094907"/>
            <a:ext cx="102235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PX</a:t>
            </a:r>
            <a:endParaRPr lang="en-US" sz="608" dirty="0"/>
          </a:p>
        </p:txBody>
      </p:sp>
      <p:sp>
        <p:nvSpPr>
          <p:cNvPr id="74" name="Rounded Rectangle"/>
          <p:cNvSpPr/>
          <p:nvPr/>
        </p:nvSpPr>
        <p:spPr>
          <a:xfrm>
            <a:off x="9598025" y="5154851"/>
            <a:ext cx="1084342" cy="24368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75" name="Rectangle"/>
          <p:cNvSpPr/>
          <p:nvPr/>
        </p:nvSpPr>
        <p:spPr>
          <a:xfrm>
            <a:off x="9598025" y="5154851"/>
            <a:ext cx="310118" cy="24368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76" name="Ellipse"/>
          <p:cNvSpPr/>
          <p:nvPr/>
        </p:nvSpPr>
        <p:spPr>
          <a:xfrm>
            <a:off x="9853851" y="5112703"/>
            <a:ext cx="108664" cy="108664"/>
          </a:xfrm>
          <a:prstGeom prst="ellipse">
            <a:avLst/>
          </a:prstGeom>
          <a:solidFill>
            <a:srgbClr val="FFFFFF"/>
          </a:solidFill>
          <a:ln w="5080" cap="flat" cmpd="sng" algn="ctr">
            <a:solidFill>
              <a:srgbClr val="0A0A0A"/>
            </a:solidFill>
            <a:miter lim="800000"/>
          </a:ln>
          <a:effectLst>
            <a:outerShdw blurRad="0" dist="0" dir="0" sx="111687" sy="111687" algn="ctr" rotWithShape="0">
              <a:srgbClr val="000000">
                <a:alpha val="6000"/>
              </a:srgbClr>
            </a:outerShdw>
          </a:effectLst>
        </p:spPr>
      </p:sp>
      <p:sp>
        <p:nvSpPr>
          <p:cNvPr id="77" name="Text: SHAPE"/>
          <p:cNvSpPr txBox="1"/>
          <p:nvPr/>
        </p:nvSpPr>
        <p:spPr>
          <a:xfrm>
            <a:off x="8947864" y="5528659"/>
            <a:ext cx="329248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56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SHAPE</a:t>
            </a:r>
            <a:endParaRPr lang="en-US" sz="704" dirty="0"/>
          </a:p>
        </p:txBody>
      </p:sp>
      <p:sp>
        <p:nvSpPr>
          <p:cNvPr id="78" name="Text: Radius"/>
          <p:cNvSpPr txBox="1"/>
          <p:nvPr/>
        </p:nvSpPr>
        <p:spPr>
          <a:xfrm>
            <a:off x="8947864" y="5790756"/>
            <a:ext cx="27439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Radius</a:t>
            </a:r>
            <a:endParaRPr lang="en-US" sz="704" dirty="0"/>
          </a:p>
        </p:txBody>
      </p:sp>
      <p:sp>
        <p:nvSpPr>
          <p:cNvPr id="79" name="Rounded Rectangle"/>
          <p:cNvSpPr/>
          <p:nvPr/>
        </p:nvSpPr>
        <p:spPr>
          <a:xfrm>
            <a:off x="10733643" y="5758736"/>
            <a:ext cx="580073" cy="222488"/>
          </a:xfrm>
          <a:prstGeom prst="roundRect">
            <a:avLst>
              <a:gd name="adj" fmla="val 17125"/>
            </a:avLst>
          </a:prstGeom>
          <a:solidFill>
            <a:srgbClr val="FFFFFF"/>
          </a:solidFill>
          <a:ln w="5080" cap="flat" cmpd="sng" algn="ctr">
            <a:solidFill>
              <a:srgbClr val="E4E4E4"/>
            </a:solidFill>
            <a:miter lim="800000"/>
          </a:ln>
        </p:spPr>
      </p:sp>
      <p:sp>
        <p:nvSpPr>
          <p:cNvPr id="80" name="Text: 12"/>
          <p:cNvSpPr txBox="1"/>
          <p:nvPr/>
        </p:nvSpPr>
        <p:spPr>
          <a:xfrm>
            <a:off x="10988358" y="5785676"/>
            <a:ext cx="106839" cy="1341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>
              <a:lnSpc>
                <a:spcPts val="1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4" spc="-3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12</a:t>
            </a:r>
            <a:endParaRPr lang="en-US" sz="704" dirty="0"/>
          </a:p>
        </p:txBody>
      </p:sp>
      <p:sp>
        <p:nvSpPr>
          <p:cNvPr id="81" name="Text: PX"/>
          <p:cNvSpPr txBox="1"/>
          <p:nvPr/>
        </p:nvSpPr>
        <p:spPr>
          <a:xfrm>
            <a:off x="11160204" y="5797852"/>
            <a:ext cx="102235" cy="11582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36" dirty="0">
                <a:solidFill>
                  <a:srgbClr val="6B6B6B">
                    <a:alpha val="80000"/>
                  </a:srgbClr>
                </a:solidFill>
                <a:latin typeface="Courier New"/>
                <a:ea typeface="Courier New"/>
                <a:cs typeface="Courier New"/>
              </a:rPr>
              <a:t>PX</a:t>
            </a:r>
            <a:endParaRPr lang="en-US" sz="608" dirty="0"/>
          </a:p>
        </p:txBody>
      </p:sp>
      <p:sp>
        <p:nvSpPr>
          <p:cNvPr id="82" name="Rounded Rectangle"/>
          <p:cNvSpPr/>
          <p:nvPr/>
        </p:nvSpPr>
        <p:spPr>
          <a:xfrm>
            <a:off x="9598025" y="5857796"/>
            <a:ext cx="1084342" cy="24368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83" name="Rectangle"/>
          <p:cNvSpPr/>
          <p:nvPr/>
        </p:nvSpPr>
        <p:spPr>
          <a:xfrm>
            <a:off x="9598025" y="5857796"/>
            <a:ext cx="162639" cy="24368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84" name="Ellipse"/>
          <p:cNvSpPr/>
          <p:nvPr/>
        </p:nvSpPr>
        <p:spPr>
          <a:xfrm>
            <a:off x="9706372" y="5815648"/>
            <a:ext cx="108664" cy="108664"/>
          </a:xfrm>
          <a:prstGeom prst="ellipse">
            <a:avLst/>
          </a:prstGeom>
          <a:solidFill>
            <a:srgbClr val="FFFFFF"/>
          </a:solidFill>
          <a:ln w="5080" cap="flat" cmpd="sng" algn="ctr">
            <a:solidFill>
              <a:srgbClr val="0A0A0A"/>
            </a:solidFill>
            <a:miter lim="800000"/>
          </a:ln>
          <a:effectLst>
            <a:outerShdw blurRad="0" dist="0" dir="0" sx="111687" sy="111687" algn="ctr" rotWithShape="0">
              <a:srgbClr val="000000">
                <a:alpha val="6000"/>
              </a:srgbClr>
            </a:outerShdw>
          </a:effectLst>
        </p:spPr>
      </p:sp>
      <p:sp>
        <p:nvSpPr>
          <p:cNvPr id="85" name="Rounded Rectangle"/>
          <p:cNvSpPr/>
          <p:nvPr/>
        </p:nvSpPr>
        <p:spPr>
          <a:xfrm>
            <a:off x="4683760" y="2884884"/>
            <a:ext cx="3982720" cy="2240280"/>
          </a:xfrm>
          <a:prstGeom prst="roundRect">
            <a:avLst>
              <a:gd name="adj" fmla="val 2177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sp>
        <p:nvSpPr>
          <p:cNvPr id="86" name="Rectangle"/>
          <p:cNvSpPr/>
          <p:nvPr/>
        </p:nvSpPr>
        <p:spPr>
          <a:xfrm>
            <a:off x="4683760" y="2884884"/>
            <a:ext cx="39827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7" name="Text: COVER"/>
          <p:cNvSpPr txBox="1"/>
          <p:nvPr/>
        </p:nvSpPr>
        <p:spPr>
          <a:xfrm>
            <a:off x="5015653" y="3206406"/>
            <a:ext cx="210901" cy="8089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" spc="76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425" dirty="0"/>
          </a:p>
        </p:txBody>
      </p:sp>
      <p:sp>
        <p:nvSpPr>
          <p:cNvPr id="88" name="Text: What we're shipping, why it matters."/>
          <p:cNvSpPr txBox="1"/>
          <p:nvPr/>
        </p:nvSpPr>
        <p:spPr>
          <a:xfrm>
            <a:off x="5015653" y="4234445"/>
            <a:ext cx="1488495" cy="12321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9" spc="-1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719" dirty="0"/>
          </a:p>
        </p:txBody>
      </p:sp>
      <p:sp>
        <p:nvSpPr>
          <p:cNvPr id="89" name="Text: Q2 Launch"/>
          <p:cNvSpPr txBox="1"/>
          <p:nvPr/>
        </p:nvSpPr>
        <p:spPr>
          <a:xfrm>
            <a:off x="5015653" y="3818334"/>
            <a:ext cx="2000434" cy="41486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2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67" b="1" spc="-11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3267" dirty="0"/>
          </a:p>
        </p:txBody>
      </p:sp>
      <p:sp>
        <p:nvSpPr>
          <p:cNvPr id="90" name="Text: ACME · PRODUCT"/>
          <p:cNvSpPr txBox="1"/>
          <p:nvPr/>
        </p:nvSpPr>
        <p:spPr>
          <a:xfrm>
            <a:off x="5015653" y="4751783"/>
            <a:ext cx="475378" cy="746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" spc="31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392" dirty="0"/>
          </a:p>
        </p:txBody>
      </p:sp>
      <p:sp>
        <p:nvSpPr>
          <p:cNvPr id="91" name="Text: 01 / 06"/>
          <p:cNvSpPr txBox="1"/>
          <p:nvPr/>
        </p:nvSpPr>
        <p:spPr>
          <a:xfrm>
            <a:off x="8096846" y="4751783"/>
            <a:ext cx="237738" cy="7467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2" spc="31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392" dirty="0"/>
          </a:p>
        </p:txBody>
      </p:sp>
      <p:sp>
        <p:nvSpPr>
          <p:cNvPr id="92" name="Rounded Rectangle"/>
          <p:cNvSpPr/>
          <p:nvPr/>
        </p:nvSpPr>
        <p:spPr>
          <a:xfrm>
            <a:off x="6074410" y="5356939"/>
            <a:ext cx="1201420" cy="287496"/>
          </a:xfrm>
          <a:prstGeom prst="roundRect">
            <a:avLst>
              <a:gd name="adj" fmla="val 21734"/>
            </a:avLst>
          </a:prstGeom>
          <a:solidFill>
            <a:srgbClr val="FFFFFF">
              <a:alpha val="95000"/>
            </a:srgbClr>
          </a:solidFill>
          <a:ln w="5080" cap="flat" cmpd="sng" algn="ctr">
            <a:solidFill>
              <a:srgbClr val="E4E4E4"/>
            </a:solidFill>
            <a:miter lim="800000"/>
          </a:ln>
          <a:effectLst>
            <a:outerShdw blurRad="0" dist="0" dir="0" sx="101057" sy="104417" algn="ctr" rotWithShape="0">
              <a:srgbClr val="000000">
                <a:alpha val="8000"/>
              </a:srgbClr>
            </a:outerShdw>
          </a:effectLst>
        </p:spPr>
      </p:sp>
      <p:pic>
        <p:nvPicPr>
          <p:cNvPr id="93" name="Graph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8550" y="5457825"/>
            <a:ext cx="88900" cy="88900"/>
          </a:xfrm>
          <a:prstGeom prst="rect">
            <a:avLst/>
          </a:prstGeom>
          <a:ln>
            <a:noFill/>
          </a:ln>
        </p:spPr>
      </p:pic>
      <p:sp>
        <p:nvSpPr>
          <p:cNvPr id="94" name="Rectangle"/>
          <p:cNvSpPr/>
          <p:nvPr/>
        </p:nvSpPr>
        <p:spPr>
          <a:xfrm>
            <a:off x="6597015" y="5435600"/>
            <a:ext cx="5080" cy="130016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95" name="Graph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150" y="5457825"/>
            <a:ext cx="88900" cy="88900"/>
          </a:xfrm>
          <a:prstGeom prst="rect">
            <a:avLst/>
          </a:prstGeom>
          <a:ln>
            <a:noFill/>
          </a:ln>
        </p:spPr>
      </p:pic>
      <p:sp>
        <p:nvSpPr>
          <p:cNvPr id="96" name="Text: Saved"/>
          <p:cNvSpPr txBox="1"/>
          <p:nvPr/>
        </p:nvSpPr>
        <p:spPr>
          <a:xfrm>
            <a:off x="6894513" y="5413280"/>
            <a:ext cx="281305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Saved</a:t>
            </a:r>
            <a:endParaRPr lang="en-US" sz="768" dirty="0"/>
          </a:p>
        </p:txBody>
      </p:sp>
      <p:pic>
        <p:nvPicPr>
          <p:cNvPr id="97" name="Graphi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5467350"/>
            <a:ext cx="88900" cy="66675"/>
          </a:xfrm>
          <a:prstGeom prst="rect">
            <a:avLst/>
          </a:prstGeom>
          <a:ln>
            <a:noFill/>
          </a:ln>
        </p:spPr>
      </p:pic>
      <p:pic>
        <p:nvPicPr>
          <p:cNvPr id="98" name="Graphi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0" y="5511800"/>
            <a:ext cx="155575" cy="155575"/>
          </a:xfrm>
          <a:prstGeom prst="rect">
            <a:avLst/>
          </a:prstGeom>
          <a:ln>
            <a:noFill/>
          </a:ln>
        </p:spPr>
      </p:pic>
      <p:pic>
        <p:nvPicPr>
          <p:cNvPr id="99" name="Graph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00" y="1936750"/>
            <a:ext cx="44450" cy="76200"/>
          </a:xfrm>
          <a:prstGeom prst="rect">
            <a:avLst/>
          </a:prstGeom>
          <a:ln>
            <a:noFill/>
          </a:ln>
        </p:spPr>
      </p:pic>
      <p:sp>
        <p:nvSpPr>
          <p:cNvPr id="100" name="Rectangle"/>
          <p:cNvSpPr/>
          <p:nvPr/>
        </p:nvSpPr>
        <p:spPr>
          <a:xfrm>
            <a:off x="4927441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01" name="Rounded Rectangle"/>
          <p:cNvSpPr/>
          <p:nvPr/>
        </p:nvSpPr>
        <p:spPr>
          <a:xfrm>
            <a:off x="5013722" y="1859280"/>
            <a:ext cx="944959" cy="227568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102" name="Rounded Rectangle"/>
          <p:cNvSpPr/>
          <p:nvPr/>
        </p:nvSpPr>
        <p:spPr>
          <a:xfrm>
            <a:off x="5029914" y="1875472"/>
            <a:ext cx="440373" cy="189944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884" sy="106686" algn="ctr" rotWithShape="0">
              <a:srgbClr val="000000">
                <a:alpha val="6000"/>
              </a:srgbClr>
            </a:outerShdw>
          </a:effectLst>
        </p:spPr>
      </p:sp>
      <p:sp>
        <p:nvSpPr>
          <p:cNvPr id="103" name="Text: Slides"/>
          <p:cNvSpPr txBox="1"/>
          <p:nvPr/>
        </p:nvSpPr>
        <p:spPr>
          <a:xfrm>
            <a:off x="5111194" y="1883077"/>
            <a:ext cx="27781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768" dirty="0"/>
          </a:p>
        </p:txBody>
      </p:sp>
      <p:sp>
        <p:nvSpPr>
          <p:cNvPr id="104" name="Text: Assets"/>
          <p:cNvSpPr txBox="1"/>
          <p:nvPr/>
        </p:nvSpPr>
        <p:spPr>
          <a:xfrm>
            <a:off x="5551567" y="1883077"/>
            <a:ext cx="309642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768" dirty="0"/>
          </a:p>
        </p:txBody>
      </p:sp>
      <p:sp>
        <p:nvSpPr>
          <p:cNvPr id="105" name="Rounded Rectangle"/>
          <p:cNvSpPr/>
          <p:nvPr/>
        </p:nvSpPr>
        <p:spPr>
          <a:xfrm>
            <a:off x="6026229" y="1894284"/>
            <a:ext cx="857726" cy="157480"/>
          </a:xfrm>
          <a:prstGeom prst="roundRect">
            <a:avLst>
              <a:gd name="adj" fmla="val 13871"/>
            </a:avLst>
          </a:prstGeom>
          <a:solidFill>
            <a:srgbClr val="FFFFFF"/>
          </a:solidFill>
          <a:ln w="5080" cap="flat" cmpd="sng" algn="ctr">
            <a:solidFill>
              <a:srgbClr val="ECECEC"/>
            </a:solidFill>
            <a:miter lim="800000"/>
          </a:ln>
        </p:spPr>
      </p:sp>
      <p:sp>
        <p:nvSpPr>
          <p:cNvPr id="106" name="Text: Agent connected"/>
          <p:cNvSpPr txBox="1"/>
          <p:nvPr/>
        </p:nvSpPr>
        <p:spPr>
          <a:xfrm>
            <a:off x="6174978" y="1897872"/>
            <a:ext cx="657701" cy="12801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2" spc="-3" dirty="0">
                <a:solidFill>
                  <a:srgbClr val="0A0A0A">
                    <a:alpha val="85000"/>
                  </a:srgbClr>
                </a:solidFill>
                <a:latin typeface="Geist Variable"/>
                <a:ea typeface="Geist Variable"/>
                <a:cs typeface="Geist Variable"/>
              </a:rPr>
              <a:t>Agent connected</a:t>
            </a:r>
            <a:endParaRPr lang="en-US" sz="672" dirty="0"/>
          </a:p>
        </p:txBody>
      </p:sp>
      <p:sp>
        <p:nvSpPr>
          <p:cNvPr id="107" name="Ellipse"/>
          <p:cNvSpPr/>
          <p:nvPr/>
        </p:nvSpPr>
        <p:spPr>
          <a:xfrm>
            <a:off x="6077506" y="1948656"/>
            <a:ext cx="48736" cy="487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8" name="Rectangle"/>
          <p:cNvSpPr/>
          <p:nvPr/>
        </p:nvSpPr>
        <p:spPr>
          <a:xfrm>
            <a:off x="8224996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pic>
        <p:nvPicPr>
          <p:cNvPr id="109" name="Graphi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1200" y="1939925"/>
            <a:ext cx="120650" cy="69850"/>
          </a:xfrm>
          <a:prstGeom prst="rect">
            <a:avLst/>
          </a:prstGeom>
          <a:ln>
            <a:noFill/>
          </a:ln>
        </p:spPr>
      </p:pic>
      <p:pic>
        <p:nvPicPr>
          <p:cNvPr id="110" name="Graphi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4725" y="1920875"/>
            <a:ext cx="111125" cy="111125"/>
          </a:xfrm>
          <a:prstGeom prst="rect">
            <a:avLst/>
          </a:prstGeom>
          <a:ln>
            <a:noFill/>
          </a:ln>
        </p:spPr>
      </p:pic>
      <p:sp>
        <p:nvSpPr>
          <p:cNvPr id="111" name="Rounded Rectangle"/>
          <p:cNvSpPr/>
          <p:nvPr/>
        </p:nvSpPr>
        <p:spPr>
          <a:xfrm>
            <a:off x="8798798" y="1859201"/>
            <a:ext cx="835104" cy="227568"/>
          </a:xfrm>
          <a:prstGeom prst="roundRect">
            <a:avLst>
              <a:gd name="adj" fmla="val 17858"/>
            </a:avLst>
          </a:prstGeom>
          <a:solidFill>
            <a:srgbClr val="0A0A0A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2000"/>
              </a:srgbClr>
            </a:outerShdw>
          </a:effectLst>
        </p:spPr>
      </p:sp>
      <p:sp>
        <p:nvSpPr>
          <p:cNvPr id="112" name="Text: Design"/>
          <p:cNvSpPr txBox="1"/>
          <p:nvPr/>
        </p:nvSpPr>
        <p:spPr>
          <a:xfrm>
            <a:off x="9042559" y="1885617"/>
            <a:ext cx="314325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FFFFFF"/>
                </a:solidFill>
                <a:latin typeface="Geist Variable"/>
                <a:ea typeface="Geist Variable"/>
                <a:cs typeface="Geist Variable"/>
              </a:rPr>
              <a:t>Design</a:t>
            </a:r>
            <a:endParaRPr lang="en-US" sz="768" dirty="0"/>
          </a:p>
        </p:txBody>
      </p:sp>
      <p:pic>
        <p:nvPicPr>
          <p:cNvPr id="113" name="Graphic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68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14" name="Rounded Rectangle"/>
          <p:cNvSpPr/>
          <p:nvPr/>
        </p:nvSpPr>
        <p:spPr>
          <a:xfrm>
            <a:off x="9438084" y="1916033"/>
            <a:ext cx="114538" cy="113824"/>
          </a:xfrm>
          <a:prstGeom prst="roundRect">
            <a:avLst>
              <a:gd name="adj" fmla="val 21423"/>
            </a:avLst>
          </a:prstGeom>
          <a:solidFill>
            <a:srgbClr val="0A0A0A">
              <a:alpha val="10000"/>
            </a:srgbClr>
          </a:solidFill>
          <a:ln>
            <a:noFill/>
          </a:ln>
        </p:spPr>
      </p:sp>
      <p:sp>
        <p:nvSpPr>
          <p:cNvPr id="115" name="Text: D"/>
          <p:cNvSpPr txBox="1"/>
          <p:nvPr/>
        </p:nvSpPr>
        <p:spPr>
          <a:xfrm>
            <a:off x="9470549" y="1903841"/>
            <a:ext cx="49609" cy="113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8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8" spc="24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</a:t>
            </a:r>
            <a:endParaRPr lang="en-US" sz="608" dirty="0"/>
          </a:p>
        </p:txBody>
      </p:sp>
      <p:sp>
        <p:nvSpPr>
          <p:cNvPr id="116" name="Text: Format"/>
          <p:cNvSpPr txBox="1"/>
          <p:nvPr/>
        </p:nvSpPr>
        <p:spPr>
          <a:xfrm>
            <a:off x="9910128" y="1885617"/>
            <a:ext cx="319643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0A0A0A">
                    <a:alpha val="75000"/>
                  </a:srgbClr>
                </a:solidFill>
                <a:latin typeface="Geist Variable"/>
                <a:ea typeface="Geist Variable"/>
                <a:cs typeface="Geist Variable"/>
              </a:rPr>
              <a:t>Format</a:t>
            </a:r>
            <a:endParaRPr lang="en-US" sz="768" dirty="0"/>
          </a:p>
        </p:txBody>
      </p:sp>
      <p:pic>
        <p:nvPicPr>
          <p:cNvPr id="117" name="Graphic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6775" y="1924050"/>
            <a:ext cx="98425" cy="95250"/>
          </a:xfrm>
          <a:prstGeom prst="rect">
            <a:avLst/>
          </a:prstGeom>
          <a:ln>
            <a:noFill/>
          </a:ln>
        </p:spPr>
      </p:pic>
      <p:sp>
        <p:nvSpPr>
          <p:cNvPr id="118" name="Rectangle"/>
          <p:cNvSpPr/>
          <p:nvPr/>
        </p:nvSpPr>
        <p:spPr>
          <a:xfrm>
            <a:off x="10359707" y="1891744"/>
            <a:ext cx="5080" cy="16256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119" name="Rounded Rectangle"/>
          <p:cNvSpPr/>
          <p:nvPr/>
        </p:nvSpPr>
        <p:spPr>
          <a:xfrm>
            <a:off x="10413444" y="1859201"/>
            <a:ext cx="707866" cy="227568"/>
          </a:xfrm>
          <a:custGeom>
            <a:avLst/>
            <a:gdLst/>
            <a:ahLst/>
            <a:cxnLst/>
            <a:rect l="0" t="0" r="r" b="b"/>
            <a:pathLst>
              <a:path w="707866" h="227568">
                <a:moveTo>
                  <a:pt x="50800" y="0"/>
                </a:moveTo>
                <a:lnTo>
                  <a:pt x="707866" y="0"/>
                </a:lnTo>
                <a:lnTo>
                  <a:pt x="707866" y="227568"/>
                </a:lnTo>
                <a:lnTo>
                  <a:pt x="50800" y="227568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sp>
        <p:nvSpPr>
          <p:cNvPr id="120" name="Text: Present"/>
          <p:cNvSpPr txBox="1"/>
          <p:nvPr/>
        </p:nvSpPr>
        <p:spPr>
          <a:xfrm>
            <a:off x="10673398" y="1885617"/>
            <a:ext cx="350441" cy="146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8" spc="-3" dirty="0">
                <a:solidFill>
                  <a:srgbClr val="FFFFFF"/>
                </a:solidFill>
                <a:latin typeface="Geist Variable"/>
                <a:ea typeface="Geist Variable"/>
                <a:cs typeface="Geist Variable"/>
              </a:rPr>
              <a:t>Present</a:t>
            </a:r>
            <a:endParaRPr lang="en-US" sz="768" dirty="0"/>
          </a:p>
        </p:txBody>
      </p:sp>
      <p:pic>
        <p:nvPicPr>
          <p:cNvPr id="121" name="Graphi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31475" y="1924050"/>
            <a:ext cx="88900" cy="95250"/>
          </a:xfrm>
          <a:prstGeom prst="rect">
            <a:avLst/>
          </a:prstGeom>
          <a:ln>
            <a:noFill/>
          </a:ln>
        </p:spPr>
      </p:pic>
      <p:sp>
        <p:nvSpPr>
          <p:cNvPr id="122" name="Rounded Rectangle"/>
          <p:cNvSpPr/>
          <p:nvPr/>
        </p:nvSpPr>
        <p:spPr>
          <a:xfrm>
            <a:off x="11121311" y="1859201"/>
            <a:ext cx="211217" cy="227568"/>
          </a:xfrm>
          <a:custGeom>
            <a:avLst/>
            <a:gdLst/>
            <a:ahLst/>
            <a:cxnLst/>
            <a:rect l="0" t="0" r="r" b="b"/>
            <a:pathLst>
              <a:path w="211217" h="227568">
                <a:moveTo>
                  <a:pt x="0" y="0"/>
                </a:moveTo>
                <a:lnTo>
                  <a:pt x="160417" y="0"/>
                </a:lnTo>
                <a:arcTo wR="50800" hR="50800" stAng="16200000" swAng="5400000"/>
                <a:lnTo>
                  <a:pt x="211217" y="176768"/>
                </a:lnTo>
                <a:arcTo wR="50800" hR="50800" stAng="0" swAng="5400000"/>
                <a:lnTo>
                  <a:pt x="0" y="227568"/>
                </a:lnTo>
                <a:lnTo>
                  <a:pt x="0" y="0"/>
                </a:lnTo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123" name="Graphic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91875" y="1952625"/>
            <a:ext cx="69850" cy="41275"/>
          </a:xfrm>
          <a:prstGeom prst="rect">
            <a:avLst/>
          </a:prstGeom>
          <a:ln>
            <a:noFill/>
          </a:ln>
        </p:spPr>
      </p:pic>
      <p:sp>
        <p:nvSpPr>
          <p:cNvPr id="124" name="Rounded Rectangle"/>
          <p:cNvSpPr/>
          <p:nvPr/>
        </p:nvSpPr>
        <p:spPr>
          <a:xfrm>
            <a:off x="7616269" y="1845548"/>
            <a:ext cx="557530" cy="254953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508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125" name="Rounded Rectangle"/>
          <p:cNvSpPr/>
          <p:nvPr/>
        </p:nvSpPr>
        <p:spPr>
          <a:xfrm>
            <a:off x="7635002" y="1864281"/>
            <a:ext cx="260033" cy="217408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4884" sy="105842" algn="ctr" rotWithShape="0">
              <a:srgbClr val="000000">
                <a:alpha val="6000"/>
              </a:srgbClr>
            </a:outerShdw>
          </a:effectLst>
        </p:spPr>
      </p:sp>
      <p:pic>
        <p:nvPicPr>
          <p:cNvPr id="126" name="Graphic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08900" y="1933575"/>
            <a:ext cx="107950" cy="76200"/>
          </a:xfrm>
          <a:prstGeom prst="rect">
            <a:avLst/>
          </a:prstGeom>
          <a:ln>
            <a:noFill/>
          </a:ln>
        </p:spPr>
      </p:pic>
      <p:pic>
        <p:nvPicPr>
          <p:cNvPr id="127" name="Graphic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72425" y="1917700"/>
            <a:ext cx="107950" cy="107950"/>
          </a:xfrm>
          <a:prstGeom prst="rect">
            <a:avLst/>
          </a:prstGeom>
          <a:ln>
            <a:noFill/>
          </a:ln>
        </p:spPr>
      </p:pic>
      <p:sp>
        <p:nvSpPr>
          <p:cNvPr id="128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129" name="Text: 10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Toolbox"/>
          <p:cNvSpPr txBox="1"/>
          <p:nvPr/>
        </p:nvSpPr>
        <p:spPr>
          <a:xfrm>
            <a:off x="939800" y="615950"/>
            <a:ext cx="504428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Toolbox</a:t>
            </a:r>
            <a:endParaRPr lang="en-US" sz="1100" dirty="0"/>
          </a:p>
        </p:txBody>
      </p:sp>
      <p:sp>
        <p:nvSpPr>
          <p:cNvPr id="4" name="Text: Pin a look. Reuse it."/>
          <p:cNvSpPr txBox="1"/>
          <p:nvPr/>
        </p:nvSpPr>
        <p:spPr>
          <a:xfrm>
            <a:off x="762000" y="921766"/>
            <a:ext cx="3418086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Pin a look. Reuse it.</a:t>
            </a:r>
            <a:endParaRPr lang="en-US" sz="3200" dirty="0"/>
          </a:p>
        </p:txBody>
      </p:sp>
      <p:sp>
        <p:nvSpPr>
          <p:cNvPr id="5" name="Text: /create-theme writes themes/&lt;id&gt;.md: pal"/>
          <p:cNvSpPr txBox="1"/>
          <p:nvPr/>
        </p:nvSpPr>
        <p:spPr>
          <a:xfrm>
            <a:off x="762000" y="1405334"/>
            <a:ext cx="7357170" cy="4786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/create-theme writes themes/&lt;id&gt;.md: palette, type, and paste-ready Title and Footer components.</a:t>
            </a:r>
            <a:br>
              <a:rPr lang="en-US" sz="1300"/>
            </a:b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/create-slide reads it before drafting.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3420467" cy="3835400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371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Rounded Rectangle"/>
          <p:cNvSpPr/>
          <p:nvPr/>
        </p:nvSpPr>
        <p:spPr>
          <a:xfrm>
            <a:off x="863600" y="2108200"/>
            <a:ext cx="3217267" cy="3333750"/>
          </a:xfrm>
          <a:prstGeom prst="roundRect">
            <a:avLst>
              <a:gd name="adj" fmla="val 1579"/>
            </a:avLst>
          </a:prstGeom>
          <a:solidFill>
            <a:srgbClr val="0B0D10"/>
          </a:solidFill>
          <a:ln>
            <a:noFill/>
          </a:ln>
        </p:spPr>
      </p:sp>
      <p:sp>
        <p:nvSpPr>
          <p:cNvPr id="8" name="Text: EDITORIAL-NOIR"/>
          <p:cNvSpPr txBox="1"/>
          <p:nvPr/>
        </p:nvSpPr>
        <p:spPr>
          <a:xfrm>
            <a:off x="1117600" y="2343150"/>
            <a:ext cx="1251446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D6A64B"/>
                </a:solidFill>
                <a:latin typeface="Courier New"/>
                <a:ea typeface="Courier New"/>
                <a:cs typeface="Courier New"/>
              </a:rPr>
              <a:t>EDITORIAL-NOIR</a:t>
            </a:r>
            <a:endParaRPr lang="en-US" sz="900" dirty="0"/>
          </a:p>
        </p:txBody>
      </p:sp>
      <p:sp>
        <p:nvSpPr>
          <p:cNvPr id="9" name="Text: A quiet year."/>
          <p:cNvSpPr txBox="1"/>
          <p:nvPr/>
        </p:nvSpPr>
        <p:spPr>
          <a:xfrm>
            <a:off x="1117600" y="3403398"/>
            <a:ext cx="2210792" cy="440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68" dirty="0">
                <a:solidFill>
                  <a:srgbClr val="F4ECDC"/>
                </a:solidFill>
                <a:latin typeface="Times New Roman"/>
                <a:ea typeface="Times New Roman"/>
                <a:cs typeface="Times New Roman"/>
              </a:rPr>
              <a:t>A quiet year.</a:t>
            </a:r>
            <a:endParaRPr lang="en-US" sz="3400" dirty="0"/>
          </a:p>
        </p:txBody>
      </p:sp>
      <p:sp>
        <p:nvSpPr>
          <p:cNvPr id="10" name="Text: Annual letter, 2026"/>
          <p:cNvSpPr txBox="1"/>
          <p:nvPr/>
        </p:nvSpPr>
        <p:spPr>
          <a:xfrm>
            <a:off x="1117600" y="3922316"/>
            <a:ext cx="131316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8" dirty="0">
                <a:solidFill>
                  <a:srgbClr val="7A7468"/>
                </a:solidFill>
                <a:latin typeface="Geist Variable"/>
                <a:ea typeface="Geist Variable"/>
                <a:cs typeface="Geist Variable"/>
              </a:rPr>
              <a:t>Annual letter, 2026</a:t>
            </a:r>
            <a:endParaRPr lang="en-US" sz="1200" dirty="0"/>
          </a:p>
        </p:txBody>
      </p:sp>
      <p:sp>
        <p:nvSpPr>
          <p:cNvPr id="11" name="Rounded Rectangle"/>
          <p:cNvSpPr/>
          <p:nvPr/>
        </p:nvSpPr>
        <p:spPr>
          <a:xfrm>
            <a:off x="1117600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F4ECDC"/>
          </a:solidFill>
          <a:ln>
            <a:noFill/>
          </a:ln>
          <a:effectLst>
            <a:innerShdw blurRad="0" dist="0" dir="0">
              <a:srgbClr val="7A7468"/>
            </a:innerShdw>
          </a:effectLst>
        </p:spPr>
      </p:sp>
      <p:sp>
        <p:nvSpPr>
          <p:cNvPr id="12" name="Rounded Rectangle"/>
          <p:cNvSpPr/>
          <p:nvPr/>
        </p:nvSpPr>
        <p:spPr>
          <a:xfrm>
            <a:off x="1333500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D6A64B"/>
          </a:solidFill>
          <a:ln>
            <a:noFill/>
          </a:ln>
        </p:spPr>
      </p:sp>
      <p:sp>
        <p:nvSpPr>
          <p:cNvPr id="13" name="Rounded Rectangle"/>
          <p:cNvSpPr/>
          <p:nvPr/>
        </p:nvSpPr>
        <p:spPr>
          <a:xfrm>
            <a:off x="1549400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7A7468"/>
          </a:solidFill>
          <a:ln>
            <a:noFill/>
          </a:ln>
        </p:spPr>
      </p:sp>
      <p:sp>
        <p:nvSpPr>
          <p:cNvPr id="14" name="Text: themes/editorial-noir.md"/>
          <p:cNvSpPr txBox="1"/>
          <p:nvPr/>
        </p:nvSpPr>
        <p:spPr>
          <a:xfrm>
            <a:off x="914400" y="5524500"/>
            <a:ext cx="1627287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themes/editorial-noir.md</a:t>
            </a:r>
            <a:endParaRPr lang="en-US" sz="900" dirty="0"/>
          </a:p>
        </p:txBody>
      </p:sp>
      <p:sp>
        <p:nvSpPr>
          <p:cNvPr id="15" name="Text: DARK · SERIF"/>
          <p:cNvSpPr txBox="1"/>
          <p:nvPr/>
        </p:nvSpPr>
        <p:spPr>
          <a:xfrm>
            <a:off x="3250406" y="5541963"/>
            <a:ext cx="779661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6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DARK · SERIF</a:t>
            </a:r>
            <a:endParaRPr lang="en-US" sz="750" dirty="0"/>
          </a:p>
        </p:txBody>
      </p:sp>
      <p:sp>
        <p:nvSpPr>
          <p:cNvPr id="16" name="Rounded Rectangle"/>
          <p:cNvSpPr/>
          <p:nvPr/>
        </p:nvSpPr>
        <p:spPr>
          <a:xfrm>
            <a:off x="4385667" y="2006600"/>
            <a:ext cx="3420566" cy="3835400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371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17" name="Rounded Rectangle"/>
          <p:cNvSpPr/>
          <p:nvPr/>
        </p:nvSpPr>
        <p:spPr>
          <a:xfrm>
            <a:off x="4487267" y="2108200"/>
            <a:ext cx="3217366" cy="3333750"/>
          </a:xfrm>
          <a:prstGeom prst="roundRect">
            <a:avLst>
              <a:gd name="adj" fmla="val 1579"/>
            </a:avLst>
          </a:prstGeom>
          <a:solidFill>
            <a:srgbClr val="F6F1E7"/>
          </a:solidFill>
          <a:ln>
            <a:noFill/>
          </a:ln>
        </p:spPr>
      </p:sp>
      <p:sp>
        <p:nvSpPr>
          <p:cNvPr id="18" name="Text: PAPER-PRESS"/>
          <p:cNvSpPr txBox="1"/>
          <p:nvPr/>
        </p:nvSpPr>
        <p:spPr>
          <a:xfrm>
            <a:off x="4741267" y="2343150"/>
            <a:ext cx="983357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C43A1D"/>
                </a:solidFill>
                <a:latin typeface="Courier New"/>
                <a:ea typeface="Courier New"/>
                <a:cs typeface="Courier New"/>
              </a:rPr>
              <a:t>PAPER-PRESS</a:t>
            </a:r>
            <a:endParaRPr lang="en-US" sz="900" dirty="0"/>
          </a:p>
        </p:txBody>
      </p:sp>
      <p:sp>
        <p:nvSpPr>
          <p:cNvPr id="19" name="Text: Field notes."/>
          <p:cNvSpPr txBox="1"/>
          <p:nvPr/>
        </p:nvSpPr>
        <p:spPr>
          <a:xfrm>
            <a:off x="4741267" y="3403398"/>
            <a:ext cx="2007394" cy="440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68" dirty="0">
                <a:solidFill>
                  <a:srgbClr val="141210"/>
                </a:solidFill>
                <a:latin typeface="Times New Roman"/>
                <a:ea typeface="Times New Roman"/>
                <a:cs typeface="Times New Roman"/>
              </a:rPr>
              <a:t>Field notes.</a:t>
            </a:r>
            <a:endParaRPr lang="en-US" sz="3400" dirty="0"/>
          </a:p>
        </p:txBody>
      </p:sp>
      <p:sp>
        <p:nvSpPr>
          <p:cNvPr id="20" name="Text: Research readout"/>
          <p:cNvSpPr txBox="1"/>
          <p:nvPr/>
        </p:nvSpPr>
        <p:spPr>
          <a:xfrm>
            <a:off x="4741267" y="3922316"/>
            <a:ext cx="121443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8" dirty="0">
                <a:solidFill>
                  <a:srgbClr val="8A8276"/>
                </a:solidFill>
                <a:latin typeface="Geist Variable"/>
                <a:ea typeface="Geist Variable"/>
                <a:cs typeface="Geist Variable"/>
              </a:rPr>
              <a:t>Research readout</a:t>
            </a:r>
            <a:endParaRPr lang="en-US" sz="1200" dirty="0"/>
          </a:p>
        </p:txBody>
      </p:sp>
      <p:sp>
        <p:nvSpPr>
          <p:cNvPr id="21" name="Rounded Rectangle"/>
          <p:cNvSpPr/>
          <p:nvPr/>
        </p:nvSpPr>
        <p:spPr>
          <a:xfrm>
            <a:off x="4741267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141210"/>
          </a:solidFill>
          <a:ln>
            <a:noFill/>
          </a:ln>
          <a:effectLst>
            <a:innerShdw blurRad="0" dist="0" dir="0">
              <a:srgbClr val="8A8276"/>
            </a:innerShdw>
          </a:effectLst>
        </p:spPr>
      </p:sp>
      <p:sp>
        <p:nvSpPr>
          <p:cNvPr id="22" name="Rounded Rectangle"/>
          <p:cNvSpPr/>
          <p:nvPr/>
        </p:nvSpPr>
        <p:spPr>
          <a:xfrm>
            <a:off x="4957167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C43A1D"/>
          </a:solidFill>
          <a:ln>
            <a:noFill/>
          </a:ln>
        </p:spPr>
      </p:sp>
      <p:sp>
        <p:nvSpPr>
          <p:cNvPr id="23" name="Rounded Rectangle"/>
          <p:cNvSpPr/>
          <p:nvPr/>
        </p:nvSpPr>
        <p:spPr>
          <a:xfrm>
            <a:off x="5173067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8A8276"/>
          </a:solidFill>
          <a:ln>
            <a:noFill/>
          </a:ln>
        </p:spPr>
      </p:sp>
      <p:sp>
        <p:nvSpPr>
          <p:cNvPr id="24" name="Text: themes/paper-press.md"/>
          <p:cNvSpPr txBox="1"/>
          <p:nvPr/>
        </p:nvSpPr>
        <p:spPr>
          <a:xfrm>
            <a:off x="4538067" y="5524500"/>
            <a:ext cx="142388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themes/paper-press.md</a:t>
            </a:r>
            <a:endParaRPr lang="en-US" sz="900" dirty="0"/>
          </a:p>
        </p:txBody>
      </p:sp>
      <p:sp>
        <p:nvSpPr>
          <p:cNvPr id="25" name="Text: LIGHT · SERIF"/>
          <p:cNvSpPr txBox="1"/>
          <p:nvPr/>
        </p:nvSpPr>
        <p:spPr>
          <a:xfrm>
            <a:off x="6809284" y="5541963"/>
            <a:ext cx="84455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6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LIGHT · SERIF</a:t>
            </a:r>
            <a:endParaRPr lang="en-US" sz="750" dirty="0"/>
          </a:p>
        </p:txBody>
      </p:sp>
      <p:sp>
        <p:nvSpPr>
          <p:cNvPr id="26" name="Rounded Rectangle"/>
          <p:cNvSpPr/>
          <p:nvPr/>
        </p:nvSpPr>
        <p:spPr>
          <a:xfrm>
            <a:off x="8009434" y="2006600"/>
            <a:ext cx="3420566" cy="3835400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371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27" name="Rounded Rectangle"/>
          <p:cNvSpPr/>
          <p:nvPr/>
        </p:nvSpPr>
        <p:spPr>
          <a:xfrm>
            <a:off x="8111034" y="2108200"/>
            <a:ext cx="3217366" cy="3333750"/>
          </a:xfrm>
          <a:prstGeom prst="roundRect">
            <a:avLst>
              <a:gd name="adj" fmla="val 1579"/>
            </a:avLst>
          </a:prstGeom>
          <a:solidFill>
            <a:srgbClr val="05070A"/>
          </a:solidFill>
          <a:ln>
            <a:noFill/>
          </a:ln>
        </p:spPr>
      </p:sp>
      <p:sp>
        <p:nvSpPr>
          <p:cNvPr id="28" name="Text: NEON-TERMINAL"/>
          <p:cNvSpPr txBox="1"/>
          <p:nvPr/>
        </p:nvSpPr>
        <p:spPr>
          <a:xfrm>
            <a:off x="8365034" y="2343150"/>
            <a:ext cx="116205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162" dirty="0">
                <a:solidFill>
                  <a:srgbClr val="39FF88"/>
                </a:solidFill>
                <a:latin typeface="Courier New"/>
                <a:ea typeface="Courier New"/>
                <a:cs typeface="Courier New"/>
              </a:rPr>
              <a:t>NEON-TERMINAL</a:t>
            </a:r>
            <a:endParaRPr lang="en-US" sz="900" dirty="0"/>
          </a:p>
        </p:txBody>
      </p:sp>
      <p:sp>
        <p:nvSpPr>
          <p:cNvPr id="29" name="Text: $ boot"/>
          <p:cNvSpPr txBox="1"/>
          <p:nvPr/>
        </p:nvSpPr>
        <p:spPr>
          <a:xfrm>
            <a:off x="8365034" y="3416098"/>
            <a:ext cx="1508026" cy="44043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68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$ boot</a:t>
            </a:r>
            <a:endParaRPr lang="en-US" sz="3400" dirty="0"/>
          </a:p>
        </p:txBody>
      </p:sp>
      <p:sp>
        <p:nvSpPr>
          <p:cNvPr id="30" name="Text: Infra all-hands"/>
          <p:cNvSpPr txBox="1"/>
          <p:nvPr/>
        </p:nvSpPr>
        <p:spPr>
          <a:xfrm>
            <a:off x="8365034" y="3922316"/>
            <a:ext cx="991295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8" dirty="0">
                <a:solidFill>
                  <a:srgbClr val="5B6773"/>
                </a:solidFill>
                <a:latin typeface="Geist Variable"/>
                <a:ea typeface="Geist Variable"/>
                <a:cs typeface="Geist Variable"/>
              </a:rPr>
              <a:t>Infra all-hands</a:t>
            </a:r>
            <a:endParaRPr lang="en-US" sz="1200" dirty="0"/>
          </a:p>
        </p:txBody>
      </p:sp>
      <p:sp>
        <p:nvSpPr>
          <p:cNvPr id="31" name="Rounded Rectangle"/>
          <p:cNvSpPr/>
          <p:nvPr/>
        </p:nvSpPr>
        <p:spPr>
          <a:xfrm>
            <a:off x="8365034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E6EDF3"/>
          </a:solidFill>
          <a:ln>
            <a:noFill/>
          </a:ln>
          <a:effectLst>
            <a:innerShdw blurRad="0" dist="0" dir="0">
              <a:srgbClr val="5B6773"/>
            </a:innerShdw>
          </a:effectLst>
        </p:spPr>
      </p:sp>
      <p:sp>
        <p:nvSpPr>
          <p:cNvPr id="32" name="Rounded Rectangle"/>
          <p:cNvSpPr/>
          <p:nvPr/>
        </p:nvSpPr>
        <p:spPr>
          <a:xfrm>
            <a:off x="8580934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39FF88"/>
          </a:solidFill>
          <a:ln>
            <a:noFill/>
          </a:ln>
        </p:spPr>
      </p:sp>
      <p:sp>
        <p:nvSpPr>
          <p:cNvPr id="33" name="Rounded Rectangle"/>
          <p:cNvSpPr/>
          <p:nvPr/>
        </p:nvSpPr>
        <p:spPr>
          <a:xfrm>
            <a:off x="8796834" y="5022850"/>
            <a:ext cx="165100" cy="165100"/>
          </a:xfrm>
          <a:prstGeom prst="roundRect">
            <a:avLst>
              <a:gd name="adj" fmla="val 23077"/>
            </a:avLst>
          </a:prstGeom>
          <a:solidFill>
            <a:srgbClr val="5B6773"/>
          </a:solidFill>
          <a:ln>
            <a:noFill/>
          </a:ln>
        </p:spPr>
      </p:sp>
      <p:sp>
        <p:nvSpPr>
          <p:cNvPr id="34" name="Text: themes/neon-terminal.md"/>
          <p:cNvSpPr txBox="1"/>
          <p:nvPr/>
        </p:nvSpPr>
        <p:spPr>
          <a:xfrm>
            <a:off x="8161834" y="5524500"/>
            <a:ext cx="155952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themes/neon-terminal.md</a:t>
            </a:r>
            <a:endParaRPr lang="en-US" sz="900" dirty="0"/>
          </a:p>
        </p:txBody>
      </p:sp>
      <p:sp>
        <p:nvSpPr>
          <p:cNvPr id="35" name="Text: DARK · MONO"/>
          <p:cNvSpPr txBox="1"/>
          <p:nvPr/>
        </p:nvSpPr>
        <p:spPr>
          <a:xfrm>
            <a:off x="10562927" y="5541963"/>
            <a:ext cx="714673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spc="6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DARK · MONO</a:t>
            </a:r>
            <a:endParaRPr lang="en-US" sz="750" dirty="0"/>
          </a:p>
        </p:txBody>
      </p:sp>
      <p:sp>
        <p:nvSpPr>
          <p:cNvPr id="36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37" name="Text: 11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: Toolbox"/>
          <p:cNvSpPr txBox="1"/>
          <p:nvPr/>
        </p:nvSpPr>
        <p:spPr>
          <a:xfrm>
            <a:off x="762000" y="615950"/>
            <a:ext cx="504428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Toolbox</a:t>
            </a:r>
            <a:endParaRPr lang="en-US" sz="1100" dirty="0"/>
          </a:p>
        </p:txBody>
      </p:sp>
      <p:sp>
        <p:nvSpPr>
          <p:cNvPr id="3" name="Text: Motion, in three primitives."/>
          <p:cNvSpPr txBox="1"/>
          <p:nvPr/>
        </p:nvSpPr>
        <p:spPr>
          <a:xfrm>
            <a:off x="762000" y="921766"/>
            <a:ext cx="4667448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Motion, in three primitives.</a:t>
            </a:r>
            <a:endParaRPr lang="en-US" sz="3200" dirty="0"/>
          </a:p>
        </p:txBody>
      </p:sp>
      <p:sp>
        <p:nvSpPr>
          <p:cNvPr id="4" name="Text: Stepped reveals, one house transition, a"/>
          <p:cNvSpPr txBox="1"/>
          <p:nvPr/>
        </p:nvSpPr>
        <p:spPr>
          <a:xfrm>
            <a:off x="762000" y="1405255"/>
            <a:ext cx="6678811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Stepped reveals, one house transition, and shared-element morphs. All declared in the file.</a:t>
            </a:r>
            <a:endParaRPr lang="en-US" sz="1300" dirty="0"/>
          </a:p>
        </p:txBody>
      </p:sp>
      <p:sp>
        <p:nvSpPr>
          <p:cNvPr id="5" name="Text: &lt;Steps&gt; / &lt;Step&gt;"/>
          <p:cNvSpPr txBox="1"/>
          <p:nvPr/>
        </p:nvSpPr>
        <p:spPr>
          <a:xfrm>
            <a:off x="762000" y="4495800"/>
            <a:ext cx="1329531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&lt;Steps&gt; / &lt;Step&gt;</a:t>
            </a:r>
            <a:endParaRPr lang="en-US" sz="1100" dirty="0"/>
          </a:p>
        </p:txBody>
      </p:sp>
      <p:sp>
        <p:nvSpPr>
          <p:cNvPr id="6" name="Text: Each → reveals the next beat. Jumping in"/>
          <p:cNvSpPr txBox="1"/>
          <p:nvPr/>
        </p:nvSpPr>
        <p:spPr>
          <a:xfrm>
            <a:off x="762000" y="4801890"/>
            <a:ext cx="3322241" cy="44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Each → reveals the next beat. Jumping in shows</a:t>
            </a:r>
            <a:br>
              <a:rPr lang="en-US" sz="1200"/>
            </a:br>
            <a:r>
              <a:rPr lang="en-US" sz="12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the page complete.</a:t>
            </a:r>
            <a:endParaRPr lang="en-US" sz="1200" dirty="0"/>
          </a:p>
        </p:txBody>
      </p:sp>
      <p:sp>
        <p:nvSpPr>
          <p:cNvPr id="7" name="Rounded Rectangle"/>
          <p:cNvSpPr/>
          <p:nvPr/>
        </p:nvSpPr>
        <p:spPr>
          <a:xfrm>
            <a:off x="762000" y="2006600"/>
            <a:ext cx="3352800" cy="2362200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>
            <a:noFill/>
          </a:ln>
          <a:effectLst>
            <a:innerShdw blurRad="0" dist="0" dir="0">
              <a:srgbClr val="ECECEC"/>
            </a:innerShdw>
          </a:effectLst>
        </p:spPr>
      </p:sp>
      <p:sp>
        <p:nvSpPr>
          <p:cNvPr id="8" name="Text: Set the stage."/>
          <p:cNvSpPr txBox="1"/>
          <p:nvPr/>
        </p:nvSpPr>
        <p:spPr>
          <a:xfrm>
            <a:off x="1268512" y="2359025"/>
            <a:ext cx="1033562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Set the stage.</a:t>
            </a:r>
            <a:endParaRPr lang="en-US" sz="1300" dirty="0"/>
          </a:p>
        </p:txBody>
      </p:sp>
      <p:sp>
        <p:nvSpPr>
          <p:cNvPr id="9" name="Text: 01"/>
          <p:cNvSpPr txBox="1"/>
          <p:nvPr/>
        </p:nvSpPr>
        <p:spPr>
          <a:xfrm>
            <a:off x="965200" y="2387600"/>
            <a:ext cx="15091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1000" dirty="0"/>
          </a:p>
        </p:txBody>
      </p:sp>
      <p:sp>
        <p:nvSpPr>
          <p:cNvPr id="10" name="Border"/>
          <p:cNvSpPr/>
          <p:nvPr/>
        </p:nvSpPr>
        <p:spPr>
          <a:xfrm>
            <a:off x="762000" y="2794000"/>
            <a:ext cx="33528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Layer the consequence."/>
          <p:cNvSpPr txBox="1"/>
          <p:nvPr/>
        </p:nvSpPr>
        <p:spPr>
          <a:xfrm>
            <a:off x="1268512" y="2946400"/>
            <a:ext cx="177085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Layer the consequence.</a:t>
            </a:r>
            <a:endParaRPr lang="en-US" sz="1300" dirty="0"/>
          </a:p>
        </p:txBody>
      </p:sp>
      <p:sp>
        <p:nvSpPr>
          <p:cNvPr id="12" name="Text: 02"/>
          <p:cNvSpPr txBox="1"/>
          <p:nvPr/>
        </p:nvSpPr>
        <p:spPr>
          <a:xfrm>
            <a:off x="965200" y="2974975"/>
            <a:ext cx="15091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1000" dirty="0"/>
          </a:p>
        </p:txBody>
      </p:sp>
      <p:sp>
        <p:nvSpPr>
          <p:cNvPr id="13" name="Border"/>
          <p:cNvSpPr/>
          <p:nvPr/>
        </p:nvSpPr>
        <p:spPr>
          <a:xfrm>
            <a:off x="762000" y="3378200"/>
            <a:ext cx="33528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4" name="Text: Land the turn."/>
          <p:cNvSpPr txBox="1"/>
          <p:nvPr/>
        </p:nvSpPr>
        <p:spPr>
          <a:xfrm>
            <a:off x="1268512" y="3530600"/>
            <a:ext cx="1039019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Land the turn.</a:t>
            </a:r>
            <a:endParaRPr lang="en-US" sz="1300" dirty="0"/>
          </a:p>
        </p:txBody>
      </p:sp>
      <p:sp>
        <p:nvSpPr>
          <p:cNvPr id="15" name="Text: 03"/>
          <p:cNvSpPr txBox="1"/>
          <p:nvPr/>
        </p:nvSpPr>
        <p:spPr>
          <a:xfrm>
            <a:off x="965200" y="3559175"/>
            <a:ext cx="15091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1000" dirty="0"/>
          </a:p>
        </p:txBody>
      </p:sp>
      <p:sp>
        <p:nvSpPr>
          <p:cNvPr id="16" name="Rounded Rectangle"/>
          <p:cNvSpPr/>
          <p:nvPr/>
        </p:nvSpPr>
        <p:spPr>
          <a:xfrm>
            <a:off x="3660775" y="3990975"/>
            <a:ext cx="29845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4255" sy="105128" algn="ctr" rotWithShape="0">
              <a:srgbClr val="000000">
                <a:alpha val="6000"/>
              </a:srgbClr>
            </a:outerShdw>
          </a:effectLst>
        </p:spPr>
      </p:sp>
      <p:pic>
        <p:nvPicPr>
          <p:cNvPr id="17" name="Graph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2850" y="4057650"/>
            <a:ext cx="114300" cy="114300"/>
          </a:xfrm>
          <a:prstGeom prst="rect">
            <a:avLst/>
          </a:prstGeom>
          <a:ln>
            <a:noFill/>
          </a:ln>
        </p:spPr>
      </p:pic>
      <p:sp>
        <p:nvSpPr>
          <p:cNvPr id="18" name="Text: SlideTransition"/>
          <p:cNvSpPr txBox="1"/>
          <p:nvPr/>
        </p:nvSpPr>
        <p:spPr>
          <a:xfrm>
            <a:off x="4419600" y="4495800"/>
            <a:ext cx="124638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SlideTransition</a:t>
            </a:r>
            <a:endParaRPr lang="en-US" sz="1100" dirty="0"/>
          </a:p>
        </p:txBody>
      </p:sp>
      <p:sp>
        <p:nvSpPr>
          <p:cNvPr id="19" name="Text: One DNA per deck: 6 px rise, 200 ms, eas"/>
          <p:cNvSpPr txBox="1"/>
          <p:nvPr/>
        </p:nvSpPr>
        <p:spPr>
          <a:xfrm>
            <a:off x="4419600" y="4801890"/>
            <a:ext cx="3261420" cy="44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One DNA per deck: 6 px rise, 200 ms, ease-out.</a:t>
            </a:r>
            <a:br>
              <a:rPr lang="en-US" sz="1200"/>
            </a:br>
            <a:r>
              <a:rPr lang="en-US" sz="12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This deck uses it.</a:t>
            </a:r>
            <a:endParaRPr lang="en-US" sz="1200" dirty="0"/>
          </a:p>
        </p:txBody>
      </p:sp>
      <p:sp>
        <p:nvSpPr>
          <p:cNvPr id="20" name="Rounded Rectangle"/>
          <p:cNvSpPr/>
          <p:nvPr/>
        </p:nvSpPr>
        <p:spPr>
          <a:xfrm>
            <a:off x="4419600" y="2006600"/>
            <a:ext cx="3352800" cy="2362200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>
            <a:noFill/>
          </a:ln>
          <a:effectLst>
            <a:innerShdw blurRad="0" dist="0" dir="0">
              <a:srgbClr val="ECECEC"/>
            </a:innerShdw>
          </a:effectLst>
        </p:spPr>
      </p:sp>
      <p:sp>
        <p:nvSpPr>
          <p:cNvPr id="21" name="Rounded Rectangle"/>
          <p:cNvSpPr/>
          <p:nvPr/>
        </p:nvSpPr>
        <p:spPr>
          <a:xfrm>
            <a:off x="5143500" y="2651125"/>
            <a:ext cx="1905000" cy="10731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667" sy="101183" algn="ctr" rotWithShape="0">
              <a:srgbClr val="000000">
                <a:alpha val="7000"/>
              </a:srgbClr>
            </a:outerShdw>
          </a:effectLst>
        </p:spPr>
      </p:sp>
      <p:sp>
        <p:nvSpPr>
          <p:cNvPr id="22" name="Text: PAGE 01"/>
          <p:cNvSpPr txBox="1"/>
          <p:nvPr/>
        </p:nvSpPr>
        <p:spPr>
          <a:xfrm>
            <a:off x="5321300" y="2816225"/>
            <a:ext cx="417215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spc="10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PAGE 01</a:t>
            </a:r>
            <a:endParaRPr lang="en-US" sz="600" dirty="0"/>
          </a:p>
        </p:txBody>
      </p:sp>
      <p:sp>
        <p:nvSpPr>
          <p:cNvPr id="23" name="Text: Next thought."/>
          <p:cNvSpPr txBox="1"/>
          <p:nvPr/>
        </p:nvSpPr>
        <p:spPr>
          <a:xfrm>
            <a:off x="5321300" y="3082925"/>
            <a:ext cx="1173361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5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Next thought.</a:t>
            </a:r>
            <a:endParaRPr lang="en-US" sz="1500" dirty="0"/>
          </a:p>
        </p:txBody>
      </p:sp>
      <p:sp>
        <p:nvSpPr>
          <p:cNvPr id="24" name="Rounded Rectangle"/>
          <p:cNvSpPr/>
          <p:nvPr/>
        </p:nvSpPr>
        <p:spPr>
          <a:xfrm>
            <a:off x="5321300" y="33496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>
            <a:noFill/>
          </a:ln>
        </p:spPr>
      </p:sp>
      <p:sp>
        <p:nvSpPr>
          <p:cNvPr id="25" name="Rounded Rectangle"/>
          <p:cNvSpPr/>
          <p:nvPr/>
        </p:nvSpPr>
        <p:spPr>
          <a:xfrm>
            <a:off x="7318375" y="3990975"/>
            <a:ext cx="29845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4255" sy="105128" algn="ctr" rotWithShape="0">
              <a:srgbClr val="000000">
                <a:alpha val="6000"/>
              </a:srgbClr>
            </a:outerShdw>
          </a:effectLst>
        </p:spPr>
      </p:sp>
      <p:pic>
        <p:nvPicPr>
          <p:cNvPr id="26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0450" y="4057650"/>
            <a:ext cx="114300" cy="114300"/>
          </a:xfrm>
          <a:prstGeom prst="rect">
            <a:avLst/>
          </a:prstGeom>
          <a:ln>
            <a:noFill/>
          </a:ln>
        </p:spPr>
      </p:pic>
      <p:sp>
        <p:nvSpPr>
          <p:cNvPr id="27" name="Text: MorphElement"/>
          <p:cNvSpPr txBox="1"/>
          <p:nvPr/>
        </p:nvSpPr>
        <p:spPr>
          <a:xfrm>
            <a:off x="8077200" y="4495800"/>
            <a:ext cx="99714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MorphElement</a:t>
            </a:r>
            <a:endParaRPr lang="en-US" sz="1100" dirty="0"/>
          </a:p>
        </p:txBody>
      </p:sp>
      <p:sp>
        <p:nvSpPr>
          <p:cNvPr id="28" name="Text: Same id on two pages, and the object gli"/>
          <p:cNvSpPr txBox="1"/>
          <p:nvPr/>
        </p:nvSpPr>
        <p:spPr>
          <a:xfrm>
            <a:off x="8077200" y="4801890"/>
            <a:ext cx="3028851" cy="44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Same id on two pages, and the object glides</a:t>
            </a:r>
            <a:br>
              <a:rPr lang="en-US" sz="1200"/>
            </a:br>
            <a:r>
              <a:rPr lang="en-US" sz="12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between them. The eyebrow mark just did.</a:t>
            </a:r>
            <a:endParaRPr lang="en-US" sz="1200" dirty="0"/>
          </a:p>
        </p:txBody>
      </p:sp>
      <p:sp>
        <p:nvSpPr>
          <p:cNvPr id="29" name="Rounded Rectangle"/>
          <p:cNvSpPr/>
          <p:nvPr/>
        </p:nvSpPr>
        <p:spPr>
          <a:xfrm>
            <a:off x="8077200" y="2006600"/>
            <a:ext cx="3352800" cy="2362200"/>
          </a:xfrm>
          <a:prstGeom prst="roundRect">
            <a:avLst>
              <a:gd name="adj" fmla="val 3226"/>
            </a:avLst>
          </a:prstGeom>
          <a:solidFill>
            <a:srgbClr val="F7F7F7"/>
          </a:solidFill>
          <a:ln>
            <a:noFill/>
          </a:ln>
          <a:effectLst>
            <a:innerShdw blurRad="0" dist="0" dir="0">
              <a:srgbClr val="ECECEC"/>
            </a:innerShdw>
          </a:effectLst>
        </p:spPr>
      </p:sp>
      <p:sp>
        <p:nvSpPr>
          <p:cNvPr id="30" name="Rounded Rectangle"/>
          <p:cNvSpPr/>
          <p:nvPr/>
        </p:nvSpPr>
        <p:spPr>
          <a:xfrm>
            <a:off x="8642350" y="2940050"/>
            <a:ext cx="495300" cy="495300"/>
          </a:xfrm>
          <a:prstGeom prst="roundRect">
            <a:avLst>
              <a:gd name="adj" fmla="val 26923"/>
            </a:avLst>
          </a:prstGeom>
          <a:noFill/>
          <a:ln w="12700" cap="flat" cmpd="sng" algn="ctr">
            <a:solidFill>
              <a:srgbClr val="E4E4E4"/>
            </a:solidFill>
            <a:prstDash val="dash"/>
            <a:miter lim="800000"/>
          </a:ln>
        </p:spPr>
      </p:sp>
      <p:sp>
        <p:nvSpPr>
          <p:cNvPr id="31" name="Rounded Rectangle"/>
          <p:cNvSpPr/>
          <p:nvPr/>
        </p:nvSpPr>
        <p:spPr>
          <a:xfrm>
            <a:off x="9759950" y="2635250"/>
            <a:ext cx="1104900" cy="1104900"/>
          </a:xfrm>
          <a:prstGeom prst="roundRect">
            <a:avLst>
              <a:gd name="adj" fmla="val 25862"/>
            </a:avLst>
          </a:prstGeom>
          <a:noFill/>
          <a:ln w="12700" cap="flat" cmpd="sng" algn="ctr">
            <a:solidFill>
              <a:srgbClr val="E4E4E4"/>
            </a:solidFill>
            <a:prstDash val="dash"/>
            <a:miter lim="800000"/>
          </a:ln>
        </p:spPr>
      </p:sp>
      <p:sp>
        <p:nvSpPr>
          <p:cNvPr id="32" name="Rounded Rectangle"/>
          <p:cNvSpPr/>
          <p:nvPr/>
        </p:nvSpPr>
        <p:spPr>
          <a:xfrm>
            <a:off x="8686800" y="29845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3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34" name="Text: 12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5 · Present"/>
          <p:cNvSpPr txBox="1"/>
          <p:nvPr/>
        </p:nvSpPr>
        <p:spPr>
          <a:xfrm>
            <a:off x="939800" y="615950"/>
            <a:ext cx="775395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05 · Present</a:t>
            </a:r>
            <a:endParaRPr lang="en-US" sz="1100" dirty="0"/>
          </a:p>
        </p:txBody>
      </p:sp>
      <p:sp>
        <p:nvSpPr>
          <p:cNvPr id="4" name="Text: Present from the browser."/>
          <p:cNvSpPr txBox="1"/>
          <p:nvPr/>
        </p:nvSpPr>
        <p:spPr>
          <a:xfrm>
            <a:off x="762000" y="921766"/>
            <a:ext cx="4597202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Present from the browser.</a:t>
            </a:r>
            <a:endParaRPr lang="en-US" sz="3200" dirty="0"/>
          </a:p>
        </p:txBody>
      </p:sp>
      <p:sp>
        <p:nvSpPr>
          <p:cNvPr id="5" name="Text: F for fullscreen, Enter for a window. Ov"/>
          <p:cNvSpPr txBox="1"/>
          <p:nvPr/>
        </p:nvSpPr>
        <p:spPr>
          <a:xfrm>
            <a:off x="762000" y="1405255"/>
            <a:ext cx="7597874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F for fullscreen, Enter for a window. Overview, laser, blackout, and the keyboard map are one key away.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10668000" cy="3835400"/>
          </a:xfrm>
          <a:prstGeom prst="roundRect">
            <a:avLst>
              <a:gd name="adj" fmla="val 1987"/>
            </a:avLst>
          </a:prstGeom>
          <a:solidFill>
            <a:srgbClr val="000000"/>
          </a:solidFill>
          <a:ln>
            <a:noFill/>
          </a:ln>
          <a:effectLst>
            <a:outerShdw blurRad="0" dist="0" dir="0" sx="100119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Rectangle"/>
          <p:cNvSpPr/>
          <p:nvPr/>
        </p:nvSpPr>
        <p:spPr>
          <a:xfrm>
            <a:off x="2686745" y="2006600"/>
            <a:ext cx="6818412" cy="383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: AGENDA"/>
          <p:cNvSpPr txBox="1"/>
          <p:nvPr/>
        </p:nvSpPr>
        <p:spPr>
          <a:xfrm>
            <a:off x="3254952" y="2557051"/>
            <a:ext cx="433258" cy="138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7" spc="131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AGENDA</a:t>
            </a:r>
            <a:endParaRPr lang="en-US" sz="727" dirty="0"/>
          </a:p>
        </p:txBody>
      </p:sp>
      <p:sp>
        <p:nvSpPr>
          <p:cNvPr id="9" name="Text: What's inside"/>
          <p:cNvSpPr txBox="1"/>
          <p:nvPr/>
        </p:nvSpPr>
        <p:spPr>
          <a:xfrm>
            <a:off x="3254952" y="3135912"/>
            <a:ext cx="2515204" cy="42615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6" b="1" spc="-117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inside</a:t>
            </a:r>
            <a:endParaRPr lang="en-US" sz="3356" dirty="0"/>
          </a:p>
        </p:txBody>
      </p:sp>
      <p:sp>
        <p:nvSpPr>
          <p:cNvPr id="10" name="Border"/>
          <p:cNvSpPr/>
          <p:nvPr/>
        </p:nvSpPr>
        <p:spPr>
          <a:xfrm>
            <a:off x="3254952" y="3782247"/>
            <a:ext cx="5682071" cy="355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01"/>
          <p:cNvSpPr txBox="1"/>
          <p:nvPr/>
        </p:nvSpPr>
        <p:spPr>
          <a:xfrm>
            <a:off x="3254952" y="3917197"/>
            <a:ext cx="118635" cy="14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3" spc="-4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783" dirty="0"/>
          </a:p>
        </p:txBody>
      </p:sp>
      <p:sp>
        <p:nvSpPr>
          <p:cNvPr id="12" name="Text: The problem"/>
          <p:cNvSpPr txBox="1"/>
          <p:nvPr/>
        </p:nvSpPr>
        <p:spPr>
          <a:xfrm>
            <a:off x="3515639" y="3853273"/>
            <a:ext cx="879445" cy="2343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problem</a:t>
            </a:r>
            <a:endParaRPr lang="en-US" sz="1230" dirty="0"/>
          </a:p>
        </p:txBody>
      </p:sp>
      <p:sp>
        <p:nvSpPr>
          <p:cNvPr id="13" name="Border"/>
          <p:cNvSpPr/>
          <p:nvPr/>
        </p:nvSpPr>
        <p:spPr>
          <a:xfrm>
            <a:off x="3254952" y="4190646"/>
            <a:ext cx="5682071" cy="355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4" name="Text: 02"/>
          <p:cNvSpPr txBox="1"/>
          <p:nvPr/>
        </p:nvSpPr>
        <p:spPr>
          <a:xfrm>
            <a:off x="3254952" y="4325595"/>
            <a:ext cx="118635" cy="14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3" spc="-4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783" dirty="0"/>
          </a:p>
        </p:txBody>
      </p:sp>
      <p:sp>
        <p:nvSpPr>
          <p:cNvPr id="15" name="Text: Our solution"/>
          <p:cNvSpPr txBox="1"/>
          <p:nvPr/>
        </p:nvSpPr>
        <p:spPr>
          <a:xfrm>
            <a:off x="3515639" y="4261672"/>
            <a:ext cx="864962" cy="2343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Our solution</a:t>
            </a:r>
            <a:endParaRPr lang="en-US" sz="1230" dirty="0"/>
          </a:p>
        </p:txBody>
      </p:sp>
      <p:sp>
        <p:nvSpPr>
          <p:cNvPr id="16" name="Border"/>
          <p:cNvSpPr/>
          <p:nvPr/>
        </p:nvSpPr>
        <p:spPr>
          <a:xfrm>
            <a:off x="3254952" y="4599045"/>
            <a:ext cx="5682071" cy="355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7" name="Text: 03"/>
          <p:cNvSpPr txBox="1"/>
          <p:nvPr/>
        </p:nvSpPr>
        <p:spPr>
          <a:xfrm>
            <a:off x="3254952" y="4733994"/>
            <a:ext cx="118635" cy="14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3" spc="-4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783" dirty="0"/>
          </a:p>
        </p:txBody>
      </p:sp>
      <p:sp>
        <p:nvSpPr>
          <p:cNvPr id="18" name="Text: Metrics"/>
          <p:cNvSpPr txBox="1"/>
          <p:nvPr/>
        </p:nvSpPr>
        <p:spPr>
          <a:xfrm>
            <a:off x="3515639" y="4670071"/>
            <a:ext cx="532639" cy="2343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Metrics</a:t>
            </a:r>
            <a:endParaRPr lang="en-US" sz="1230" dirty="0"/>
          </a:p>
        </p:txBody>
      </p:sp>
      <p:sp>
        <p:nvSpPr>
          <p:cNvPr id="19" name="Border"/>
          <p:cNvSpPr/>
          <p:nvPr/>
        </p:nvSpPr>
        <p:spPr>
          <a:xfrm>
            <a:off x="3254952" y="5007444"/>
            <a:ext cx="5682071" cy="355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0" name="Text: 04"/>
          <p:cNvSpPr txBox="1"/>
          <p:nvPr/>
        </p:nvSpPr>
        <p:spPr>
          <a:xfrm>
            <a:off x="3254952" y="5142393"/>
            <a:ext cx="118635" cy="14915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3" spc="-4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783" dirty="0"/>
          </a:p>
        </p:txBody>
      </p:sp>
      <p:sp>
        <p:nvSpPr>
          <p:cNvPr id="21" name="Text: What's next"/>
          <p:cNvSpPr txBox="1"/>
          <p:nvPr/>
        </p:nvSpPr>
        <p:spPr>
          <a:xfrm>
            <a:off x="3515639" y="5078470"/>
            <a:ext cx="826453" cy="2343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1230" dirty="0"/>
          </a:p>
        </p:txBody>
      </p:sp>
      <p:sp>
        <p:nvSpPr>
          <p:cNvPr id="22" name="Text: ACME · PRODUCT"/>
          <p:cNvSpPr txBox="1"/>
          <p:nvPr/>
        </p:nvSpPr>
        <p:spPr>
          <a:xfrm>
            <a:off x="3254952" y="5202765"/>
            <a:ext cx="813857" cy="1278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1" spc="54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671" dirty="0"/>
          </a:p>
        </p:txBody>
      </p:sp>
      <p:sp>
        <p:nvSpPr>
          <p:cNvPr id="23" name="Text: 02 / 06"/>
          <p:cNvSpPr txBox="1"/>
          <p:nvPr/>
        </p:nvSpPr>
        <p:spPr>
          <a:xfrm>
            <a:off x="8530011" y="5202765"/>
            <a:ext cx="407012" cy="12784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1" spc="54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02 / 06</a:t>
            </a:r>
            <a:endParaRPr lang="en-US" sz="671" dirty="0"/>
          </a:p>
        </p:txBody>
      </p:sp>
      <p:sp>
        <p:nvSpPr>
          <p:cNvPr id="24" name="Rectangle"/>
          <p:cNvSpPr/>
          <p:nvPr/>
        </p:nvSpPr>
        <p:spPr>
          <a:xfrm>
            <a:off x="762000" y="2006600"/>
            <a:ext cx="10668000" cy="1905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25" name="Rectangle"/>
          <p:cNvSpPr/>
          <p:nvPr/>
        </p:nvSpPr>
        <p:spPr>
          <a:xfrm>
            <a:off x="762000" y="2006600"/>
            <a:ext cx="3555644" cy="19050"/>
          </a:xfrm>
          <a:prstGeom prst="rect">
            <a:avLst/>
          </a:prstGeom>
          <a:solidFill>
            <a:srgbClr val="DE3B3D"/>
          </a:solidFill>
          <a:ln>
            <a:noFill/>
          </a:ln>
        </p:spPr>
      </p:sp>
      <p:sp>
        <p:nvSpPr>
          <p:cNvPr id="26" name="Ellipse"/>
          <p:cNvSpPr/>
          <p:nvPr/>
        </p:nvSpPr>
        <p:spPr>
          <a:xfrm>
            <a:off x="5880100" y="3327400"/>
            <a:ext cx="88900" cy="8890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0" dist="0" dir="0" sx="171429" sy="171429" algn="ctr" rotWithShape="0">
              <a:srgbClr val="EF4444">
                <a:alpha val="25000"/>
              </a:srgbClr>
            </a:outerShdw>
          </a:effectLst>
        </p:spPr>
      </p:sp>
      <p:pic>
        <p:nvPicPr>
          <p:cNvPr id="27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5232400"/>
            <a:ext cx="5664200" cy="444500"/>
          </a:xfrm>
          <a:prstGeom prst="rect">
            <a:avLst/>
          </a:prstGeom>
          <a:ln>
            <a:noFill/>
          </a:ln>
        </p:spPr>
      </p:pic>
      <p:sp>
        <p:nvSpPr>
          <p:cNvPr id="28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29" name="Text: 13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05 · Present"/>
          <p:cNvSpPr txBox="1"/>
          <p:nvPr/>
        </p:nvSpPr>
        <p:spPr>
          <a:xfrm>
            <a:off x="939800" y="615950"/>
            <a:ext cx="775395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05 · Present</a:t>
            </a:r>
            <a:endParaRPr lang="en-US" sz="1100" dirty="0"/>
          </a:p>
        </p:txBody>
      </p:sp>
      <p:sp>
        <p:nvSpPr>
          <p:cNvPr id="4" name="Text: Notes travel with the deck."/>
          <p:cNvSpPr txBox="1"/>
          <p:nvPr/>
        </p:nvSpPr>
        <p:spPr>
          <a:xfrm>
            <a:off x="762000" y="921766"/>
            <a:ext cx="4772521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Notes travel with the deck.</a:t>
            </a:r>
            <a:endParaRPr lang="en-US" sz="3200" dirty="0"/>
          </a:p>
        </p:txBody>
      </p:sp>
      <p:sp>
        <p:nvSpPr>
          <p:cNvPr id="5" name="Text: Export notes next to your pages. Present"/>
          <p:cNvSpPr txBox="1"/>
          <p:nvPr/>
        </p:nvSpPr>
        <p:spPr>
          <a:xfrm>
            <a:off x="762000" y="1405334"/>
            <a:ext cx="7801273" cy="47863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Export notes next to your pages. Presenter view shows the current slide, what's next, and your script with</a:t>
            </a:r>
            <a:br>
              <a:rPr lang="en-US" sz="1300"/>
            </a:b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a timer.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3302000" cy="3835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385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762000" y="2330450"/>
            <a:ext cx="33020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889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009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1130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slides/q2-launch/index.tsx"/>
          <p:cNvSpPr txBox="1"/>
          <p:nvPr/>
        </p:nvSpPr>
        <p:spPr>
          <a:xfrm>
            <a:off x="1554063" y="2065338"/>
            <a:ext cx="1717873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slides/q2-launch/index.tsx</a:t>
            </a:r>
            <a:endParaRPr lang="en-US" sz="850" dirty="0"/>
          </a:p>
        </p:txBody>
      </p:sp>
      <p:sp>
        <p:nvSpPr>
          <p:cNvPr id="12" name="Text: NOTES"/>
          <p:cNvSpPr txBox="1"/>
          <p:nvPr/>
        </p:nvSpPr>
        <p:spPr>
          <a:xfrm>
            <a:off x="3633788" y="2082800"/>
            <a:ext cx="303213" cy="133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spc="56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NOTES</a:t>
            </a:r>
            <a:endParaRPr lang="en-US" sz="700" dirty="0"/>
          </a:p>
        </p:txBody>
      </p:sp>
      <p:sp>
        <p:nvSpPr>
          <p:cNvPr id="13" name="Text: export const  notes  = ["/>
          <p:cNvSpPr txBox="1"/>
          <p:nvPr/>
        </p:nvSpPr>
        <p:spPr>
          <a:xfrm>
            <a:off x="990600" y="2479040"/>
            <a:ext cx="1744067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export const</a:t>
            </a: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notes 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= [</a:t>
            </a:r>
            <a:endParaRPr lang="en-US" sz="1050" dirty="0"/>
          </a:p>
        </p:txBody>
      </p:sp>
      <p:sp>
        <p:nvSpPr>
          <p:cNvPr id="14" name="Text: 'Open with the customer quote.' ,"/>
          <p:cNvSpPr txBox="1"/>
          <p:nvPr/>
        </p:nvSpPr>
        <p:spPr>
          <a:xfrm>
            <a:off x="990600" y="2692360"/>
            <a:ext cx="2695178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'Open with the customer quote.'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5" name="Text: 'Four beats, one per row.' ,"/>
          <p:cNvSpPr txBox="1"/>
          <p:nvPr/>
        </p:nvSpPr>
        <p:spPr>
          <a:xfrm>
            <a:off x="990600" y="2905681"/>
            <a:ext cx="2298799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'Four beats, one per row.'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6" name="Text: 'Let the 3× land. Then breathe.' ,"/>
          <p:cNvSpPr txBox="1"/>
          <p:nvPr/>
        </p:nvSpPr>
        <p:spPr>
          <a:xfrm>
            <a:off x="990600" y="3119001"/>
            <a:ext cx="2774454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'Let the 3× land. Then breathe.'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7" name="Text: undefined ,"/>
          <p:cNvSpPr txBox="1"/>
          <p:nvPr/>
        </p:nvSpPr>
        <p:spPr>
          <a:xfrm>
            <a:off x="990600" y="3332321"/>
            <a:ext cx="951309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B3383A"/>
                </a:solidFill>
                <a:latin typeface="Courier New"/>
                <a:ea typeface="Courier New"/>
                <a:cs typeface="Courier New"/>
              </a:rPr>
              <a:t>undefined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8" name="Text: 'Cite the Q1 baseline first.' ,"/>
          <p:cNvSpPr txBox="1"/>
          <p:nvPr/>
        </p:nvSpPr>
        <p:spPr>
          <a:xfrm>
            <a:off x="990600" y="3545642"/>
            <a:ext cx="2536627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'Cite the Q1 baseline first.'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19" name="Text: 'End on the waitlist link.' ,"/>
          <p:cNvSpPr txBox="1"/>
          <p:nvPr/>
        </p:nvSpPr>
        <p:spPr>
          <a:xfrm>
            <a:off x="990600" y="3758962"/>
            <a:ext cx="2378075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en-US" sz="1050" spc="-8" dirty="0">
                <a:solidFill>
                  <a:srgbClr val="8A6A24"/>
                </a:solidFill>
                <a:latin typeface="Courier New"/>
                <a:ea typeface="Courier New"/>
                <a:cs typeface="Courier New"/>
              </a:rPr>
              <a:t>'End on the waitlist link.'</a:t>
            </a: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,</a:t>
            </a:r>
            <a:endParaRPr lang="en-US" sz="1050" dirty="0"/>
          </a:p>
        </p:txBody>
      </p:sp>
      <p:sp>
        <p:nvSpPr>
          <p:cNvPr id="20" name="Text: ];"/>
          <p:cNvSpPr txBox="1"/>
          <p:nvPr/>
        </p:nvSpPr>
        <p:spPr>
          <a:xfrm>
            <a:off x="990600" y="3972282"/>
            <a:ext cx="158552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];</a:t>
            </a:r>
            <a:endParaRPr lang="en-US" sz="1050" dirty="0"/>
          </a:p>
        </p:txBody>
      </p:sp>
      <p:sp>
        <p:nvSpPr>
          <p:cNvPr id="21" name="Text"/>
          <p:cNvSpPr txBox="1"/>
          <p:nvPr/>
        </p:nvSpPr>
        <p:spPr>
          <a:xfrm>
            <a:off x="990600" y="4185603"/>
            <a:ext cx="79276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050" dirty="0"/>
          </a:p>
        </p:txBody>
      </p:sp>
      <p:sp>
        <p:nvSpPr>
          <p:cNvPr id="22" name="Text: // index-aligned with the pages"/>
          <p:cNvSpPr txBox="1"/>
          <p:nvPr/>
        </p:nvSpPr>
        <p:spPr>
          <a:xfrm>
            <a:off x="990600" y="4398923"/>
            <a:ext cx="2457351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// index-aligned with the pages</a:t>
            </a:r>
            <a:endParaRPr lang="en-US" sz="1050" dirty="0"/>
          </a:p>
        </p:txBody>
      </p:sp>
      <p:sp>
        <p:nvSpPr>
          <p:cNvPr id="23" name="Rounded Rectangle"/>
          <p:cNvSpPr/>
          <p:nvPr/>
        </p:nvSpPr>
        <p:spPr>
          <a:xfrm>
            <a:off x="4267200" y="2006600"/>
            <a:ext cx="7162800" cy="3835400"/>
          </a:xfrm>
          <a:prstGeom prst="roundRect">
            <a:avLst>
              <a:gd name="adj" fmla="val 1987"/>
            </a:avLst>
          </a:prstGeom>
          <a:solidFill>
            <a:srgbClr val="111111"/>
          </a:solidFill>
          <a:ln>
            <a:noFill/>
          </a:ln>
          <a:effectLst>
            <a:outerShdw blurRad="0" dist="0" dir="0" sx="100177" sy="100331" algn="ctr" rotWithShape="0">
              <a:srgbClr val="FFFFFF">
                <a:alpha val="10000"/>
              </a:srgbClr>
            </a:outerShdw>
          </a:effectLst>
        </p:spPr>
      </p:sp>
      <p:sp>
        <p:nvSpPr>
          <p:cNvPr id="24" name="Border"/>
          <p:cNvSpPr/>
          <p:nvPr/>
        </p:nvSpPr>
        <p:spPr>
          <a:xfrm>
            <a:off x="4267200" y="2487910"/>
            <a:ext cx="716280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</p:sp>
      <p:sp>
        <p:nvSpPr>
          <p:cNvPr id="25" name="Text: PRESENTER"/>
          <p:cNvSpPr txBox="1"/>
          <p:nvPr/>
        </p:nvSpPr>
        <p:spPr>
          <a:xfrm>
            <a:off x="4510980" y="2148225"/>
            <a:ext cx="719931" cy="167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spc="70" dirty="0">
                <a:solidFill>
                  <a:srgbClr val="FFFFFF">
                    <a:alpha val="45000"/>
                  </a:srgbClr>
                </a:solidFill>
                <a:latin typeface="Geist Variable"/>
                <a:ea typeface="Geist Variable"/>
                <a:cs typeface="Geist Variable"/>
              </a:rPr>
              <a:t>PRESENTER</a:t>
            </a:r>
            <a:endParaRPr lang="en-US" sz="880" dirty="0"/>
          </a:p>
        </p:txBody>
      </p:sp>
      <p:sp>
        <p:nvSpPr>
          <p:cNvPr id="26" name="Text: Q2 Launch"/>
          <p:cNvSpPr txBox="1"/>
          <p:nvPr/>
        </p:nvSpPr>
        <p:spPr>
          <a:xfrm>
            <a:off x="5352752" y="2124035"/>
            <a:ext cx="717550" cy="2133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1" spc="-11" dirty="0">
                <a:solidFill>
                  <a:srgbClr val="EDEDED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1120" dirty="0"/>
          </a:p>
        </p:txBody>
      </p:sp>
      <p:pic>
        <p:nvPicPr>
          <p:cNvPr id="27" name="Graph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8700" y="2171700"/>
            <a:ext cx="146050" cy="152400"/>
          </a:xfrm>
          <a:prstGeom prst="rect">
            <a:avLst/>
          </a:prstGeom>
          <a:ln>
            <a:noFill/>
          </a:ln>
        </p:spPr>
      </p:pic>
      <p:sp>
        <p:nvSpPr>
          <p:cNvPr id="28" name="Text: 14:02"/>
          <p:cNvSpPr txBox="1"/>
          <p:nvPr/>
        </p:nvSpPr>
        <p:spPr>
          <a:xfrm>
            <a:off x="9134773" y="2136636"/>
            <a:ext cx="398363" cy="1752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spc="74" dirty="0">
                <a:solidFill>
                  <a:srgbClr val="A1A1A1"/>
                </a:solidFill>
                <a:latin typeface="Courier New"/>
                <a:ea typeface="Courier New"/>
                <a:cs typeface="Courier New"/>
              </a:rPr>
              <a:t>14:02</a:t>
            </a:r>
            <a:endParaRPr lang="en-US" sz="920" dirty="0"/>
          </a:p>
        </p:txBody>
      </p:sp>
      <p:sp>
        <p:nvSpPr>
          <p:cNvPr id="29" name="Text: 04:12"/>
          <p:cNvSpPr txBox="1"/>
          <p:nvPr/>
        </p:nvSpPr>
        <p:spPr>
          <a:xfrm>
            <a:off x="9776916" y="2136636"/>
            <a:ext cx="398363" cy="1752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spc="74" dirty="0">
                <a:solidFill>
                  <a:srgbClr val="A1A1A1"/>
                </a:solidFill>
                <a:latin typeface="Courier New"/>
                <a:ea typeface="Courier New"/>
                <a:cs typeface="Courier New"/>
              </a:rPr>
              <a:t>04:12</a:t>
            </a:r>
            <a:endParaRPr lang="en-US" sz="920" dirty="0"/>
          </a:p>
        </p:txBody>
      </p:sp>
      <p:sp>
        <p:nvSpPr>
          <p:cNvPr id="30" name="Text: 02  /  06"/>
          <p:cNvSpPr txBox="1"/>
          <p:nvPr/>
        </p:nvSpPr>
        <p:spPr>
          <a:xfrm>
            <a:off x="10419060" y="2077065"/>
            <a:ext cx="767159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spc="-4" dirty="0">
                <a:solidFill>
                  <a:srgbClr val="EDEDED"/>
                </a:solidFill>
                <a:latin typeface="Courier New"/>
                <a:ea typeface="Courier New"/>
                <a:cs typeface="Courier New"/>
              </a:rPr>
              <a:t>02</a:t>
            </a:r>
            <a:r>
              <a:rPr lang="en-US" sz="1440" spc="-4" dirty="0">
                <a:solidFill>
                  <a:srgbClr val="EDEDED">
                    <a:alpha val="30000"/>
                  </a:srgbClr>
                </a:solidFill>
                <a:latin typeface="Courier New"/>
                <a:ea typeface="Courier New"/>
                <a:cs typeface="Courier New"/>
              </a:rPr>
              <a:t> / </a:t>
            </a:r>
            <a:r>
              <a:rPr lang="en-US" sz="1440" spc="-4" dirty="0">
                <a:solidFill>
                  <a:srgbClr val="A1A1A1"/>
                </a:solidFill>
                <a:latin typeface="Courier New"/>
                <a:ea typeface="Courier New"/>
                <a:cs typeface="Courier New"/>
              </a:rPr>
              <a:t>06</a:t>
            </a:r>
            <a:endParaRPr lang="en-US" sz="1440" dirty="0"/>
          </a:p>
        </p:txBody>
      </p:sp>
      <p:sp>
        <p:nvSpPr>
          <p:cNvPr id="31" name="Text: NOW SHOWING"/>
          <p:cNvSpPr txBox="1"/>
          <p:nvPr/>
        </p:nvSpPr>
        <p:spPr>
          <a:xfrm>
            <a:off x="4510980" y="2600861"/>
            <a:ext cx="923528" cy="167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spc="70" dirty="0">
                <a:solidFill>
                  <a:srgbClr val="FFFFFF">
                    <a:alpha val="45000"/>
                  </a:srgbClr>
                </a:solidFill>
                <a:latin typeface="Geist Variable"/>
                <a:ea typeface="Geist Variable"/>
                <a:cs typeface="Geist Variable"/>
              </a:rPr>
              <a:t>NOW SHOWING</a:t>
            </a:r>
            <a:endParaRPr lang="en-US" sz="880" dirty="0"/>
          </a:p>
        </p:txBody>
      </p:sp>
      <p:sp>
        <p:nvSpPr>
          <p:cNvPr id="32" name="Rounded Rectangle"/>
          <p:cNvSpPr/>
          <p:nvPr/>
        </p:nvSpPr>
        <p:spPr>
          <a:xfrm>
            <a:off x="4510980" y="2864941"/>
            <a:ext cx="4287639" cy="2239466"/>
          </a:xfrm>
          <a:prstGeom prst="roundRect">
            <a:avLst>
              <a:gd name="adj" fmla="val 3629"/>
            </a:avLst>
          </a:prstGeom>
          <a:solidFill>
            <a:srgbClr val="000000"/>
          </a:solidFill>
          <a:ln>
            <a:noFill/>
          </a:ln>
          <a:effectLst>
            <a:outerShdw blurRad="0" dist="0" dir="0" sx="100296" sy="100567" algn="ctr" rotWithShape="0">
              <a:srgbClr val="FFFFFF">
                <a:alpha val="10000"/>
              </a:srgbClr>
            </a:outerShdw>
          </a:effectLst>
        </p:spPr>
      </p:sp>
      <p:sp>
        <p:nvSpPr>
          <p:cNvPr id="33" name="Rectangle"/>
          <p:cNvSpPr/>
          <p:nvPr/>
        </p:nvSpPr>
        <p:spPr>
          <a:xfrm>
            <a:off x="4628455" y="2864941"/>
            <a:ext cx="4052689" cy="223946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Text: AGENDA"/>
          <p:cNvSpPr txBox="1"/>
          <p:nvPr/>
        </p:nvSpPr>
        <p:spPr>
          <a:xfrm>
            <a:off x="4966181" y="3172071"/>
            <a:ext cx="257516" cy="8232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2" spc="7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AGENDA</a:t>
            </a:r>
            <a:endParaRPr lang="en-US" sz="432" dirty="0"/>
          </a:p>
        </p:txBody>
      </p:sp>
      <p:sp>
        <p:nvSpPr>
          <p:cNvPr id="35" name="Text: What's inside"/>
          <p:cNvSpPr txBox="1"/>
          <p:nvPr/>
        </p:nvSpPr>
        <p:spPr>
          <a:xfrm>
            <a:off x="4966181" y="3516129"/>
            <a:ext cx="1494963" cy="25329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" b="1" spc="-7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inside</a:t>
            </a:r>
            <a:endParaRPr lang="en-US" sz="1994" dirty="0"/>
          </a:p>
        </p:txBody>
      </p:sp>
      <p:sp>
        <p:nvSpPr>
          <p:cNvPr id="36" name="Border"/>
          <p:cNvSpPr/>
          <p:nvPr/>
        </p:nvSpPr>
        <p:spPr>
          <a:xfrm>
            <a:off x="4966181" y="3900291"/>
            <a:ext cx="3377255" cy="211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37" name="Text: 01"/>
          <p:cNvSpPr txBox="1"/>
          <p:nvPr/>
        </p:nvSpPr>
        <p:spPr>
          <a:xfrm>
            <a:off x="4966181" y="3980501"/>
            <a:ext cx="70843" cy="8865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" spc="-1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465" dirty="0"/>
          </a:p>
        </p:txBody>
      </p:sp>
      <p:sp>
        <p:nvSpPr>
          <p:cNvPr id="38" name="Text: The problem"/>
          <p:cNvSpPr txBox="1"/>
          <p:nvPr/>
        </p:nvSpPr>
        <p:spPr>
          <a:xfrm>
            <a:off x="5121456" y="3942507"/>
            <a:ext cx="524563" cy="139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spc="-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The problem</a:t>
            </a:r>
            <a:endParaRPr lang="en-US" sz="731" dirty="0"/>
          </a:p>
        </p:txBody>
      </p:sp>
      <p:sp>
        <p:nvSpPr>
          <p:cNvPr id="39" name="Border"/>
          <p:cNvSpPr/>
          <p:nvPr/>
        </p:nvSpPr>
        <p:spPr>
          <a:xfrm>
            <a:off x="4966181" y="4143032"/>
            <a:ext cx="3377255" cy="211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40" name="Text: 02"/>
          <p:cNvSpPr txBox="1"/>
          <p:nvPr/>
        </p:nvSpPr>
        <p:spPr>
          <a:xfrm>
            <a:off x="4966181" y="4223241"/>
            <a:ext cx="70843" cy="8865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" spc="-1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465" dirty="0"/>
          </a:p>
        </p:txBody>
      </p:sp>
      <p:sp>
        <p:nvSpPr>
          <p:cNvPr id="41" name="Text: Our solution"/>
          <p:cNvSpPr txBox="1"/>
          <p:nvPr/>
        </p:nvSpPr>
        <p:spPr>
          <a:xfrm>
            <a:off x="5121456" y="4185247"/>
            <a:ext cx="516153" cy="139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spc="-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Our solution</a:t>
            </a:r>
            <a:endParaRPr lang="en-US" sz="731" dirty="0"/>
          </a:p>
        </p:txBody>
      </p:sp>
      <p:sp>
        <p:nvSpPr>
          <p:cNvPr id="42" name="Border"/>
          <p:cNvSpPr/>
          <p:nvPr/>
        </p:nvSpPr>
        <p:spPr>
          <a:xfrm>
            <a:off x="4966181" y="4385772"/>
            <a:ext cx="3377255" cy="211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43" name="Text: 03"/>
          <p:cNvSpPr txBox="1"/>
          <p:nvPr/>
        </p:nvSpPr>
        <p:spPr>
          <a:xfrm>
            <a:off x="4966181" y="4465982"/>
            <a:ext cx="70843" cy="8865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" spc="-1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465" dirty="0"/>
          </a:p>
        </p:txBody>
      </p:sp>
      <p:sp>
        <p:nvSpPr>
          <p:cNvPr id="44" name="Text: Metrics"/>
          <p:cNvSpPr txBox="1"/>
          <p:nvPr/>
        </p:nvSpPr>
        <p:spPr>
          <a:xfrm>
            <a:off x="5121456" y="4427988"/>
            <a:ext cx="317772" cy="139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spc="-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Metrics</a:t>
            </a:r>
            <a:endParaRPr lang="en-US" sz="731" dirty="0"/>
          </a:p>
        </p:txBody>
      </p:sp>
      <p:sp>
        <p:nvSpPr>
          <p:cNvPr id="45" name="Border"/>
          <p:cNvSpPr/>
          <p:nvPr/>
        </p:nvSpPr>
        <p:spPr>
          <a:xfrm>
            <a:off x="4966181" y="4628512"/>
            <a:ext cx="3377255" cy="2111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46" name="Text: 04"/>
          <p:cNvSpPr txBox="1"/>
          <p:nvPr/>
        </p:nvSpPr>
        <p:spPr>
          <a:xfrm>
            <a:off x="4966181" y="4708722"/>
            <a:ext cx="70843" cy="8865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" spc="-1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465" dirty="0"/>
          </a:p>
        </p:txBody>
      </p:sp>
      <p:sp>
        <p:nvSpPr>
          <p:cNvPr id="47" name="Text: What's next"/>
          <p:cNvSpPr txBox="1"/>
          <p:nvPr/>
        </p:nvSpPr>
        <p:spPr>
          <a:xfrm>
            <a:off x="5121456" y="4670728"/>
            <a:ext cx="493099" cy="13931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 spc="-1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What's next</a:t>
            </a:r>
            <a:endParaRPr lang="en-US" sz="731" dirty="0"/>
          </a:p>
        </p:txBody>
      </p:sp>
      <p:sp>
        <p:nvSpPr>
          <p:cNvPr id="48" name="Text: ACME · PRODUCT"/>
          <p:cNvSpPr txBox="1"/>
          <p:nvPr/>
        </p:nvSpPr>
        <p:spPr>
          <a:xfrm>
            <a:off x="4966181" y="4744605"/>
            <a:ext cx="483732" cy="759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" spc="32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399" dirty="0"/>
          </a:p>
        </p:txBody>
      </p:sp>
      <p:sp>
        <p:nvSpPr>
          <p:cNvPr id="49" name="Text: 02 / 06"/>
          <p:cNvSpPr txBox="1"/>
          <p:nvPr/>
        </p:nvSpPr>
        <p:spPr>
          <a:xfrm>
            <a:off x="8101520" y="4744605"/>
            <a:ext cx="241916" cy="759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" spc="32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02 / 06</a:t>
            </a:r>
            <a:endParaRPr lang="en-US" sz="399" dirty="0"/>
          </a:p>
        </p:txBody>
      </p:sp>
      <p:sp>
        <p:nvSpPr>
          <p:cNvPr id="50" name="Text: UP NEXT"/>
          <p:cNvSpPr txBox="1"/>
          <p:nvPr/>
        </p:nvSpPr>
        <p:spPr>
          <a:xfrm>
            <a:off x="9042400" y="2600861"/>
            <a:ext cx="525463" cy="167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spc="70" dirty="0">
                <a:solidFill>
                  <a:srgbClr val="FFFFFF">
                    <a:alpha val="45000"/>
                  </a:srgbClr>
                </a:solidFill>
                <a:latin typeface="Geist Variable"/>
                <a:ea typeface="Geist Variable"/>
                <a:cs typeface="Geist Variable"/>
              </a:rPr>
              <a:t>UP NEXT</a:t>
            </a:r>
            <a:endParaRPr lang="en-US" sz="880" dirty="0"/>
          </a:p>
        </p:txBody>
      </p:sp>
      <p:sp>
        <p:nvSpPr>
          <p:cNvPr id="51" name="Rounded Rectangle"/>
          <p:cNvSpPr/>
          <p:nvPr/>
        </p:nvSpPr>
        <p:spPr>
          <a:xfrm>
            <a:off x="9042400" y="2864941"/>
            <a:ext cx="2143820" cy="1205805"/>
          </a:xfrm>
          <a:prstGeom prst="roundRect">
            <a:avLst>
              <a:gd name="adj" fmla="val 6741"/>
            </a:avLst>
          </a:prstGeom>
          <a:solidFill>
            <a:srgbClr val="000000"/>
          </a:solidFill>
          <a:ln>
            <a:noFill/>
          </a:ln>
          <a:effectLst>
            <a:outerShdw blurRad="0" dist="0" dir="0" sx="100592" sy="101053" algn="ctr" rotWithShape="0">
              <a:srgbClr val="FFFFFF">
                <a:alpha val="10000"/>
              </a:srgbClr>
            </a:outerShdw>
          </a:effectLst>
        </p:spPr>
      </p:sp>
      <p:sp>
        <p:nvSpPr>
          <p:cNvPr id="52" name="Rectangle"/>
          <p:cNvSpPr/>
          <p:nvPr/>
        </p:nvSpPr>
        <p:spPr>
          <a:xfrm>
            <a:off x="9042400" y="2864941"/>
            <a:ext cx="2143720" cy="12058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" name="Text: PROBLEM"/>
          <p:cNvSpPr txBox="1"/>
          <p:nvPr/>
        </p:nvSpPr>
        <p:spPr>
          <a:xfrm>
            <a:off x="9221046" y="3038005"/>
            <a:ext cx="158932" cy="435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" spc="41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PROBLEM</a:t>
            </a:r>
            <a:endParaRPr lang="en-US" sz="229" dirty="0"/>
          </a:p>
        </p:txBody>
      </p:sp>
      <p:sp>
        <p:nvSpPr>
          <p:cNvPr id="54" name="Text: 3×"/>
          <p:cNvSpPr txBox="1"/>
          <p:nvPr/>
        </p:nvSpPr>
        <p:spPr>
          <a:xfrm>
            <a:off x="9221046" y="3298159"/>
            <a:ext cx="380531" cy="35729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3" b="1" spc="-141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3×</a:t>
            </a:r>
            <a:endParaRPr lang="en-US" sz="2813" dirty="0"/>
          </a:p>
        </p:txBody>
      </p:sp>
      <p:sp>
        <p:nvSpPr>
          <p:cNvPr id="55" name="Text: slower onboarding than our fastest compe"/>
          <p:cNvSpPr txBox="1"/>
          <p:nvPr/>
        </p:nvSpPr>
        <p:spPr>
          <a:xfrm>
            <a:off x="9221046" y="3663267"/>
            <a:ext cx="1141906" cy="8039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2" spc="-1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slower onboarding than our fastest competitor.</a:t>
            </a:r>
            <a:endParaRPr lang="en-US" sz="422" dirty="0"/>
          </a:p>
        </p:txBody>
      </p:sp>
      <p:sp>
        <p:nvSpPr>
          <p:cNvPr id="56" name="Text: ACME · PRODUCT"/>
          <p:cNvSpPr txBox="1"/>
          <p:nvPr/>
        </p:nvSpPr>
        <p:spPr>
          <a:xfrm>
            <a:off x="9221046" y="3869827"/>
            <a:ext cx="255879" cy="4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" spc="1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211" dirty="0"/>
          </a:p>
        </p:txBody>
      </p:sp>
      <p:sp>
        <p:nvSpPr>
          <p:cNvPr id="57" name="Text: 03 / 06"/>
          <p:cNvSpPr txBox="1"/>
          <p:nvPr/>
        </p:nvSpPr>
        <p:spPr>
          <a:xfrm>
            <a:off x="10879544" y="3869827"/>
            <a:ext cx="127966" cy="401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" spc="17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03 / 06</a:t>
            </a:r>
            <a:endParaRPr lang="en-US" sz="211" dirty="0"/>
          </a:p>
        </p:txBody>
      </p:sp>
      <p:sp>
        <p:nvSpPr>
          <p:cNvPr id="58" name="Text: SPEAKER NOTES"/>
          <p:cNvSpPr txBox="1"/>
          <p:nvPr/>
        </p:nvSpPr>
        <p:spPr>
          <a:xfrm>
            <a:off x="9042400" y="4177348"/>
            <a:ext cx="1010047" cy="1676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spc="70" dirty="0">
                <a:solidFill>
                  <a:srgbClr val="FFFFFF">
                    <a:alpha val="45000"/>
                  </a:srgbClr>
                </a:solidFill>
                <a:latin typeface="Geist Variable"/>
                <a:ea typeface="Geist Variable"/>
                <a:cs typeface="Geist Variable"/>
              </a:rPr>
              <a:t>SPEAKER NOTES</a:t>
            </a:r>
            <a:endParaRPr lang="en-US" sz="880" dirty="0"/>
          </a:p>
        </p:txBody>
      </p:sp>
      <p:sp>
        <p:nvSpPr>
          <p:cNvPr id="59" name="Rounded Rectangle"/>
          <p:cNvSpPr/>
          <p:nvPr/>
        </p:nvSpPr>
        <p:spPr>
          <a:xfrm>
            <a:off x="9045575" y="4444603"/>
            <a:ext cx="2137470" cy="656630"/>
          </a:xfrm>
          <a:prstGeom prst="roundRect">
            <a:avLst>
              <a:gd name="adj" fmla="val 8800"/>
            </a:avLst>
          </a:prstGeom>
          <a:solidFill>
            <a:srgbClr val="161616"/>
          </a:solidFill>
          <a:ln w="6350" cap="flat" cmpd="sng" algn="ctr">
            <a:solidFill>
              <a:srgbClr val="FFFFFF">
                <a:alpha val="10000"/>
              </a:srgbClr>
            </a:solidFill>
            <a:miter lim="800000"/>
          </a:ln>
        </p:spPr>
      </p:sp>
      <p:sp>
        <p:nvSpPr>
          <p:cNvPr id="60" name="Text: Four beats, one per row. Pause after the"/>
          <p:cNvSpPr txBox="1"/>
          <p:nvPr/>
        </p:nvSpPr>
        <p:spPr>
          <a:xfrm>
            <a:off x="9170591" y="4547096"/>
            <a:ext cx="1737816" cy="4387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spc="-4" dirty="0">
                <a:solidFill>
                  <a:srgbClr val="EDEDED"/>
                </a:solidFill>
                <a:latin typeface="Geist Variable"/>
                <a:ea typeface="Geist Variable"/>
                <a:cs typeface="Geist Variable"/>
              </a:rPr>
              <a:t>Four beats, one per row.</a:t>
            </a:r>
            <a:br>
              <a:rPr lang="en-US" sz="1080"/>
            </a:br>
            <a:r>
              <a:rPr lang="en-US" sz="1080" spc="-4" dirty="0">
                <a:solidFill>
                  <a:srgbClr val="EDEDED"/>
                </a:solidFill>
                <a:latin typeface="Geist Variable"/>
                <a:ea typeface="Geist Variable"/>
                <a:cs typeface="Geist Variable"/>
              </a:rPr>
              <a:t>Pause after the metrics line.</a:t>
            </a:r>
            <a:endParaRPr lang="en-US" sz="1080" dirty="0"/>
          </a:p>
        </p:txBody>
      </p:sp>
      <p:sp>
        <p:nvSpPr>
          <p:cNvPr id="61" name="Border"/>
          <p:cNvSpPr/>
          <p:nvPr/>
        </p:nvSpPr>
        <p:spPr>
          <a:xfrm>
            <a:off x="4267200" y="5266928"/>
            <a:ext cx="716280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</p:sp>
      <p:sp>
        <p:nvSpPr>
          <p:cNvPr id="62" name="Rounded Rectangle"/>
          <p:cNvSpPr/>
          <p:nvPr/>
        </p:nvSpPr>
        <p:spPr>
          <a:xfrm>
            <a:off x="4514155" y="5398294"/>
            <a:ext cx="750391" cy="318691"/>
          </a:xfrm>
          <a:prstGeom prst="roundRect">
            <a:avLst>
              <a:gd name="adj" fmla="val 14944"/>
            </a:avLst>
          </a:prstGeom>
          <a:solidFill>
            <a:srgbClr val="161616"/>
          </a:solidFill>
          <a:ln w="6350" cap="flat" cmpd="sng" algn="ctr">
            <a:solidFill>
              <a:srgbClr val="FFFFFF">
                <a:alpha val="10000"/>
              </a:srgbClr>
            </a:solidFill>
            <a:miter lim="800000"/>
          </a:ln>
        </p:spPr>
      </p:sp>
      <p:sp>
        <p:nvSpPr>
          <p:cNvPr id="63" name="Text: Prev"/>
          <p:cNvSpPr txBox="1"/>
          <p:nvPr/>
        </p:nvSpPr>
        <p:spPr>
          <a:xfrm>
            <a:off x="4862612" y="5444649"/>
            <a:ext cx="276920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spc="-4" dirty="0">
                <a:solidFill>
                  <a:srgbClr val="EDEDED"/>
                </a:solidFill>
                <a:latin typeface="Geist Variable"/>
                <a:ea typeface="Geist Variable"/>
                <a:cs typeface="Geist Variable"/>
              </a:rPr>
              <a:t>Prev</a:t>
            </a:r>
            <a:endParaRPr lang="en-US" sz="1040" dirty="0"/>
          </a:p>
        </p:txBody>
      </p:sp>
      <p:pic>
        <p:nvPicPr>
          <p:cNvPr id="64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5473700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65" name="Rounded Rectangle"/>
          <p:cNvSpPr/>
          <p:nvPr/>
        </p:nvSpPr>
        <p:spPr>
          <a:xfrm>
            <a:off x="5352157" y="5398294"/>
            <a:ext cx="764977" cy="318691"/>
          </a:xfrm>
          <a:prstGeom prst="roundRect">
            <a:avLst>
              <a:gd name="adj" fmla="val 14944"/>
            </a:avLst>
          </a:prstGeom>
          <a:solidFill>
            <a:srgbClr val="161616"/>
          </a:solidFill>
          <a:ln w="6350" cap="flat" cmpd="sng" algn="ctr">
            <a:solidFill>
              <a:srgbClr val="FFFFFF">
                <a:alpha val="10000"/>
              </a:srgbClr>
            </a:solidFill>
            <a:miter lim="800000"/>
          </a:ln>
        </p:spPr>
      </p:sp>
      <p:sp>
        <p:nvSpPr>
          <p:cNvPr id="66" name="Text: Next"/>
          <p:cNvSpPr txBox="1"/>
          <p:nvPr/>
        </p:nvSpPr>
        <p:spPr>
          <a:xfrm>
            <a:off x="5477173" y="5444649"/>
            <a:ext cx="291505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spc="-4" dirty="0">
                <a:solidFill>
                  <a:srgbClr val="EDEDED"/>
                </a:solidFill>
                <a:latin typeface="Geist Variable"/>
                <a:ea typeface="Geist Variable"/>
                <a:cs typeface="Geist Variable"/>
              </a:rPr>
              <a:t>Next</a:t>
            </a:r>
            <a:endParaRPr lang="en-US" sz="1040" dirty="0"/>
          </a:p>
        </p:txBody>
      </p:sp>
      <p:pic>
        <p:nvPicPr>
          <p:cNvPr id="67" name="Graphic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9300" y="5473700"/>
            <a:ext cx="165100" cy="171450"/>
          </a:xfrm>
          <a:prstGeom prst="rect">
            <a:avLst/>
          </a:prstGeom>
          <a:ln>
            <a:noFill/>
          </a:ln>
        </p:spPr>
      </p:pic>
      <p:sp>
        <p:nvSpPr>
          <p:cNvPr id="68" name="Rounded Rectangle"/>
          <p:cNvSpPr/>
          <p:nvPr/>
        </p:nvSpPr>
        <p:spPr>
          <a:xfrm>
            <a:off x="8523585" y="5398294"/>
            <a:ext cx="824409" cy="318691"/>
          </a:xfrm>
          <a:prstGeom prst="roundRect">
            <a:avLst>
              <a:gd name="adj" fmla="val 14944"/>
            </a:avLst>
          </a:prstGeom>
          <a:solidFill>
            <a:srgbClr val="161616"/>
          </a:solidFill>
          <a:ln w="6350" cap="flat" cmpd="sng" algn="ctr">
            <a:solidFill>
              <a:srgbClr val="FFFFFF">
                <a:alpha val="10000"/>
              </a:srgbClr>
            </a:solidFill>
            <a:miter lim="800000"/>
          </a:ln>
        </p:spPr>
      </p:sp>
      <p:sp>
        <p:nvSpPr>
          <p:cNvPr id="69" name="Text: Black"/>
          <p:cNvSpPr txBox="1"/>
          <p:nvPr/>
        </p:nvSpPr>
        <p:spPr>
          <a:xfrm>
            <a:off x="8872041" y="5444649"/>
            <a:ext cx="350937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spc="-4" dirty="0">
                <a:solidFill>
                  <a:srgbClr val="EDEDED"/>
                </a:solidFill>
                <a:latin typeface="Geist Variable"/>
                <a:ea typeface="Geist Variable"/>
                <a:cs typeface="Geist Variable"/>
              </a:rPr>
              <a:t>Black</a:t>
            </a:r>
            <a:endParaRPr lang="en-US" sz="1040" dirty="0"/>
          </a:p>
        </p:txBody>
      </p:sp>
      <p:pic>
        <p:nvPicPr>
          <p:cNvPr id="70" name="Graphic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2350" y="5473700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71" name="Rounded Rectangle"/>
          <p:cNvSpPr/>
          <p:nvPr/>
        </p:nvSpPr>
        <p:spPr>
          <a:xfrm>
            <a:off x="9435604" y="5398294"/>
            <a:ext cx="830163" cy="318691"/>
          </a:xfrm>
          <a:prstGeom prst="roundRect">
            <a:avLst>
              <a:gd name="adj" fmla="val 14944"/>
            </a:avLst>
          </a:prstGeom>
          <a:solidFill>
            <a:srgbClr val="161616"/>
          </a:solidFill>
          <a:ln w="6350" cap="flat" cmpd="sng" algn="ctr">
            <a:solidFill>
              <a:srgbClr val="FFFFFF">
                <a:alpha val="10000"/>
              </a:srgbClr>
            </a:solidFill>
            <a:miter lim="800000"/>
          </a:ln>
        </p:spPr>
      </p:sp>
      <p:sp>
        <p:nvSpPr>
          <p:cNvPr id="72" name="Text: White"/>
          <p:cNvSpPr txBox="1"/>
          <p:nvPr/>
        </p:nvSpPr>
        <p:spPr>
          <a:xfrm>
            <a:off x="9784060" y="5444649"/>
            <a:ext cx="356691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spc="-4" dirty="0">
                <a:solidFill>
                  <a:srgbClr val="EDEDED"/>
                </a:solidFill>
                <a:latin typeface="Geist Variable"/>
                <a:ea typeface="Geist Variable"/>
                <a:cs typeface="Geist Variable"/>
              </a:rPr>
              <a:t>White</a:t>
            </a:r>
            <a:endParaRPr lang="en-US" sz="1040" dirty="0"/>
          </a:p>
        </p:txBody>
      </p:sp>
      <p:pic>
        <p:nvPicPr>
          <p:cNvPr id="73" name="Graphic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6750" y="5473700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74" name="Text: Reset"/>
          <p:cNvSpPr txBox="1"/>
          <p:nvPr/>
        </p:nvSpPr>
        <p:spPr>
          <a:xfrm>
            <a:off x="10701834" y="5444649"/>
            <a:ext cx="356195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spc="-4" dirty="0">
                <a:solidFill>
                  <a:srgbClr val="EDEDED">
                    <a:alpha val="75000"/>
                  </a:srgbClr>
                </a:solidFill>
                <a:latin typeface="Geist Variable"/>
                <a:ea typeface="Geist Variable"/>
                <a:cs typeface="Geist Variable"/>
              </a:rPr>
              <a:t>Reset</a:t>
            </a:r>
            <a:endParaRPr lang="en-US" sz="1040" dirty="0"/>
          </a:p>
        </p:txBody>
      </p:sp>
      <p:pic>
        <p:nvPicPr>
          <p:cNvPr id="75" name="Graphic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77500" y="5473700"/>
            <a:ext cx="165100" cy="171450"/>
          </a:xfrm>
          <a:prstGeom prst="rect">
            <a:avLst/>
          </a:prstGeom>
          <a:ln>
            <a:noFill/>
          </a:ln>
        </p:spPr>
      </p:pic>
      <p:sp>
        <p:nvSpPr>
          <p:cNvPr id="76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77" name="Text: 14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Ship"/>
          <p:cNvSpPr txBox="1"/>
          <p:nvPr/>
        </p:nvSpPr>
        <p:spPr>
          <a:xfrm>
            <a:off x="939800" y="615950"/>
            <a:ext cx="292100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Ship</a:t>
            </a:r>
            <a:endParaRPr lang="en-US" sz="1100" dirty="0"/>
          </a:p>
        </p:txBody>
      </p:sp>
      <p:sp>
        <p:nvSpPr>
          <p:cNvPr id="4" name="Text: Export it. Or deploy it."/>
          <p:cNvSpPr txBox="1"/>
          <p:nvPr/>
        </p:nvSpPr>
        <p:spPr>
          <a:xfrm>
            <a:off x="762000" y="921766"/>
            <a:ext cx="3809206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Export it. Or deploy it.</a:t>
            </a:r>
            <a:endParaRPr lang="en-US" sz="3200" dirty="0"/>
          </a:p>
        </p:txBody>
      </p:sp>
      <p:sp>
        <p:nvSpPr>
          <p:cNvPr id="5" name="Text: Download HTML, PDF, or an editable PPTX "/>
          <p:cNvSpPr txBox="1"/>
          <p:nvPr/>
        </p:nvSpPr>
        <p:spPr>
          <a:xfrm>
            <a:off x="762000" y="1405255"/>
            <a:ext cx="7811889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Download HTML, PDF, or an editable PPTX from the editor. Or build once and drop dist/ on any static host.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6197600" y="2006600"/>
            <a:ext cx="5232400" cy="38354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243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6197600" y="2330450"/>
            <a:ext cx="52324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63246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64452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65659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~/my-deck — zsh"/>
          <p:cNvSpPr txBox="1"/>
          <p:nvPr/>
        </p:nvSpPr>
        <p:spPr>
          <a:xfrm>
            <a:off x="8318202" y="2065338"/>
            <a:ext cx="991096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~/my-deck — zsh</a:t>
            </a:r>
            <a:endParaRPr lang="en-US" sz="850" dirty="0"/>
          </a:p>
        </p:txBody>
      </p:sp>
      <p:sp>
        <p:nvSpPr>
          <p:cNvPr id="12" name="Text: $"/>
          <p:cNvSpPr txBox="1"/>
          <p:nvPr/>
        </p:nvSpPr>
        <p:spPr>
          <a:xfrm>
            <a:off x="6451600" y="2503170"/>
            <a:ext cx="17383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$ </a:t>
            </a:r>
            <a:endParaRPr lang="en-US" sz="1150" dirty="0"/>
          </a:p>
        </p:txBody>
      </p:sp>
      <p:sp>
        <p:nvSpPr>
          <p:cNvPr id="13" name="Text: pnpm build"/>
          <p:cNvSpPr txBox="1"/>
          <p:nvPr/>
        </p:nvSpPr>
        <p:spPr>
          <a:xfrm>
            <a:off x="6625431" y="2503170"/>
            <a:ext cx="86915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pnpm build</a:t>
            </a:r>
            <a:endParaRPr lang="en-US" sz="1150" dirty="0"/>
          </a:p>
        </p:txBody>
      </p:sp>
      <p:sp>
        <p:nvSpPr>
          <p:cNvPr id="14" name="Text: vite v7   building for production…"/>
          <p:cNvSpPr txBox="1"/>
          <p:nvPr/>
        </p:nvSpPr>
        <p:spPr>
          <a:xfrm>
            <a:off x="6451600" y="2736830"/>
            <a:ext cx="2781300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vite v7</a:t>
            </a: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building for production…</a:t>
            </a:r>
            <a:endParaRPr lang="en-US" sz="1150" dirty="0"/>
          </a:p>
        </p:txBody>
      </p:sp>
      <p:sp>
        <p:nvSpPr>
          <p:cNvPr id="15" name="Text: ✓  built in 1.2s   → dist/"/>
          <p:cNvSpPr txBox="1"/>
          <p:nvPr/>
        </p:nvSpPr>
        <p:spPr>
          <a:xfrm>
            <a:off x="6451600" y="2970490"/>
            <a:ext cx="1999059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1F9E6E"/>
                </a:solidFill>
                <a:latin typeface="Courier New"/>
                <a:ea typeface="Courier New"/>
                <a:cs typeface="Courier New"/>
              </a:rPr>
              <a:t>✓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built in 1.2s</a:t>
            </a: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→ dist/</a:t>
            </a:r>
            <a:endParaRPr lang="en-US" sz="1150" dirty="0"/>
          </a:p>
        </p:txBody>
      </p:sp>
      <p:sp>
        <p:nvSpPr>
          <p:cNvPr id="16" name="Text: $"/>
          <p:cNvSpPr txBox="1"/>
          <p:nvPr/>
        </p:nvSpPr>
        <p:spPr>
          <a:xfrm>
            <a:off x="6451600" y="3204150"/>
            <a:ext cx="17383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$ </a:t>
            </a:r>
            <a:endParaRPr lang="en-US" sz="1150" dirty="0"/>
          </a:p>
        </p:txBody>
      </p:sp>
      <p:sp>
        <p:nvSpPr>
          <p:cNvPr id="17" name="Rectangle"/>
          <p:cNvSpPr/>
          <p:nvPr/>
        </p:nvSpPr>
        <p:spPr>
          <a:xfrm>
            <a:off x="6640016" y="3252589"/>
            <a:ext cx="11609" cy="153293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18" name="Rounded Rectangle"/>
          <p:cNvSpPr/>
          <p:nvPr/>
        </p:nvSpPr>
        <p:spPr>
          <a:xfrm>
            <a:off x="762000" y="2006600"/>
            <a:ext cx="5232400" cy="3835400"/>
          </a:xfrm>
          <a:prstGeom prst="roundRect">
            <a:avLst>
              <a:gd name="adj" fmla="val 1987"/>
            </a:avLst>
          </a:prstGeom>
          <a:noFill/>
          <a:ln>
            <a:noFill/>
          </a:ln>
          <a:effectLst>
            <a:outerShdw blurRad="0" dist="0" dir="0" sx="100243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19" name="Rectangle"/>
          <p:cNvSpPr/>
          <p:nvPr/>
        </p:nvSpPr>
        <p:spPr>
          <a:xfrm>
            <a:off x="762000" y="2006600"/>
            <a:ext cx="5232400" cy="38354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20" name="Rounded Rectangle"/>
          <p:cNvSpPr/>
          <p:nvPr/>
        </p:nvSpPr>
        <p:spPr>
          <a:xfrm>
            <a:off x="965200" y="2810768"/>
            <a:ext cx="4826000" cy="2714625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>
            <a:noFill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sp>
        <p:nvSpPr>
          <p:cNvPr id="21" name="Rectangle"/>
          <p:cNvSpPr/>
          <p:nvPr/>
        </p:nvSpPr>
        <p:spPr>
          <a:xfrm>
            <a:off x="965200" y="2810768"/>
            <a:ext cx="4826000" cy="2714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: COVER"/>
          <p:cNvSpPr txBox="1"/>
          <p:nvPr/>
        </p:nvSpPr>
        <p:spPr>
          <a:xfrm>
            <a:off x="1367366" y="3200367"/>
            <a:ext cx="255556" cy="9802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" spc="93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COVER</a:t>
            </a:r>
            <a:endParaRPr lang="en-US" sz="515" dirty="0"/>
          </a:p>
        </p:txBody>
      </p:sp>
      <p:sp>
        <p:nvSpPr>
          <p:cNvPr id="23" name="Text: What we're shipping, why it matters."/>
          <p:cNvSpPr txBox="1"/>
          <p:nvPr/>
        </p:nvSpPr>
        <p:spPr>
          <a:xfrm>
            <a:off x="1367366" y="4385752"/>
            <a:ext cx="1803661" cy="14930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1" spc="-2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What we're shipping, why it matters.</a:t>
            </a:r>
            <a:endParaRPr lang="en-US" sz="871" dirty="0"/>
          </a:p>
        </p:txBody>
      </p:sp>
      <p:sp>
        <p:nvSpPr>
          <p:cNvPr id="24" name="Text: Q2 Launch"/>
          <p:cNvSpPr txBox="1"/>
          <p:nvPr/>
        </p:nvSpPr>
        <p:spPr>
          <a:xfrm>
            <a:off x="1367366" y="3931807"/>
            <a:ext cx="2133092" cy="44238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4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3" b="1" spc="-12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Q2 Launch</a:t>
            </a:r>
            <a:endParaRPr lang="en-US" sz="3483" dirty="0"/>
          </a:p>
        </p:txBody>
      </p:sp>
      <p:sp>
        <p:nvSpPr>
          <p:cNvPr id="25" name="Text: ACME · PRODUCT"/>
          <p:cNvSpPr txBox="1"/>
          <p:nvPr/>
        </p:nvSpPr>
        <p:spPr>
          <a:xfrm>
            <a:off x="1367366" y="5072954"/>
            <a:ext cx="576033" cy="9048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5" spc="3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ACME · PRODUCT</a:t>
            </a:r>
            <a:endParaRPr lang="en-US" sz="475" dirty="0"/>
          </a:p>
        </p:txBody>
      </p:sp>
      <p:sp>
        <p:nvSpPr>
          <p:cNvPr id="26" name="Text: 01 / 06"/>
          <p:cNvSpPr txBox="1"/>
          <p:nvPr/>
        </p:nvSpPr>
        <p:spPr>
          <a:xfrm>
            <a:off x="5100954" y="5072954"/>
            <a:ext cx="288075" cy="9048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7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5" spc="38" dirty="0">
                <a:solidFill>
                  <a:srgbClr val="A3A3A3"/>
                </a:solidFill>
                <a:latin typeface="Courier New"/>
                <a:ea typeface="Courier New"/>
                <a:cs typeface="Courier New"/>
              </a:rPr>
              <a:t>01 / 06</a:t>
            </a:r>
            <a:endParaRPr lang="en-US" sz="475" dirty="0"/>
          </a:p>
        </p:txBody>
      </p:sp>
      <p:sp>
        <p:nvSpPr>
          <p:cNvPr id="27" name="Rounded Rectangle"/>
          <p:cNvSpPr/>
          <p:nvPr/>
        </p:nvSpPr>
        <p:spPr>
          <a:xfrm>
            <a:off x="2583855" y="4964113"/>
            <a:ext cx="3244850" cy="712192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12700" dist="6350" dir="5400000" sx="100000" sy="100000" algn="ctr" rotWithShape="0">
              <a:srgbClr val="000000">
                <a:alpha val="4000"/>
              </a:srgbClr>
            </a:outerShdw>
          </a:effectLst>
        </p:spPr>
      </p:sp>
      <p:pic>
        <p:nvPicPr>
          <p:cNvPr id="28" name="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025" y="5121275"/>
            <a:ext cx="120650" cy="120650"/>
          </a:xfrm>
          <a:prstGeom prst="rect">
            <a:avLst/>
          </a:prstGeom>
          <a:ln>
            <a:noFill/>
          </a:ln>
        </p:spPr>
      </p:pic>
      <p:sp>
        <p:nvSpPr>
          <p:cNvPr id="29" name="Text: Exporting PPTX"/>
          <p:cNvSpPr txBox="1"/>
          <p:nvPr/>
        </p:nvSpPr>
        <p:spPr>
          <a:xfrm>
            <a:off x="2993231" y="5076428"/>
            <a:ext cx="925711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1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Exporting PPTX</a:t>
            </a:r>
            <a:endParaRPr lang="en-US" sz="1000" dirty="0"/>
          </a:p>
        </p:txBody>
      </p:sp>
      <p:sp>
        <p:nvSpPr>
          <p:cNvPr id="30" name="Text: Rendering page 3 of 6"/>
          <p:cNvSpPr txBox="1"/>
          <p:nvPr/>
        </p:nvSpPr>
        <p:spPr>
          <a:xfrm>
            <a:off x="2993231" y="5259308"/>
            <a:ext cx="1436886" cy="1600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 spc="34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Rendering page 3 of 6</a:t>
            </a:r>
            <a:endParaRPr lang="en-US" sz="840" dirty="0"/>
          </a:p>
        </p:txBody>
      </p:sp>
      <p:sp>
        <p:nvSpPr>
          <p:cNvPr id="31" name="Rounded Rectangle"/>
          <p:cNvSpPr/>
          <p:nvPr/>
        </p:nvSpPr>
        <p:spPr>
          <a:xfrm>
            <a:off x="2993231" y="5520829"/>
            <a:ext cx="2690118" cy="304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32" name="Rectangle"/>
          <p:cNvSpPr/>
          <p:nvPr/>
        </p:nvSpPr>
        <p:spPr>
          <a:xfrm>
            <a:off x="2993231" y="5520829"/>
            <a:ext cx="1345009" cy="3046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3" name="Rounded Rectangle"/>
          <p:cNvSpPr/>
          <p:nvPr/>
        </p:nvSpPr>
        <p:spPr>
          <a:xfrm>
            <a:off x="2289175" y="2456855"/>
            <a:ext cx="2025650" cy="1387673"/>
          </a:xfrm>
          <a:prstGeom prst="roundRect">
            <a:avLst>
              <a:gd name="adj" fmla="val 4164"/>
            </a:avLst>
          </a:prstGeom>
          <a:solidFill>
            <a:srgbClr val="FFFFFF"/>
          </a:solidFill>
          <a:ln w="6350" cap="flat" cmpd="sng" algn="ctr">
            <a:solidFill>
              <a:srgbClr val="E4E4E4"/>
            </a:solidFill>
            <a:miter lim="800000"/>
          </a:ln>
          <a:effectLst>
            <a:outerShdw blurRad="0" dist="0" dir="0" sx="100627" sy="100915" algn="ctr" rotWithShape="0">
              <a:srgbClr val="000000">
                <a:alpha val="8000"/>
              </a:srgbClr>
            </a:outerShdw>
          </a:effectLst>
        </p:spPr>
      </p:sp>
      <p:sp>
        <p:nvSpPr>
          <p:cNvPr id="34" name="Text: Export as HTML"/>
          <p:cNvSpPr txBox="1"/>
          <p:nvPr/>
        </p:nvSpPr>
        <p:spPr>
          <a:xfrm>
            <a:off x="2637631" y="2555180"/>
            <a:ext cx="907554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Export as HTML</a:t>
            </a:r>
            <a:endParaRPr lang="en-US" sz="1000" dirty="0"/>
          </a:p>
        </p:txBody>
      </p:sp>
      <p:pic>
        <p:nvPicPr>
          <p:cNvPr id="35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3000" y="259080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36" name="Text: Export as PDF"/>
          <p:cNvSpPr txBox="1"/>
          <p:nvPr/>
        </p:nvSpPr>
        <p:spPr>
          <a:xfrm>
            <a:off x="2637631" y="2880221"/>
            <a:ext cx="815876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Export as PDF</a:t>
            </a:r>
            <a:endParaRPr lang="en-US" sz="1000" dirty="0"/>
          </a:p>
        </p:txBody>
      </p:sp>
      <p:pic>
        <p:nvPicPr>
          <p:cNvPr id="37" name="Graphic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3000" y="291465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38" name="Rounded Rectangle"/>
          <p:cNvSpPr/>
          <p:nvPr/>
        </p:nvSpPr>
        <p:spPr>
          <a:xfrm>
            <a:off x="2332930" y="3150691"/>
            <a:ext cx="1938139" cy="325041"/>
          </a:xfrm>
          <a:prstGeom prst="roundRect">
            <a:avLst>
              <a:gd name="adj" fmla="val 12503"/>
            </a:avLst>
          </a:prstGeom>
          <a:solidFill>
            <a:srgbClr val="EFEFEF"/>
          </a:solidFill>
          <a:ln>
            <a:noFill/>
          </a:ln>
        </p:spPr>
      </p:sp>
      <p:sp>
        <p:nvSpPr>
          <p:cNvPr id="39" name="Text: Export as PPTX"/>
          <p:cNvSpPr txBox="1"/>
          <p:nvPr/>
        </p:nvSpPr>
        <p:spPr>
          <a:xfrm>
            <a:off x="2637631" y="3205262"/>
            <a:ext cx="880070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Export as PPTX</a:t>
            </a:r>
            <a:endParaRPr lang="en-US" sz="1000" dirty="0"/>
          </a:p>
        </p:txBody>
      </p:sp>
      <p:pic>
        <p:nvPicPr>
          <p:cNvPr id="40" name="Graphic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3000" y="3238500"/>
            <a:ext cx="146050" cy="146050"/>
          </a:xfrm>
          <a:prstGeom prst="rect">
            <a:avLst/>
          </a:prstGeom>
          <a:ln>
            <a:noFill/>
          </a:ln>
        </p:spPr>
      </p:pic>
      <p:sp>
        <p:nvSpPr>
          <p:cNvPr id="41" name="Text: Export as image PPTX"/>
          <p:cNvSpPr txBox="1"/>
          <p:nvPr/>
        </p:nvSpPr>
        <p:spPr>
          <a:xfrm>
            <a:off x="2637631" y="3530302"/>
            <a:ext cx="1265238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Export as image PPTX</a:t>
            </a:r>
            <a:endParaRPr lang="en-US" sz="1000" dirty="0"/>
          </a:p>
        </p:txBody>
      </p:sp>
      <p:pic>
        <p:nvPicPr>
          <p:cNvPr id="42" name="Graphic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13000" y="3562350"/>
            <a:ext cx="146050" cy="152400"/>
          </a:xfrm>
          <a:prstGeom prst="rect">
            <a:avLst/>
          </a:prstGeom>
          <a:ln>
            <a:noFill/>
          </a:ln>
        </p:spPr>
      </p:pic>
      <p:pic>
        <p:nvPicPr>
          <p:cNvPr id="43" name="Graphi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3850" y="3321050"/>
            <a:ext cx="196850" cy="196850"/>
          </a:xfrm>
          <a:prstGeom prst="rect">
            <a:avLst/>
          </a:prstGeom>
          <a:ln>
            <a:noFill/>
          </a:ln>
        </p:spPr>
      </p:pic>
      <p:pic>
        <p:nvPicPr>
          <p:cNvPr id="44" name="Graphic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9800" y="2165350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45" name="Rectangle"/>
          <p:cNvSpPr/>
          <p:nvPr/>
        </p:nvSpPr>
        <p:spPr>
          <a:xfrm>
            <a:off x="1269802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46" name="Rounded Rectangle"/>
          <p:cNvSpPr/>
          <p:nvPr/>
        </p:nvSpPr>
        <p:spPr>
          <a:xfrm>
            <a:off x="1377652" y="2108200"/>
            <a:ext cx="1181199" cy="284460"/>
          </a:xfrm>
          <a:prstGeom prst="roundRect">
            <a:avLst>
              <a:gd name="adj" fmla="val 21430"/>
            </a:avLst>
          </a:prstGeom>
          <a:solidFill>
            <a:srgbClr val="0A0A0A">
              <a:alpha val="4300"/>
            </a:srgbClr>
          </a:solidFill>
          <a:ln>
            <a:noFill/>
          </a:ln>
          <a:effectLst>
            <a:innerShdw blurRad="0" dist="0" dir="0">
              <a:srgbClr val="0A0A0A">
                <a:alpha val="5000"/>
              </a:srgbClr>
            </a:innerShdw>
          </a:effectLst>
        </p:spPr>
      </p:sp>
      <p:sp>
        <p:nvSpPr>
          <p:cNvPr id="47" name="Rounded Rectangle"/>
          <p:cNvSpPr/>
          <p:nvPr/>
        </p:nvSpPr>
        <p:spPr>
          <a:xfrm>
            <a:off x="1397893" y="2128441"/>
            <a:ext cx="550466" cy="237430"/>
          </a:xfrm>
          <a:prstGeom prst="roundRect">
            <a:avLst>
              <a:gd name="adj" fmla="val 21396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2307" sy="105349" algn="ctr" rotWithShape="0">
              <a:srgbClr val="000000">
                <a:alpha val="6000"/>
              </a:srgbClr>
            </a:outerShdw>
          </a:effectLst>
        </p:spPr>
      </p:sp>
      <p:sp>
        <p:nvSpPr>
          <p:cNvPr id="48" name="Text: Slides"/>
          <p:cNvSpPr txBox="1"/>
          <p:nvPr/>
        </p:nvSpPr>
        <p:spPr>
          <a:xfrm>
            <a:off x="1499493" y="2137946"/>
            <a:ext cx="347266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Slides</a:t>
            </a:r>
            <a:endParaRPr lang="en-US" sz="960" dirty="0"/>
          </a:p>
        </p:txBody>
      </p:sp>
      <p:sp>
        <p:nvSpPr>
          <p:cNvPr id="49" name="Text: Assets"/>
          <p:cNvSpPr txBox="1"/>
          <p:nvPr/>
        </p:nvSpPr>
        <p:spPr>
          <a:xfrm>
            <a:off x="2049959" y="2137946"/>
            <a:ext cx="387052" cy="1828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spc="-4" dirty="0">
                <a:solidFill>
                  <a:srgbClr val="0A0A0A">
                    <a:alpha val="55000"/>
                  </a:srgbClr>
                </a:solidFill>
                <a:latin typeface="Geist Variable"/>
                <a:ea typeface="Geist Variable"/>
                <a:cs typeface="Geist Variable"/>
              </a:rPr>
              <a:t>Assets</a:t>
            </a:r>
            <a:endParaRPr lang="en-US" sz="960" dirty="0"/>
          </a:p>
        </p:txBody>
      </p:sp>
      <p:sp>
        <p:nvSpPr>
          <p:cNvPr id="50" name="Rectangle"/>
          <p:cNvSpPr/>
          <p:nvPr/>
        </p:nvSpPr>
        <p:spPr>
          <a:xfrm>
            <a:off x="3971131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51" name="Rounded Rectangle"/>
          <p:cNvSpPr/>
          <p:nvPr/>
        </p:nvSpPr>
        <p:spPr>
          <a:xfrm>
            <a:off x="4038302" y="2108101"/>
            <a:ext cx="284460" cy="284460"/>
          </a:xfrm>
          <a:prstGeom prst="roundRect">
            <a:avLst>
              <a:gd name="adj" fmla="val 17858"/>
            </a:avLst>
          </a:prstGeom>
          <a:solidFill>
            <a:srgbClr val="EFEFEF"/>
          </a:solidFill>
          <a:ln>
            <a:noFill/>
          </a:ln>
        </p:spPr>
      </p:sp>
      <p:pic>
        <p:nvPicPr>
          <p:cNvPr id="52" name="Graphic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95750" y="2165350"/>
            <a:ext cx="171450" cy="171450"/>
          </a:xfrm>
          <a:prstGeom prst="rect">
            <a:avLst/>
          </a:prstGeom>
          <a:ln>
            <a:noFill/>
          </a:ln>
        </p:spPr>
      </p:pic>
      <p:pic>
        <p:nvPicPr>
          <p:cNvPr id="53" name="Graphic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64050" y="2178050"/>
            <a:ext cx="146050" cy="146050"/>
          </a:xfrm>
          <a:prstGeom prst="rect">
            <a:avLst/>
          </a:prstGeom>
          <a:ln>
            <a:noFill/>
          </a:ln>
        </p:spPr>
      </p:pic>
      <p:pic>
        <p:nvPicPr>
          <p:cNvPr id="54" name="Graphic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4505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55" name="Rectangle"/>
          <p:cNvSpPr/>
          <p:nvPr/>
        </p:nvSpPr>
        <p:spPr>
          <a:xfrm>
            <a:off x="5155505" y="2148780"/>
            <a:ext cx="6350" cy="20320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56" name="Rounded Rectangle"/>
          <p:cNvSpPr/>
          <p:nvPr/>
        </p:nvSpPr>
        <p:spPr>
          <a:xfrm>
            <a:off x="5222677" y="2108101"/>
            <a:ext cx="385862" cy="284460"/>
          </a:xfrm>
          <a:custGeom>
            <a:avLst/>
            <a:gdLst/>
            <a:ahLst/>
            <a:cxnLst/>
            <a:rect l="0" t="0" r="r" b="b"/>
            <a:pathLst>
              <a:path w="385862" h="284460">
                <a:moveTo>
                  <a:pt x="50800" y="0"/>
                </a:moveTo>
                <a:lnTo>
                  <a:pt x="385862" y="0"/>
                </a:lnTo>
                <a:lnTo>
                  <a:pt x="385862" y="284460"/>
                </a:lnTo>
                <a:lnTo>
                  <a:pt x="50800" y="28446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57" name="Graphic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4035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58" name="Rounded Rectangle"/>
          <p:cNvSpPr/>
          <p:nvPr/>
        </p:nvSpPr>
        <p:spPr>
          <a:xfrm>
            <a:off x="5608538" y="2108101"/>
            <a:ext cx="264021" cy="284460"/>
          </a:xfrm>
          <a:custGeom>
            <a:avLst/>
            <a:gdLst/>
            <a:ahLst/>
            <a:cxnLst/>
            <a:rect l="0" t="0" r="r" b="b"/>
            <a:pathLst>
              <a:path w="264021" h="284460">
                <a:moveTo>
                  <a:pt x="0" y="0"/>
                </a:moveTo>
                <a:lnTo>
                  <a:pt x="213221" y="0"/>
                </a:lnTo>
                <a:arcTo wR="50800" hR="50800" stAng="16200000" swAng="5400000"/>
                <a:lnTo>
                  <a:pt x="264021" y="233660"/>
                </a:lnTo>
                <a:arcTo wR="50800" hR="50800" stAng="0" swAng="5400000"/>
                <a:lnTo>
                  <a:pt x="0" y="284460"/>
                </a:lnTo>
                <a:lnTo>
                  <a:pt x="0" y="0"/>
                </a:lnTo>
                <a:close/>
              </a:path>
            </a:pathLst>
          </a:custGeom>
          <a:solidFill>
            <a:srgbClr val="DE3B3D"/>
          </a:solidFill>
          <a:ln>
            <a:noFill/>
          </a:ln>
          <a:effectLst>
            <a:outerShdw blurRad="0" dist="6350" dir="5400000" sx="100000" sy="100000" algn="ctr" rotWithShape="0">
              <a:srgbClr val="000000">
                <a:alpha val="16000"/>
              </a:srgbClr>
            </a:outerShdw>
          </a:effectLst>
        </p:spPr>
      </p:sp>
      <p:pic>
        <p:nvPicPr>
          <p:cNvPr id="59" name="Graphic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6420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60" name="Rounded Rectangle"/>
          <p:cNvSpPr/>
          <p:nvPr/>
        </p:nvSpPr>
        <p:spPr>
          <a:xfrm>
            <a:off x="3210223" y="2091035"/>
            <a:ext cx="696913" cy="318691"/>
          </a:xfrm>
          <a:prstGeom prst="roundRect">
            <a:avLst>
              <a:gd name="adj" fmla="val 24508"/>
            </a:avLst>
          </a:prstGeom>
          <a:solidFill>
            <a:srgbClr val="0A0A0A">
              <a:alpha val="4000"/>
            </a:srgbClr>
          </a:solidFill>
          <a:ln w="6350" cap="flat" cmpd="sng" algn="ctr">
            <a:solidFill>
              <a:srgbClr val="0A0A0A">
                <a:alpha val="7000"/>
              </a:srgbClr>
            </a:solidFill>
            <a:miter lim="800000"/>
          </a:ln>
        </p:spPr>
      </p:sp>
      <p:sp>
        <p:nvSpPr>
          <p:cNvPr id="61" name="Rounded Rectangle"/>
          <p:cNvSpPr/>
          <p:nvPr/>
        </p:nvSpPr>
        <p:spPr>
          <a:xfrm>
            <a:off x="3233638" y="2114451"/>
            <a:ext cx="325041" cy="271760"/>
          </a:xfrm>
          <a:prstGeom prst="roundRect">
            <a:avLst>
              <a:gd name="adj" fmla="val 22432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3907" sy="104673" algn="ctr" rotWithShape="0">
              <a:srgbClr val="000000">
                <a:alpha val="6000"/>
              </a:srgbClr>
            </a:outerShdw>
          </a:effectLst>
        </p:spPr>
      </p:sp>
      <p:pic>
        <p:nvPicPr>
          <p:cNvPr id="62" name="Graphic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21050" y="2178050"/>
            <a:ext cx="152400" cy="146050"/>
          </a:xfrm>
          <a:prstGeom prst="rect">
            <a:avLst/>
          </a:prstGeom>
          <a:ln>
            <a:noFill/>
          </a:ln>
        </p:spPr>
      </p:pic>
      <p:pic>
        <p:nvPicPr>
          <p:cNvPr id="63" name="Graphic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644900" y="2178050"/>
            <a:ext cx="152400" cy="146050"/>
          </a:xfrm>
          <a:prstGeom prst="rect">
            <a:avLst/>
          </a:prstGeom>
          <a:ln>
            <a:noFill/>
          </a:ln>
        </p:spPr>
      </p:pic>
      <p:sp>
        <p:nvSpPr>
          <p:cNvPr id="64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65" name="Text: 15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Why open-slide"/>
          <p:cNvSpPr txBox="1"/>
          <p:nvPr/>
        </p:nvSpPr>
        <p:spPr>
          <a:xfrm>
            <a:off x="939800" y="615950"/>
            <a:ext cx="1002209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Why open-slide</a:t>
            </a:r>
            <a:endParaRPr lang="en-US" sz="1100" dirty="0"/>
          </a:p>
        </p:txBody>
      </p:sp>
      <p:sp>
        <p:nvSpPr>
          <p:cNvPr id="4" name="Text: Bring your own agent."/>
          <p:cNvSpPr txBox="1"/>
          <p:nvPr/>
        </p:nvSpPr>
        <p:spPr>
          <a:xfrm>
            <a:off x="762000" y="921766"/>
            <a:ext cx="3883918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Bring your own agent.</a:t>
            </a:r>
            <a:endParaRPr lang="en-US" sz="3200" dirty="0"/>
          </a:p>
        </p:txBody>
      </p:sp>
      <p:sp>
        <p:nvSpPr>
          <p:cNvPr id="5" name="Text: Every workspace ships with agent rules a"/>
          <p:cNvSpPr txBox="1"/>
          <p:nvPr/>
        </p:nvSpPr>
        <p:spPr>
          <a:xfrm>
            <a:off x="762000" y="1405255"/>
            <a:ext cx="6871196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Every workspace ships with agent rules and skills. Slides are plain .tsx, so no SDK, no lock-in.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6959600" cy="38354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182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762000" y="2330450"/>
            <a:ext cx="69596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889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009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1130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~/my-deck"/>
          <p:cNvSpPr txBox="1"/>
          <p:nvPr/>
        </p:nvSpPr>
        <p:spPr>
          <a:xfrm>
            <a:off x="3944441" y="2065338"/>
            <a:ext cx="594717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~/my-deck</a:t>
            </a:r>
            <a:endParaRPr lang="en-US" sz="850" dirty="0"/>
          </a:p>
        </p:txBody>
      </p:sp>
      <p:sp>
        <p:nvSpPr>
          <p:cNvPr id="12" name="Text: AGENTS.md   house rules"/>
          <p:cNvSpPr txBox="1"/>
          <p:nvPr/>
        </p:nvSpPr>
        <p:spPr>
          <a:xfrm>
            <a:off x="1016000" y="2503170"/>
            <a:ext cx="1912144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AGENTS.md</a:t>
            </a: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  house rules</a:t>
            </a:r>
            <a:endParaRPr lang="en-US" sz="1150" dirty="0"/>
          </a:p>
        </p:txBody>
      </p:sp>
      <p:sp>
        <p:nvSpPr>
          <p:cNvPr id="13" name="Text: CLAUDE.md"/>
          <p:cNvSpPr txBox="1"/>
          <p:nvPr/>
        </p:nvSpPr>
        <p:spPr>
          <a:xfrm>
            <a:off x="1016000" y="2736830"/>
            <a:ext cx="78224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CLAUDE.md</a:t>
            </a:r>
            <a:endParaRPr lang="en-US" sz="1150" dirty="0"/>
          </a:p>
        </p:txBody>
      </p:sp>
      <p:sp>
        <p:nvSpPr>
          <p:cNvPr id="14" name="Text: .agents/skills/"/>
          <p:cNvSpPr txBox="1"/>
          <p:nvPr/>
        </p:nvSpPr>
        <p:spPr>
          <a:xfrm>
            <a:off x="1016000" y="2970490"/>
            <a:ext cx="1303734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.agents/skills/</a:t>
            </a:r>
            <a:endParaRPr lang="en-US" sz="1150" dirty="0"/>
          </a:p>
        </p:txBody>
      </p:sp>
      <p:sp>
        <p:nvSpPr>
          <p:cNvPr id="15" name="Text: ├─  create-slide"/>
          <p:cNvSpPr txBox="1"/>
          <p:nvPr/>
        </p:nvSpPr>
        <p:spPr>
          <a:xfrm>
            <a:off x="1016000" y="3204150"/>
            <a:ext cx="1303734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├─ </a:t>
            </a: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create-slide</a:t>
            </a:r>
            <a:endParaRPr lang="en-US" sz="1150" dirty="0"/>
          </a:p>
        </p:txBody>
      </p:sp>
      <p:sp>
        <p:nvSpPr>
          <p:cNvPr id="16" name="Text: ├─  slide-authoring"/>
          <p:cNvSpPr txBox="1"/>
          <p:nvPr/>
        </p:nvSpPr>
        <p:spPr>
          <a:xfrm>
            <a:off x="1016000" y="3437811"/>
            <a:ext cx="156448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├─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slide-authoring</a:t>
            </a:r>
            <a:endParaRPr lang="en-US" sz="1150" dirty="0"/>
          </a:p>
        </p:txBody>
      </p:sp>
      <p:sp>
        <p:nvSpPr>
          <p:cNvPr id="17" name="Text: ├─  apply-comments"/>
          <p:cNvSpPr txBox="1"/>
          <p:nvPr/>
        </p:nvSpPr>
        <p:spPr>
          <a:xfrm>
            <a:off x="1016000" y="3671471"/>
            <a:ext cx="147756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├─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apply-comments</a:t>
            </a:r>
            <a:endParaRPr lang="en-US" sz="1150" dirty="0"/>
          </a:p>
        </p:txBody>
      </p:sp>
      <p:sp>
        <p:nvSpPr>
          <p:cNvPr id="18" name="Text: └─  create-theme"/>
          <p:cNvSpPr txBox="1"/>
          <p:nvPr/>
        </p:nvSpPr>
        <p:spPr>
          <a:xfrm>
            <a:off x="1016000" y="3905131"/>
            <a:ext cx="1303734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└─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create-theme</a:t>
            </a:r>
            <a:endParaRPr lang="en-US" sz="1150" dirty="0"/>
          </a:p>
        </p:txBody>
      </p:sp>
      <p:sp>
        <p:nvSpPr>
          <p:cNvPr id="19" name="Text: .claude/skills/   → .agents/skills"/>
          <p:cNvSpPr txBox="1"/>
          <p:nvPr/>
        </p:nvSpPr>
        <p:spPr>
          <a:xfrm>
            <a:off x="1016000" y="4138791"/>
            <a:ext cx="286821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.claude/skills/</a:t>
            </a:r>
            <a:r>
              <a:rPr lang="en-US" sz="11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  → .agents/skills</a:t>
            </a:r>
            <a:endParaRPr lang="en-US" sz="1150" dirty="0"/>
          </a:p>
        </p:txBody>
      </p:sp>
      <p:sp>
        <p:nvSpPr>
          <p:cNvPr id="20" name="Text: slides/"/>
          <p:cNvSpPr txBox="1"/>
          <p:nvPr/>
        </p:nvSpPr>
        <p:spPr>
          <a:xfrm>
            <a:off x="1016000" y="4372451"/>
            <a:ext cx="608409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slides/</a:t>
            </a:r>
            <a:endParaRPr lang="en-US" sz="1150" dirty="0"/>
          </a:p>
        </p:txBody>
      </p:sp>
      <p:sp>
        <p:nvSpPr>
          <p:cNvPr id="21" name="Text: themes/"/>
          <p:cNvSpPr txBox="1"/>
          <p:nvPr/>
        </p:nvSpPr>
        <p:spPr>
          <a:xfrm>
            <a:off x="1016000" y="4606111"/>
            <a:ext cx="608409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themes/</a:t>
            </a:r>
            <a:endParaRPr lang="en-US" sz="1150" dirty="0"/>
          </a:p>
        </p:txBody>
      </p:sp>
      <p:sp>
        <p:nvSpPr>
          <p:cNvPr id="22" name="Border"/>
          <p:cNvSpPr/>
          <p:nvPr/>
        </p:nvSpPr>
        <p:spPr>
          <a:xfrm>
            <a:off x="8128000" y="2006600"/>
            <a:ext cx="33020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3" name="Text: AGENTS.md"/>
          <p:cNvSpPr txBox="1"/>
          <p:nvPr/>
        </p:nvSpPr>
        <p:spPr>
          <a:xfrm>
            <a:off x="8128000" y="2334617"/>
            <a:ext cx="108773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AGENTS.md</a:t>
            </a:r>
            <a:endParaRPr lang="en-US" sz="1600" dirty="0"/>
          </a:p>
        </p:txBody>
      </p:sp>
      <p:sp>
        <p:nvSpPr>
          <p:cNvPr id="24" name="Text: Rules any agent picks up."/>
          <p:cNvSpPr txBox="1"/>
          <p:nvPr/>
        </p:nvSpPr>
        <p:spPr>
          <a:xfrm>
            <a:off x="8128000" y="2709267"/>
            <a:ext cx="1595041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Rules any agent picks up.</a:t>
            </a:r>
            <a:endParaRPr lang="en-US" sz="1100" dirty="0"/>
          </a:p>
        </p:txBody>
      </p:sp>
      <p:sp>
        <p:nvSpPr>
          <p:cNvPr id="25" name="Border"/>
          <p:cNvSpPr/>
          <p:nvPr/>
        </p:nvSpPr>
        <p:spPr>
          <a:xfrm>
            <a:off x="8128000" y="3285034"/>
            <a:ext cx="33020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6" name="Text: Built-in skills"/>
          <p:cNvSpPr txBox="1"/>
          <p:nvPr/>
        </p:nvSpPr>
        <p:spPr>
          <a:xfrm>
            <a:off x="8128000" y="3613150"/>
            <a:ext cx="11673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Built-in skills</a:t>
            </a:r>
            <a:endParaRPr lang="en-US" sz="1600" dirty="0"/>
          </a:p>
        </p:txBody>
      </p:sp>
      <p:sp>
        <p:nvSpPr>
          <p:cNvPr id="27" name="Text: Draft, edit, theme, apply comments."/>
          <p:cNvSpPr txBox="1"/>
          <p:nvPr/>
        </p:nvSpPr>
        <p:spPr>
          <a:xfrm>
            <a:off x="8128000" y="3987800"/>
            <a:ext cx="2217341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Draft, edit, theme, apply comments.</a:t>
            </a:r>
            <a:endParaRPr lang="en-US" sz="1100" dirty="0"/>
          </a:p>
        </p:txBody>
      </p:sp>
      <p:sp>
        <p:nvSpPr>
          <p:cNvPr id="28" name="Border"/>
          <p:cNvSpPr/>
          <p:nvPr/>
        </p:nvSpPr>
        <p:spPr>
          <a:xfrm>
            <a:off x="8128000" y="4563566"/>
            <a:ext cx="33020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9" name="Text: Plain React"/>
          <p:cNvSpPr txBox="1"/>
          <p:nvPr/>
        </p:nvSpPr>
        <p:spPr>
          <a:xfrm>
            <a:off x="8128000" y="4891584"/>
            <a:ext cx="10397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Plain React</a:t>
            </a:r>
            <a:endParaRPr lang="en-US" sz="1600" dirty="0"/>
          </a:p>
        </p:txBody>
      </p:sp>
      <p:sp>
        <p:nvSpPr>
          <p:cNvPr id="30" name="Text: If it edits code, it edits slides."/>
          <p:cNvSpPr txBox="1"/>
          <p:nvPr/>
        </p:nvSpPr>
        <p:spPr>
          <a:xfrm>
            <a:off x="8128000" y="5266234"/>
            <a:ext cx="1791791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If it edits code, it edits slides.</a:t>
            </a:r>
            <a:endParaRPr lang="en-US" sz="1100" dirty="0"/>
          </a:p>
        </p:txBody>
      </p:sp>
      <p:sp>
        <p:nvSpPr>
          <p:cNvPr id="31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32" name="Text: 16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Why open-slide"/>
          <p:cNvSpPr txBox="1"/>
          <p:nvPr/>
        </p:nvSpPr>
        <p:spPr>
          <a:xfrm>
            <a:off x="939800" y="615950"/>
            <a:ext cx="1002209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Why open-slide</a:t>
            </a:r>
            <a:endParaRPr lang="en-US" sz="1100" dirty="0"/>
          </a:p>
        </p:txBody>
      </p:sp>
      <p:sp>
        <p:nvSpPr>
          <p:cNvPr id="4" name="Text: Yours. Forever."/>
          <p:cNvSpPr txBox="1"/>
          <p:nvPr/>
        </p:nvSpPr>
        <p:spPr>
          <a:xfrm>
            <a:off x="762000" y="921766"/>
            <a:ext cx="2552998" cy="43078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spc="-96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Yours. Forever.</a:t>
            </a:r>
            <a:endParaRPr lang="en-US" sz="3200" dirty="0"/>
          </a:p>
        </p:txBody>
      </p:sp>
      <p:sp>
        <p:nvSpPr>
          <p:cNvPr id="5" name="Text: Every slide is a file in your repo. Diff"/>
          <p:cNvSpPr txBox="1"/>
          <p:nvPr/>
        </p:nvSpPr>
        <p:spPr>
          <a:xfrm>
            <a:off x="762000" y="1405255"/>
            <a:ext cx="7599958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Every slide is a file in your repo. Diff it, review it, branch it. No proprietary database, no export-and-pray.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2000" y="2006600"/>
            <a:ext cx="6959600" cy="38354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182" sy="100331" algn="ctr" rotWithShape="0">
              <a:srgbClr val="000000">
                <a:alpha val="7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762000" y="2330450"/>
            <a:ext cx="6959600" cy="6350"/>
          </a:xfrm>
          <a:prstGeom prst="rect">
            <a:avLst/>
          </a:prstGeom>
          <a:solidFill>
            <a:srgbClr val="ECECEC"/>
          </a:solidFill>
          <a:ln>
            <a:noFill/>
          </a:ln>
        </p:spPr>
      </p:sp>
      <p:sp>
        <p:nvSpPr>
          <p:cNvPr id="8" name="Ellipse"/>
          <p:cNvSpPr/>
          <p:nvPr/>
        </p:nvSpPr>
        <p:spPr>
          <a:xfrm>
            <a:off x="8890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00965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Ellipse"/>
          <p:cNvSpPr/>
          <p:nvPr/>
        </p:nvSpPr>
        <p:spPr>
          <a:xfrm>
            <a:off x="1130300" y="2133600"/>
            <a:ext cx="69850" cy="69850"/>
          </a:xfrm>
          <a:prstGeom prst="ellipse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1" name="Text: ~/my-deck — git log"/>
          <p:cNvSpPr txBox="1"/>
          <p:nvPr/>
        </p:nvSpPr>
        <p:spPr>
          <a:xfrm>
            <a:off x="3614043" y="2065338"/>
            <a:ext cx="1255415" cy="1619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spc="9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~/my-deck — git log</a:t>
            </a:r>
            <a:endParaRPr lang="en-US" sz="850" dirty="0"/>
          </a:p>
        </p:txBody>
      </p:sp>
      <p:sp>
        <p:nvSpPr>
          <p:cNvPr id="12" name="Text: $"/>
          <p:cNvSpPr txBox="1"/>
          <p:nvPr/>
        </p:nvSpPr>
        <p:spPr>
          <a:xfrm>
            <a:off x="1016000" y="2503170"/>
            <a:ext cx="17383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$ </a:t>
            </a:r>
            <a:endParaRPr lang="en-US" sz="1150" dirty="0"/>
          </a:p>
        </p:txBody>
      </p:sp>
      <p:sp>
        <p:nvSpPr>
          <p:cNvPr id="13" name="Text: git log --oneline slides/q2-launch/"/>
          <p:cNvSpPr txBox="1"/>
          <p:nvPr/>
        </p:nvSpPr>
        <p:spPr>
          <a:xfrm>
            <a:off x="1189831" y="2503170"/>
            <a:ext cx="3042047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git log --oneline slides/q2-launch/</a:t>
            </a:r>
            <a:endParaRPr lang="en-US" sz="1150" dirty="0"/>
          </a:p>
        </p:txBody>
      </p:sp>
      <p:sp>
        <p:nvSpPr>
          <p:cNvPr id="14" name="Text"/>
          <p:cNvSpPr txBox="1"/>
          <p:nvPr/>
        </p:nvSpPr>
        <p:spPr>
          <a:xfrm>
            <a:off x="1016000" y="2736830"/>
            <a:ext cx="8691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50" dirty="0"/>
          </a:p>
        </p:txBody>
      </p:sp>
      <p:sp>
        <p:nvSpPr>
          <p:cNvPr id="15" name="Text: *  a1b2c3d   (HEAD -&gt; main)  refine cove"/>
          <p:cNvSpPr txBox="1"/>
          <p:nvPr/>
        </p:nvSpPr>
        <p:spPr>
          <a:xfrm>
            <a:off x="1016000" y="2970490"/>
            <a:ext cx="4171950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* </a:t>
            </a:r>
            <a:r>
              <a:rPr lang="en-US" sz="11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a1b2c3d</a:t>
            </a: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50" spc="-8" dirty="0">
                <a:solidFill>
                  <a:srgbClr val="1F9E6E"/>
                </a:solidFill>
                <a:latin typeface="Courier New"/>
                <a:ea typeface="Courier New"/>
                <a:cs typeface="Courier New"/>
              </a:rPr>
              <a:t>(HEAD -&gt; main)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refine cover typography</a:t>
            </a:r>
            <a:endParaRPr lang="en-US" sz="1150" dirty="0"/>
          </a:p>
        </p:txBody>
      </p:sp>
      <p:sp>
        <p:nvSpPr>
          <p:cNvPr id="16" name="Text: *  9f8e7d6   revise Q2 metrics after fin"/>
          <p:cNvSpPr txBox="1"/>
          <p:nvPr/>
        </p:nvSpPr>
        <p:spPr>
          <a:xfrm>
            <a:off x="1016000" y="3204150"/>
            <a:ext cx="4171950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* </a:t>
            </a:r>
            <a:r>
              <a:rPr lang="en-US" sz="11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9f8e7d6</a:t>
            </a: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revise Q2 metrics after finance review</a:t>
            </a:r>
            <a:endParaRPr lang="en-US" sz="1150" dirty="0"/>
          </a:p>
        </p:txBody>
      </p:sp>
      <p:sp>
        <p:nvSpPr>
          <p:cNvPr id="17" name="Text: *  6a5b4c3   apply comments from design "/>
          <p:cNvSpPr txBox="1"/>
          <p:nvPr/>
        </p:nvSpPr>
        <p:spPr>
          <a:xfrm>
            <a:off x="1016000" y="3437811"/>
            <a:ext cx="356354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* </a:t>
            </a:r>
            <a:r>
              <a:rPr lang="en-US" sz="11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6a5b4c3</a:t>
            </a: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apply comments from design crit</a:t>
            </a:r>
            <a:endParaRPr lang="en-US" sz="1150" dirty="0"/>
          </a:p>
        </p:txBody>
      </p:sp>
      <p:sp>
        <p:nvSpPr>
          <p:cNvPr id="18" name="Text: *  3c2d1e0   initial draft of the Q2 lau"/>
          <p:cNvSpPr txBox="1"/>
          <p:nvPr/>
        </p:nvSpPr>
        <p:spPr>
          <a:xfrm>
            <a:off x="1016000" y="3671471"/>
            <a:ext cx="3911203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* </a:t>
            </a:r>
            <a:r>
              <a:rPr lang="en-US" sz="1150" spc="-8" dirty="0">
                <a:solidFill>
                  <a:srgbClr val="1F8A63"/>
                </a:solidFill>
                <a:latin typeface="Courier New"/>
                <a:ea typeface="Courier New"/>
                <a:cs typeface="Courier New"/>
              </a:rPr>
              <a:t>3c2d1e0</a:t>
            </a: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15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initial draft of the Q2 launch deck</a:t>
            </a:r>
            <a:endParaRPr lang="en-US" sz="1150" dirty="0"/>
          </a:p>
        </p:txBody>
      </p:sp>
      <p:sp>
        <p:nvSpPr>
          <p:cNvPr id="19" name="Text"/>
          <p:cNvSpPr txBox="1"/>
          <p:nvPr/>
        </p:nvSpPr>
        <p:spPr>
          <a:xfrm>
            <a:off x="1016000" y="3905131"/>
            <a:ext cx="86916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404040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150" dirty="0"/>
          </a:p>
        </p:txBody>
      </p:sp>
      <p:sp>
        <p:nvSpPr>
          <p:cNvPr id="20" name="Text: $"/>
          <p:cNvSpPr txBox="1"/>
          <p:nvPr/>
        </p:nvSpPr>
        <p:spPr>
          <a:xfrm>
            <a:off x="1016000" y="4138791"/>
            <a:ext cx="173831" cy="2336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spc="-8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$ </a:t>
            </a:r>
            <a:endParaRPr lang="en-US" sz="1150" dirty="0"/>
          </a:p>
        </p:txBody>
      </p:sp>
      <p:sp>
        <p:nvSpPr>
          <p:cNvPr id="21" name="Rectangle"/>
          <p:cNvSpPr/>
          <p:nvPr/>
        </p:nvSpPr>
        <p:spPr>
          <a:xfrm>
            <a:off x="1204416" y="4187230"/>
            <a:ext cx="11609" cy="153293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22" name="Border"/>
          <p:cNvSpPr/>
          <p:nvPr/>
        </p:nvSpPr>
        <p:spPr>
          <a:xfrm>
            <a:off x="8128000" y="2006600"/>
            <a:ext cx="33020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3" name="Text: Plain .tsx files"/>
          <p:cNvSpPr txBox="1"/>
          <p:nvPr/>
        </p:nvSpPr>
        <p:spPr>
          <a:xfrm>
            <a:off x="8128000" y="2334617"/>
            <a:ext cx="126265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Plain .tsx files</a:t>
            </a:r>
            <a:endParaRPr lang="en-US" sz="1600" dirty="0"/>
          </a:p>
        </p:txBody>
      </p:sp>
      <p:sp>
        <p:nvSpPr>
          <p:cNvPr id="24" name="Text: No proprietary format."/>
          <p:cNvSpPr txBox="1"/>
          <p:nvPr/>
        </p:nvSpPr>
        <p:spPr>
          <a:xfrm>
            <a:off x="8128000" y="2709267"/>
            <a:ext cx="138182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No proprietary format.</a:t>
            </a:r>
            <a:endParaRPr lang="en-US" sz="1100" dirty="0"/>
          </a:p>
        </p:txBody>
      </p:sp>
      <p:sp>
        <p:nvSpPr>
          <p:cNvPr id="25" name="Border"/>
          <p:cNvSpPr/>
          <p:nvPr/>
        </p:nvSpPr>
        <p:spPr>
          <a:xfrm>
            <a:off x="8128000" y="3285034"/>
            <a:ext cx="33020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6" name="Text: Diffable in any tool"/>
          <p:cNvSpPr txBox="1"/>
          <p:nvPr/>
        </p:nvSpPr>
        <p:spPr>
          <a:xfrm>
            <a:off x="8128000" y="3613150"/>
            <a:ext cx="17007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Diffable in any tool</a:t>
            </a:r>
            <a:endParaRPr lang="en-US" sz="1600" dirty="0"/>
          </a:p>
        </p:txBody>
      </p:sp>
      <p:sp>
        <p:nvSpPr>
          <p:cNvPr id="27" name="Text: Review it like any other PR."/>
          <p:cNvSpPr txBox="1"/>
          <p:nvPr/>
        </p:nvSpPr>
        <p:spPr>
          <a:xfrm>
            <a:off x="8128000" y="3987800"/>
            <a:ext cx="1688902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Review it like any other PR.</a:t>
            </a:r>
            <a:endParaRPr lang="en-US" sz="1100" dirty="0"/>
          </a:p>
        </p:txBody>
      </p:sp>
      <p:sp>
        <p:nvSpPr>
          <p:cNvPr id="28" name="Border"/>
          <p:cNvSpPr/>
          <p:nvPr/>
        </p:nvSpPr>
        <p:spPr>
          <a:xfrm>
            <a:off x="8128000" y="4563566"/>
            <a:ext cx="33020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9" name="Text: Branch · merge · revert"/>
          <p:cNvSpPr txBox="1"/>
          <p:nvPr/>
        </p:nvSpPr>
        <p:spPr>
          <a:xfrm>
            <a:off x="8128000" y="4891584"/>
            <a:ext cx="202902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32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Branch · merge · revert</a:t>
            </a:r>
            <a:endParaRPr lang="en-US" sz="1600" dirty="0"/>
          </a:p>
        </p:txBody>
      </p:sp>
      <p:sp>
        <p:nvSpPr>
          <p:cNvPr id="30" name="Text: The tools you already know."/>
          <p:cNvSpPr txBox="1"/>
          <p:nvPr/>
        </p:nvSpPr>
        <p:spPr>
          <a:xfrm>
            <a:off x="8128000" y="5266234"/>
            <a:ext cx="173126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6B6B6B"/>
                </a:solidFill>
                <a:latin typeface="Geist Variable"/>
                <a:ea typeface="Geist Variable"/>
                <a:cs typeface="Geist Variable"/>
              </a:rPr>
              <a:t>The tools you already know.</a:t>
            </a:r>
            <a:endParaRPr lang="en-US" sz="1100" dirty="0"/>
          </a:p>
        </p:txBody>
      </p:sp>
      <p:sp>
        <p:nvSpPr>
          <p:cNvPr id="31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32" name="Text: 17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41350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DE3B3D"/>
          </a:solidFill>
          <a:ln>
            <a:noFill/>
          </a:ln>
        </p:spPr>
      </p:sp>
      <p:sp>
        <p:nvSpPr>
          <p:cNvPr id="3" name="Text: Recap"/>
          <p:cNvSpPr txBox="1"/>
          <p:nvPr/>
        </p:nvSpPr>
        <p:spPr>
          <a:xfrm>
            <a:off x="939800" y="615950"/>
            <a:ext cx="409377" cy="165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8" dirty="0">
                <a:solidFill>
                  <a:srgbClr val="DE3B3D"/>
                </a:solidFill>
                <a:latin typeface="Geist Variable"/>
                <a:ea typeface="Geist Variable"/>
                <a:cs typeface="Geist Variable"/>
              </a:rPr>
              <a:t>Recap</a:t>
            </a:r>
            <a:endParaRPr lang="en-US" sz="1100" dirty="0"/>
          </a:p>
        </p:txBody>
      </p:sp>
      <p:sp>
        <p:nvSpPr>
          <p:cNvPr id="4" name="Text: That's the whole loop."/>
          <p:cNvSpPr txBox="1"/>
          <p:nvPr/>
        </p:nvSpPr>
        <p:spPr>
          <a:xfrm>
            <a:off x="762000" y="1384300"/>
            <a:ext cx="7044234" cy="762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spc="-24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That's the whole loop.</a:t>
            </a:r>
            <a:endParaRPr lang="en-US" sz="6000" dirty="0"/>
          </a:p>
        </p:txBody>
      </p:sp>
      <p:sp>
        <p:nvSpPr>
          <p:cNvPr id="5" name="Border"/>
          <p:cNvSpPr/>
          <p:nvPr/>
        </p:nvSpPr>
        <p:spPr>
          <a:xfrm>
            <a:off x="762000" y="2921000"/>
            <a:ext cx="19304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6" name="Text: 01"/>
          <p:cNvSpPr txBox="1"/>
          <p:nvPr/>
        </p:nvSpPr>
        <p:spPr>
          <a:xfrm>
            <a:off x="762000" y="3086100"/>
            <a:ext cx="17333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01</a:t>
            </a:r>
            <a:endParaRPr lang="en-US" sz="1000" dirty="0"/>
          </a:p>
        </p:txBody>
      </p:sp>
      <p:sp>
        <p:nvSpPr>
          <p:cNvPr id="7" name="Text: Init"/>
          <p:cNvSpPr txBox="1"/>
          <p:nvPr/>
        </p:nvSpPr>
        <p:spPr>
          <a:xfrm>
            <a:off x="762000" y="3409950"/>
            <a:ext cx="355798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5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Init</a:t>
            </a:r>
            <a:endParaRPr lang="en-US" sz="2000" dirty="0"/>
          </a:p>
        </p:txBody>
      </p:sp>
      <p:sp>
        <p:nvSpPr>
          <p:cNvPr id="8" name="Text: npx @open-slide/cli init"/>
          <p:cNvSpPr txBox="1"/>
          <p:nvPr/>
        </p:nvSpPr>
        <p:spPr>
          <a:xfrm>
            <a:off x="762000" y="3730625"/>
            <a:ext cx="1718965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npx @open-slide/cli init</a:t>
            </a:r>
            <a:endParaRPr lang="en-US" sz="950" dirty="0"/>
          </a:p>
        </p:txBody>
      </p:sp>
      <p:sp>
        <p:nvSpPr>
          <p:cNvPr id="9" name="Border"/>
          <p:cNvSpPr/>
          <p:nvPr/>
        </p:nvSpPr>
        <p:spPr>
          <a:xfrm>
            <a:off x="2946400" y="2921000"/>
            <a:ext cx="19304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0" name="Text: 02"/>
          <p:cNvSpPr txBox="1"/>
          <p:nvPr/>
        </p:nvSpPr>
        <p:spPr>
          <a:xfrm>
            <a:off x="2946400" y="3086100"/>
            <a:ext cx="17333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02</a:t>
            </a:r>
            <a:endParaRPr lang="en-US" sz="1000" dirty="0"/>
          </a:p>
        </p:txBody>
      </p:sp>
      <p:sp>
        <p:nvSpPr>
          <p:cNvPr id="11" name="Text: Prompt"/>
          <p:cNvSpPr txBox="1"/>
          <p:nvPr/>
        </p:nvSpPr>
        <p:spPr>
          <a:xfrm>
            <a:off x="2946400" y="3409950"/>
            <a:ext cx="834827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5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Prompt</a:t>
            </a:r>
            <a:endParaRPr lang="en-US" sz="2000" dirty="0"/>
          </a:p>
        </p:txBody>
      </p:sp>
      <p:sp>
        <p:nvSpPr>
          <p:cNvPr id="12" name="Text: /create-slide"/>
          <p:cNvSpPr txBox="1"/>
          <p:nvPr/>
        </p:nvSpPr>
        <p:spPr>
          <a:xfrm>
            <a:off x="2946400" y="3730625"/>
            <a:ext cx="931168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/create-slide</a:t>
            </a:r>
            <a:endParaRPr lang="en-US" sz="950" dirty="0"/>
          </a:p>
        </p:txBody>
      </p:sp>
      <p:sp>
        <p:nvSpPr>
          <p:cNvPr id="13" name="Border"/>
          <p:cNvSpPr/>
          <p:nvPr/>
        </p:nvSpPr>
        <p:spPr>
          <a:xfrm>
            <a:off x="5130800" y="2921000"/>
            <a:ext cx="19304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4" name="Text: 03"/>
          <p:cNvSpPr txBox="1"/>
          <p:nvPr/>
        </p:nvSpPr>
        <p:spPr>
          <a:xfrm>
            <a:off x="5130800" y="3086100"/>
            <a:ext cx="17333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03</a:t>
            </a:r>
            <a:endParaRPr lang="en-US" sz="1000" dirty="0"/>
          </a:p>
        </p:txBody>
      </p:sp>
      <p:sp>
        <p:nvSpPr>
          <p:cNvPr id="15" name="Text: Edit"/>
          <p:cNvSpPr txBox="1"/>
          <p:nvPr/>
        </p:nvSpPr>
        <p:spPr>
          <a:xfrm>
            <a:off x="5130800" y="3409950"/>
            <a:ext cx="434479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5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Edit</a:t>
            </a:r>
            <a:endParaRPr lang="en-US" sz="2000" dirty="0"/>
          </a:p>
        </p:txBody>
      </p:sp>
      <p:sp>
        <p:nvSpPr>
          <p:cNvPr id="16" name="Text: click · tweak · save"/>
          <p:cNvSpPr txBox="1"/>
          <p:nvPr/>
        </p:nvSpPr>
        <p:spPr>
          <a:xfrm>
            <a:off x="5130800" y="3730625"/>
            <a:ext cx="1432520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click · tweak · save</a:t>
            </a:r>
            <a:endParaRPr lang="en-US" sz="950" dirty="0"/>
          </a:p>
        </p:txBody>
      </p:sp>
      <p:sp>
        <p:nvSpPr>
          <p:cNvPr id="17" name="Border"/>
          <p:cNvSpPr/>
          <p:nvPr/>
        </p:nvSpPr>
        <p:spPr>
          <a:xfrm>
            <a:off x="7315200" y="2921000"/>
            <a:ext cx="19304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18" name="Text: 04"/>
          <p:cNvSpPr txBox="1"/>
          <p:nvPr/>
        </p:nvSpPr>
        <p:spPr>
          <a:xfrm>
            <a:off x="7315200" y="3086100"/>
            <a:ext cx="17333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04</a:t>
            </a:r>
            <a:endParaRPr lang="en-US" sz="1000" dirty="0"/>
          </a:p>
        </p:txBody>
      </p:sp>
      <p:sp>
        <p:nvSpPr>
          <p:cNvPr id="19" name="Text: Comment"/>
          <p:cNvSpPr txBox="1"/>
          <p:nvPr/>
        </p:nvSpPr>
        <p:spPr>
          <a:xfrm>
            <a:off x="7315200" y="3409950"/>
            <a:ext cx="1111548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5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Comment</a:t>
            </a:r>
            <a:endParaRPr lang="en-US" sz="2000" dirty="0"/>
          </a:p>
        </p:txBody>
      </p:sp>
      <p:sp>
        <p:nvSpPr>
          <p:cNvPr id="20" name="Text: /apply-comments"/>
          <p:cNvSpPr txBox="1"/>
          <p:nvPr/>
        </p:nvSpPr>
        <p:spPr>
          <a:xfrm>
            <a:off x="7315200" y="3730625"/>
            <a:ext cx="1074341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/apply-comments</a:t>
            </a:r>
            <a:endParaRPr lang="en-US" sz="950" dirty="0"/>
          </a:p>
        </p:txBody>
      </p:sp>
      <p:sp>
        <p:nvSpPr>
          <p:cNvPr id="21" name="Border"/>
          <p:cNvSpPr/>
          <p:nvPr/>
        </p:nvSpPr>
        <p:spPr>
          <a:xfrm>
            <a:off x="9499600" y="2921000"/>
            <a:ext cx="1930400" cy="6350"/>
          </a:xfrm>
          <a:prstGeom prst="rect">
            <a:avLst/>
          </a:prstGeom>
          <a:solidFill>
            <a:srgbClr val="E4E4E4"/>
          </a:solidFill>
          <a:ln>
            <a:noFill/>
          </a:ln>
        </p:spPr>
      </p:sp>
      <p:sp>
        <p:nvSpPr>
          <p:cNvPr id="22" name="Text: 05"/>
          <p:cNvSpPr txBox="1"/>
          <p:nvPr/>
        </p:nvSpPr>
        <p:spPr>
          <a:xfrm>
            <a:off x="9499600" y="3086100"/>
            <a:ext cx="17333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DE3B3D"/>
                </a:solidFill>
                <a:latin typeface="Courier New"/>
                <a:ea typeface="Courier New"/>
                <a:cs typeface="Courier New"/>
              </a:rPr>
              <a:t>05</a:t>
            </a:r>
            <a:endParaRPr lang="en-US" sz="1000" dirty="0"/>
          </a:p>
        </p:txBody>
      </p:sp>
      <p:sp>
        <p:nvSpPr>
          <p:cNvPr id="23" name="Text: Present"/>
          <p:cNvSpPr txBox="1"/>
          <p:nvPr/>
        </p:nvSpPr>
        <p:spPr>
          <a:xfrm>
            <a:off x="9499600" y="3409950"/>
            <a:ext cx="876102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50" dirty="0">
                <a:solidFill>
                  <a:srgbClr val="0A0A0A"/>
                </a:solidFill>
                <a:latin typeface="Geist Variable"/>
                <a:ea typeface="Geist Variable"/>
                <a:cs typeface="Geist Variable"/>
              </a:rPr>
              <a:t>Present</a:t>
            </a:r>
            <a:endParaRPr lang="en-US" sz="2000" dirty="0"/>
          </a:p>
        </p:txBody>
      </p:sp>
      <p:sp>
        <p:nvSpPr>
          <p:cNvPr id="24" name="Text: F · fullscreen"/>
          <p:cNvSpPr txBox="1"/>
          <p:nvPr/>
        </p:nvSpPr>
        <p:spPr>
          <a:xfrm>
            <a:off x="9499600" y="3730625"/>
            <a:ext cx="1002705" cy="180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spc="-8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F · fullscreen</a:t>
            </a:r>
            <a:endParaRPr lang="en-US" sz="950" dirty="0"/>
          </a:p>
        </p:txBody>
      </p:sp>
      <p:sp>
        <p:nvSpPr>
          <p:cNvPr id="25" name="Text: Edit  slides/&lt;your-slide&gt;/index.tsx  and"/>
          <p:cNvSpPr txBox="1"/>
          <p:nvPr/>
        </p:nvSpPr>
        <p:spPr>
          <a:xfrm>
            <a:off x="762000" y="4936490"/>
            <a:ext cx="5146477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Edit </a:t>
            </a:r>
            <a:r>
              <a:rPr lang="en-US" sz="1300" spc="-8" dirty="0">
                <a:solidFill>
                  <a:srgbClr val="0A0A0A"/>
                </a:solidFill>
                <a:latin typeface="Courier New"/>
                <a:ea typeface="Courier New"/>
                <a:cs typeface="Courier New"/>
              </a:rPr>
              <a:t>slides/&lt;your-slide&gt;/index.tsx</a:t>
            </a:r>
            <a:r>
              <a:rPr lang="en-US" sz="1400" spc="-8" dirty="0">
                <a:solidFill>
                  <a:srgbClr val="404040"/>
                </a:solidFill>
                <a:latin typeface="Geist Variable"/>
                <a:ea typeface="Geist Variable"/>
                <a:cs typeface="Geist Variable"/>
              </a:rPr>
              <a:t> and watch it hot-reload.</a:t>
            </a:r>
            <a:endParaRPr lang="en-US" sz="1400" dirty="0"/>
          </a:p>
        </p:txBody>
      </p:sp>
      <p:sp>
        <p:nvSpPr>
          <p:cNvPr id="26" name="Text: OPEN-SLIDE · GETTING STARTED"/>
          <p:cNvSpPr txBox="1"/>
          <p:nvPr/>
        </p:nvSpPr>
        <p:spPr>
          <a:xfrm>
            <a:off x="762000" y="6089650"/>
            <a:ext cx="2425402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OPEN-SLIDE · GETTING STARTED</a:t>
            </a:r>
            <a:endParaRPr lang="en-US" sz="1000" dirty="0"/>
          </a:p>
        </p:txBody>
      </p:sp>
      <p:sp>
        <p:nvSpPr>
          <p:cNvPr id="27" name="Text: 18 / 18"/>
          <p:cNvSpPr txBox="1"/>
          <p:nvPr/>
        </p:nvSpPr>
        <p:spPr>
          <a:xfrm>
            <a:off x="10823377" y="6089650"/>
            <a:ext cx="60662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80" dirty="0">
                <a:solidFill>
                  <a:srgbClr val="6B6B6B"/>
                </a:solidFill>
                <a:latin typeface="Courier New"/>
                <a:ea typeface="Courier New"/>
                <a:cs typeface="Courier New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