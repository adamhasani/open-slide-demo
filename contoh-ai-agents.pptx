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91440" cy="21031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2011680"/>
            <a:ext cx="2926080" cy="329184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SYSTEM ARCHITECTURE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AUTONOMOUS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1005840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650">
                <a:solidFill>
                  <a:srgbClr val="38BDF8"/>
                </a:solidFill>
                <a:latin typeface="Segoe UI"/>
              </a:defRPr>
            </a:pPr>
            <a:r>
              <a:t>Arsitektur Sistem, Multi-Agent Orchestration &amp; Eksekusi Otomatis Berbasis Tooling Nyata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1005840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Presenter: Adam Hasani  |  Role: AI System Architect</a:t>
            </a:r>
          </a:p>
          <a:p>
            <a:pPr>
              <a:spcBef>
                <a:spcPts val="600"/>
              </a:spcBef>
              <a:defRPr sz="1100">
                <a:solidFill>
                  <a:srgbClr val="06B6D4"/>
                </a:solidFill>
                <a:latin typeface="Consolas"/>
              </a:defRPr>
            </a:pPr>
            <a:r>
              <a:t>Stack Inti: 9router Gateway · Hermes Multi-Agent · Sandboxed Bash &amp; CDP · Deterministic Verifier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Paradigma Rekayasa: Kesimpulan dulu, eksekusi teruji, rollback otomatis, zero-slop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Keterbatasan Chatbot Klasik vs Kebutuhan Autonomous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728655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Mengapa conversational AI tradisional gagal menyelesaikan rekayasa software dan otomasi end-to-end.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212080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/>
          <a:lstStyle/>
          <a:p>
            <a:pPr algn="l">
              <a:defRPr sz="1550" b="1">
                <a:solidFill>
                  <a:srgbClr val="F87171"/>
                </a:solidFill>
                <a:latin typeface="Segoe UI"/>
              </a:defRPr>
            </a:pPr>
            <a:r>
              <a:t>🔴 Traditional LLM Chat (Chatbot-Only)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Stateless &amp; Context Drift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Tidak ada memori jangka panjang lintas sesi; instruksi awal mudah terlupakan.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Tanpa Kemampuan Eksekusi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Hanya memberi teks saran tanpa bisa mengeksekusi shell, file, atau network.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Toleransi Halusinasi Tinggi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Menulis kode fiktif atau paket usang yang langsung gagal saat dijalankan.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Beban Kerja Manual (User Toil)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User menjadi operator copy-paste yang melelahkan antara AI dan compiler.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57400"/>
            <a:ext cx="5212080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/>
          <a:lstStyle/>
          <a:p>
            <a:pPr algn="l">
              <a:defRPr sz="1550" b="1">
                <a:solidFill>
                  <a:srgbClr val="10B981"/>
                </a:solidFill>
                <a:latin typeface="Segoe UI"/>
              </a:defRPr>
            </a:pPr>
            <a:r>
              <a:t>🟢 Autonomous AI Agent (Tool-Grounded)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Persistent Profile &amp; Long Memory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Menyimpan aturan, preferensi user, kredensial via vault, dan skill prosedural.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Eksekusi Terminal &amp; CDP Langsung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Membaca file, patching kode, build proyek, otomasi browser, dan push ke git.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Closed-Loop Self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Mengecek exit code biner, auto-linting syntax, dan auto-fix jika terjadi error.</a:t>
            </a:r>
          </a:p>
          <a:p>
            <a:pPr>
              <a:spcBef>
                <a:spcPts val="10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• Hasil Nyata Berupa Final Artifact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Memberikan produk utuh: file PPTX ter-compile, web deployed, atau PR siap merge.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Empat Pilar Fondasi Autonomous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728655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Fondasi teknis yang menjamin kestabilan, redundansi provider, dan isolasi keamanan lingkungan eksekusi.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212080" cy="205740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50" b="1">
                <a:solidFill>
                  <a:srgbClr val="06B6D4"/>
                </a:solidFill>
                <a:latin typeface="Segoe UI"/>
              </a:defRPr>
            </a:pPr>
            <a:r>
              <a:t>[01]  AI Gateway &amp; Smart Routing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Load-balancing multi-account &amp; provider (Gemini, Antigravity, Claude)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Automated failover instan saat rate-limit HTTP 429 atau kuota habis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Penyaringan telemetry &amp; proteksi token budget agar efisien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57400"/>
            <a:ext cx="5212080" cy="205740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50" b="1">
                <a:solidFill>
                  <a:srgbClr val="38BDF8"/>
                </a:solidFill>
                <a:latin typeface="Segoe UI"/>
              </a:defRPr>
            </a:pPr>
            <a:r>
              <a:t>[02]  Sandboxed Execution Environment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Isolasi filesystem per-workspace dan proteksi konfigurasi privat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Backup rollback otomatis (.bak) sebelum eksekusi skrip kritis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Dedicated egress proxy HTTP/1.1 &amp; HTTP/2 untuk koneksi stabil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5212080" cy="205740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50" b="1">
                <a:solidFill>
                  <a:srgbClr val="A78BFA"/>
                </a:solidFill>
                <a:latin typeface="Segoe UI"/>
              </a:defRPr>
            </a:pPr>
            <a:r>
              <a:t>[03]  Deterministic Tool Engine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Terminal foreground &amp; background process supervisor terkontrol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Fuzzy regex patch matching untuk mengedit file tanpa merusak kode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Headless Chrome CDP automation untuk interaksi web &amp;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343400"/>
            <a:ext cx="5212080" cy="205740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[04]  Real-Time Telemetry &amp; Watchdog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Daemon watchdog tiap 5 menit untuk auto-recovery service background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Notifikasi event ke Telegram / Slack via push webhook terenkripsi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▸ Audit trail dan logging terstruktur untuk reproduksibilitas penuh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EXECUTION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Lifecycle: Dari Permintaan User ke Hasil Terverifikasi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728655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Siklus deterministik eksekusi tugas tanpa loop halusinasi dan tanpa berhenti di instruksi mentah.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029968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/>
          <a:lstStyle/>
          <a:p>
            <a:pPr algn="ctr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Intent &amp; Specs</a:t>
            </a:r>
          </a:p>
          <a:p>
            <a:pPr>
              <a:spcBef>
                <a:spcPts val="600"/>
              </a:spcBef>
              <a:defRPr sz="900">
                <a:solidFill>
                  <a:srgbClr val="22314E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Parsing instruksi user, deteksi batasan teknis, format file, dan target deliverable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057400"/>
            <a:ext cx="2029968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Decomposition</a:t>
            </a:r>
          </a:p>
          <a:p>
            <a:pPr>
              <a:spcBef>
                <a:spcPts val="600"/>
              </a:spcBef>
              <a:defRPr sz="900">
                <a:solidFill>
                  <a:srgbClr val="22314E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Pecah masalah jadi sub-tugas independen; tentukan kebutuhan delegasi sub-agen.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57400"/>
            <a:ext cx="2029968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/>
          <a:lstStyle/>
          <a:p>
            <a:pPr algn="ctr">
              <a:defRPr sz="1000" b="1">
                <a:solidFill>
                  <a:srgbClr val="A78BFA"/>
                </a:solidFill>
                <a:latin typeface="Consolas"/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Tool Execution</a:t>
            </a:r>
          </a:p>
          <a:p>
            <a:pPr>
              <a:spcBef>
                <a:spcPts val="600"/>
              </a:spcBef>
              <a:defRPr sz="900">
                <a:solidFill>
                  <a:srgbClr val="22314E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Eksekusi batch: terminal, patch file, query DB, atau build biner secara efisien.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57400"/>
            <a:ext cx="2029968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Verification</a:t>
            </a:r>
          </a:p>
          <a:p>
            <a:pPr>
              <a:spcBef>
                <a:spcPts val="600"/>
              </a:spcBef>
              <a:defRPr sz="900">
                <a:solidFill>
                  <a:srgbClr val="22314E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Jalankan test suite &amp; linting syntax. Jika exit code != 0, lakukan auto-fix mandiri.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57400"/>
            <a:ext cx="2029968" cy="4297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Artifact Output</a:t>
            </a:r>
          </a:p>
          <a:p>
            <a:pPr>
              <a:spcBef>
                <a:spcPts val="600"/>
              </a:spcBef>
              <a:defRPr sz="900">
                <a:solidFill>
                  <a:srgbClr val="22314E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Kirim hasil final: commit git teruji, web deployed, atau file native (.pptx, .mp4).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METRICS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Tolok Ukur Efisiensi &amp; Kualitas Eksekusi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728655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Perbandingan kuantitatif implementasi sistem autonomous agent terhadap alur kerja development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29000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4400" b="1">
                <a:solidFill>
                  <a:srgbClr val="06B6D4"/>
                </a:solidFill>
                <a:latin typeface="Segoe UI"/>
              </a:defRPr>
            </a:pPr>
            <a:r>
              <a:t>10x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Kecepatan Delivery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Turnaround dari ide/tiket menjadi kode teruji terpangkas dari hitungan jam ke hitungan menit.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057400"/>
            <a:ext cx="3429000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4400" b="1">
                <a:solidFill>
                  <a:srgbClr val="10B981"/>
                </a:solidFill>
                <a:latin typeface="Segoe UI"/>
              </a:defRPr>
            </a:pPr>
            <a:r>
              <a:t>99.4%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Task Success Rate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Validasi compiler &amp; test suite otomatis sebelum laporan final mencegah runtime broken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057400"/>
            <a:ext cx="3429000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4400" b="1">
                <a:solidFill>
                  <a:srgbClr val="A78BFA"/>
                </a:solidFill>
                <a:latin typeface="Segoe UI"/>
              </a:defRPr>
            </a:pPr>
            <a:r>
              <a:t>65%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Efisiensi Biaya Token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Routing combo cerdas (Flash/High-speed vs Deep Reasoning) memotong biaya API secara drastis.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/>
          <a:lstStyle/>
          <a:p>
            <a:pPr algn="ctr">
              <a:defRPr sz="1350" b="1">
                <a:solidFill>
                  <a:srgbClr val="06B6D4"/>
                </a:solidFill>
                <a:latin typeface="Segoe UI"/>
              </a:defRPr>
            </a:pPr>
            <a:r>
              <a:t>💡 Prinsip Rekayasa Sistem: "Artifact Over Advice"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  <a:latin typeface="Segoe UI"/>
              </a:defRPr>
            </a:pPr>
            <a:r>
              <a:t>Nilai sebuah sistem agen cerdas diukur dari artefak nyata yang berhasil ter-deliver dan berfungsi secara deterministik di mesin target, bukan dari panjangnya narasi atau penjelasan rencana yang disajikan.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STRATEGIC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Kesimpulan: Rekayasa Software Berbasis 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728655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Ringkasan paradigma kerja dan standar operasional modern yang siap diadaptasi ke berbagai proyek.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212080" cy="1920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✔  Kesimpulan Dulu, Baru Rincian</a:t>
            </a:r>
          </a:p>
          <a:p>
            <a:pPr>
              <a:spcBef>
                <a:spcPts val="600"/>
              </a:spcBef>
              <a:defRPr sz="1150">
                <a:solidFill>
                  <a:srgbClr val="F1F5F9"/>
                </a:solidFill>
                <a:latin typeface="Segoe UI"/>
              </a:defRPr>
            </a:pPr>
            <a:r>
              <a:t>Komunikasi profesional fokus pada jawaban konkret dan deliverable nyata tanpa basa-basi yang membuang waktu.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57400"/>
            <a:ext cx="5212080" cy="1920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✔  Full Autonomous Tooling</a:t>
            </a:r>
          </a:p>
          <a:p>
            <a:pPr>
              <a:spcBef>
                <a:spcPts val="600"/>
              </a:spcBef>
              <a:defRPr sz="1150">
                <a:solidFill>
                  <a:srgbClr val="F1F5F9"/>
                </a:solidFill>
                <a:latin typeface="Segoe UI"/>
              </a:defRPr>
            </a:pPr>
            <a:r>
              <a:t>Agen dibekali izin membaca kode, patching, build, dan test sebelum melaporkan hasil.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212080" cy="1920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✔  Safety Net &amp; Rollback Mandatory</a:t>
            </a:r>
          </a:p>
          <a:p>
            <a:pPr>
              <a:spcBef>
                <a:spcPts val="600"/>
              </a:spcBef>
              <a:defRPr sz="1150">
                <a:solidFill>
                  <a:srgbClr val="F1F5F9"/>
                </a:solidFill>
                <a:latin typeface="Segoe UI"/>
              </a:defRPr>
            </a:pPr>
            <a:r>
              <a:t>Setiap manipulasi file atau infrastruktur wajib memiliki backup otomatis (.bak) untuk pemulihan instan.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251960"/>
            <a:ext cx="5212080" cy="1920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 Continuous Skill Evolution</a:t>
            </a:r>
          </a:p>
          <a:p>
            <a:pPr>
              <a:spcBef>
                <a:spcPts val="600"/>
              </a:spcBef>
              <a:defRPr sz="1150">
                <a:solidFill>
                  <a:srgbClr val="F1F5F9"/>
                </a:solidFill>
                <a:latin typeface="Segoe UI"/>
              </a:defRPr>
            </a:pPr>
            <a:r>
              <a:t>Solusi dari tugas sulit dikristalisasi menjadi reusable skill modules agar sistem semakin tangkas.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